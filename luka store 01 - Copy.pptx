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75" r:id="rId7"/>
    <p:sldId id="263" r:id="rId8"/>
    <p:sldId id="274" r:id="rId9"/>
    <p:sldId id="270" r:id="rId10"/>
    <p:sldId id="269" r:id="rId11"/>
    <p:sldId id="271" r:id="rId12"/>
    <p:sldId id="272" r:id="rId13"/>
    <p:sldId id="280" r:id="rId14"/>
    <p:sldId id="276" r:id="rId15"/>
    <p:sldId id="278" r:id="rId16"/>
    <p:sldId id="277" r:id="rId17"/>
    <p:sldId id="264" r:id="rId18"/>
    <p:sldId id="268" r:id="rId19"/>
    <p:sldId id="279" r:id="rId20"/>
    <p:sldId id="266" r:id="rId21"/>
    <p:sldId id="273" r:id="rId22"/>
    <p:sldId id="261" r:id="rId23"/>
    <p:sldId id="262" r:id="rId24"/>
    <p:sldId id="267" r:id="rId25"/>
  </p:sldIdLst>
  <p:sldSz cx="18288000" cy="10287000"/>
  <p:notesSz cx="6858000" cy="9144000"/>
  <p:embeddedFontLst>
    <p:embeddedFont>
      <p:font typeface="Arial Black" panose="020B0A04020102020204" pitchFamily="34" charset="0"/>
      <p:bold r:id="rId26"/>
    </p:embeddedFont>
    <p:embeddedFont>
      <p:font typeface="Calibri" panose="020F0502020204030204" pitchFamily="34" charset="0"/>
      <p:regular r:id="rId27"/>
      <p:bold r:id="rId28"/>
      <p:italic r:id="rId29"/>
      <p:boldItalic r:id="rId30"/>
    </p:embeddedFont>
    <p:embeddedFont>
      <p:font typeface="TT Fors" panose="020B0604020202020204" charset="0"/>
      <p:regular r:id="rId31"/>
    </p:embeddedFont>
    <p:embeddedFont>
      <p:font typeface="TT Fors Bold" panose="020B0604020202020204" charset="0"/>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F6557"/>
    <a:srgbClr val="428C7E"/>
    <a:srgbClr val="000000"/>
    <a:srgbClr val="3A8A91"/>
    <a:srgbClr val="FD883D"/>
    <a:srgbClr val="D46BCA"/>
    <a:srgbClr val="391E32"/>
    <a:srgbClr val="C04497"/>
    <a:srgbClr val="EAF4F4"/>
    <a:srgbClr val="3A548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4" d="100"/>
          <a:sy n="54" d="100"/>
        </p:scale>
        <p:origin x="1205" y="115"/>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la Sarhan" userId="132aaa62b5f67d4c" providerId="LiveId" clId="{192ADA37-F385-40F0-9468-49A476092BFA}"/>
    <pc:docChg chg="custSel modSld">
      <pc:chgData name="Hala Sarhan" userId="132aaa62b5f67d4c" providerId="LiveId" clId="{192ADA37-F385-40F0-9468-49A476092BFA}" dt="2026-03-10T19:14:36.698" v="12" actId="1076"/>
      <pc:docMkLst>
        <pc:docMk/>
      </pc:docMkLst>
      <pc:sldChg chg="addSp delSp modSp mod">
        <pc:chgData name="Hala Sarhan" userId="132aaa62b5f67d4c" providerId="LiveId" clId="{192ADA37-F385-40F0-9468-49A476092BFA}" dt="2026-03-10T19:14:36.698" v="12" actId="1076"/>
        <pc:sldMkLst>
          <pc:docMk/>
          <pc:sldMk cId="0" sldId="266"/>
        </pc:sldMkLst>
        <pc:spChg chg="add del mod">
          <ac:chgData name="Hala Sarhan" userId="132aaa62b5f67d4c" providerId="LiveId" clId="{192ADA37-F385-40F0-9468-49A476092BFA}" dt="2026-03-10T18:54:47.463" v="4" actId="478"/>
          <ac:spMkLst>
            <pc:docMk/>
            <pc:sldMk cId="0" sldId="266"/>
            <ac:spMk id="3" creationId="{41B25F85-8D1A-38A8-321F-78B595D40277}"/>
          </ac:spMkLst>
        </pc:spChg>
        <pc:spChg chg="add mod">
          <ac:chgData name="Hala Sarhan" userId="132aaa62b5f67d4c" providerId="LiveId" clId="{192ADA37-F385-40F0-9468-49A476092BFA}" dt="2026-03-10T19:14:36.698" v="12" actId="1076"/>
          <ac:spMkLst>
            <pc:docMk/>
            <pc:sldMk cId="0" sldId="266"/>
            <ac:spMk id="3" creationId="{D5F6560C-4C6F-B1D1-4A41-D2833F30A22C}"/>
          </ac:spMkLst>
        </pc:spChg>
        <pc:spChg chg="add del mod">
          <ac:chgData name="Hala Sarhan" userId="132aaa62b5f67d4c" providerId="LiveId" clId="{192ADA37-F385-40F0-9468-49A476092BFA}" dt="2026-03-10T19:14:25.363" v="9" actId="478"/>
          <ac:spMkLst>
            <pc:docMk/>
            <pc:sldMk cId="0" sldId="266"/>
            <ac:spMk id="5" creationId="{5ACA1FA2-5E8E-402E-BA4D-0B0A191BDF0C}"/>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jpe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2.sv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2.sv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2.sv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2.sv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2.sv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2.sv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jpg"/><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7.xml"/><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AF4F4"/>
        </a:solidFill>
        <a:effectLst/>
      </p:bgPr>
    </p:bg>
    <p:spTree>
      <p:nvGrpSpPr>
        <p:cNvPr id="1" name=""/>
        <p:cNvGrpSpPr/>
        <p:nvPr/>
      </p:nvGrpSpPr>
      <p:grpSpPr>
        <a:xfrm>
          <a:off x="0" y="0"/>
          <a:ext cx="0" cy="0"/>
          <a:chOff x="0" y="0"/>
          <a:chExt cx="0" cy="0"/>
        </a:xfrm>
      </p:grpSpPr>
      <p:sp>
        <p:nvSpPr>
          <p:cNvPr id="2" name="TextBox 2"/>
          <p:cNvSpPr txBox="1"/>
          <p:nvPr/>
        </p:nvSpPr>
        <p:spPr>
          <a:xfrm>
            <a:off x="1028700" y="1733550"/>
            <a:ext cx="10679942" cy="4839901"/>
          </a:xfrm>
          <a:prstGeom prst="rect">
            <a:avLst/>
          </a:prstGeom>
        </p:spPr>
        <p:txBody>
          <a:bodyPr lIns="0" tIns="0" rIns="0" bIns="0" rtlCol="0" anchor="t">
            <a:spAutoFit/>
          </a:bodyPr>
          <a:lstStyle/>
          <a:p>
            <a:pPr algn="l">
              <a:lnSpc>
                <a:spcPts val="18115"/>
              </a:lnSpc>
            </a:pPr>
            <a:r>
              <a:rPr lang="en-US" sz="21312" spc="-809" dirty="0">
                <a:solidFill>
                  <a:srgbClr val="3A8A91"/>
                </a:solidFill>
                <a:latin typeface="TT Fors"/>
                <a:ea typeface="TT Fors"/>
                <a:cs typeface="TT Fors"/>
                <a:sym typeface="TT Fors"/>
              </a:rPr>
              <a:t>Brand Strategy</a:t>
            </a:r>
          </a:p>
        </p:txBody>
      </p:sp>
      <p:sp>
        <p:nvSpPr>
          <p:cNvPr id="4" name="TextBox 4"/>
          <p:cNvSpPr txBox="1"/>
          <p:nvPr/>
        </p:nvSpPr>
        <p:spPr>
          <a:xfrm>
            <a:off x="1752600" y="6134100"/>
            <a:ext cx="4724400" cy="2585323"/>
          </a:xfrm>
          <a:prstGeom prst="rect">
            <a:avLst/>
          </a:prstGeom>
        </p:spPr>
        <p:txBody>
          <a:bodyPr wrap="square" lIns="0" tIns="0" rIns="0" bIns="0" rtlCol="0" anchor="t">
            <a:spAutoFit/>
          </a:bodyPr>
          <a:lstStyle/>
          <a:p>
            <a:pPr algn="ctr"/>
            <a:r>
              <a:rPr lang="en-US" sz="2400" dirty="0">
                <a:solidFill>
                  <a:srgbClr val="3A8A91"/>
                </a:solidFill>
                <a:latin typeface="Arial Black" panose="020B0A04020102020204" pitchFamily="34" charset="0"/>
              </a:rPr>
              <a:t>Team members</a:t>
            </a:r>
          </a:p>
          <a:p>
            <a:pPr marL="342900" indent="-342900">
              <a:buFont typeface="+mj-lt"/>
              <a:buAutoNum type="arabicPeriod"/>
            </a:pPr>
            <a:r>
              <a:rPr lang="en-US" sz="2400" dirty="0">
                <a:solidFill>
                  <a:srgbClr val="3A8A91"/>
                </a:solidFill>
                <a:latin typeface="Arial Black" panose="020B0A04020102020204" pitchFamily="34" charset="0"/>
              </a:rPr>
              <a:t>Eslam Hesham</a:t>
            </a:r>
          </a:p>
          <a:p>
            <a:pPr marL="342900" indent="-342900">
              <a:buFont typeface="+mj-lt"/>
              <a:buAutoNum type="arabicPeriod"/>
            </a:pPr>
            <a:r>
              <a:rPr lang="en-US" sz="2400" dirty="0">
                <a:solidFill>
                  <a:srgbClr val="3A8A91"/>
                </a:solidFill>
                <a:latin typeface="Arial Black" panose="020B0A04020102020204" pitchFamily="34" charset="0"/>
              </a:rPr>
              <a:t>Dina Mohmed</a:t>
            </a:r>
          </a:p>
          <a:p>
            <a:pPr marL="342900" indent="-342900">
              <a:buFont typeface="+mj-lt"/>
              <a:buAutoNum type="arabicPeriod"/>
            </a:pPr>
            <a:r>
              <a:rPr lang="en-US" sz="2400" dirty="0">
                <a:solidFill>
                  <a:srgbClr val="3A8A91"/>
                </a:solidFill>
                <a:latin typeface="Arial Black" panose="020B0A04020102020204" pitchFamily="34" charset="0"/>
              </a:rPr>
              <a:t>Merna Hazem</a:t>
            </a:r>
          </a:p>
          <a:p>
            <a:pPr marL="342900" indent="-342900">
              <a:buFont typeface="+mj-lt"/>
              <a:buAutoNum type="arabicPeriod"/>
            </a:pPr>
            <a:r>
              <a:rPr lang="en-US" sz="2400" dirty="0" err="1">
                <a:solidFill>
                  <a:srgbClr val="3A8A91"/>
                </a:solidFill>
                <a:latin typeface="Arial Black" panose="020B0A04020102020204" pitchFamily="34" charset="0"/>
              </a:rPr>
              <a:t>Menna</a:t>
            </a:r>
            <a:r>
              <a:rPr lang="en-US" sz="2400" dirty="0">
                <a:solidFill>
                  <a:srgbClr val="3A8A91"/>
                </a:solidFill>
                <a:latin typeface="Arial Black" panose="020B0A04020102020204" pitchFamily="34" charset="0"/>
              </a:rPr>
              <a:t> Yasser</a:t>
            </a:r>
          </a:p>
          <a:p>
            <a:pPr marL="342900" indent="-342900">
              <a:buFont typeface="+mj-lt"/>
              <a:buAutoNum type="arabicPeriod"/>
            </a:pPr>
            <a:r>
              <a:rPr lang="en-US" sz="2400" dirty="0">
                <a:solidFill>
                  <a:srgbClr val="3A8A91"/>
                </a:solidFill>
                <a:latin typeface="Arial Black" panose="020B0A04020102020204" pitchFamily="34" charset="0"/>
              </a:rPr>
              <a:t>Seif Ahmed</a:t>
            </a:r>
          </a:p>
          <a:p>
            <a:pPr marL="342900" indent="-342900">
              <a:buFont typeface="+mj-lt"/>
              <a:buAutoNum type="arabicPeriod"/>
            </a:pPr>
            <a:r>
              <a:rPr lang="en-US" sz="2400" dirty="0">
                <a:solidFill>
                  <a:srgbClr val="3A8A91"/>
                </a:solidFill>
                <a:latin typeface="Arial Black" panose="020B0A04020102020204" pitchFamily="34" charset="0"/>
              </a:rPr>
              <a:t>Hala Mohamed Ahmed</a:t>
            </a:r>
            <a:endParaRPr lang="en-US" sz="2372" dirty="0">
              <a:solidFill>
                <a:srgbClr val="3A8A91"/>
              </a:solidFill>
              <a:latin typeface="Arial Black" panose="020B0A04020102020204" pitchFamily="34" charset="0"/>
              <a:ea typeface="TT Fors"/>
              <a:cs typeface="TT Fors"/>
              <a:sym typeface="TT Fors"/>
            </a:endParaRPr>
          </a:p>
        </p:txBody>
      </p:sp>
      <p:sp>
        <p:nvSpPr>
          <p:cNvPr id="8" name="TextBox 8"/>
          <p:cNvSpPr txBox="1"/>
          <p:nvPr/>
        </p:nvSpPr>
        <p:spPr>
          <a:xfrm>
            <a:off x="16045711" y="9817505"/>
            <a:ext cx="3303478" cy="331676"/>
          </a:xfrm>
          <a:prstGeom prst="rect">
            <a:avLst/>
          </a:prstGeom>
        </p:spPr>
        <p:txBody>
          <a:bodyPr lIns="0" tIns="0" rIns="0" bIns="0" rtlCol="0" anchor="t">
            <a:spAutoFit/>
          </a:bodyPr>
          <a:lstStyle/>
          <a:p>
            <a:pPr algn="l">
              <a:lnSpc>
                <a:spcPts val="2538"/>
              </a:lnSpc>
            </a:pPr>
            <a:r>
              <a:rPr lang="en-US" sz="2372" dirty="0">
                <a:solidFill>
                  <a:srgbClr val="3A8A91"/>
                </a:solidFill>
                <a:latin typeface="TT Fors"/>
                <a:ea typeface="TT Fors"/>
                <a:cs typeface="TT Fors"/>
                <a:sym typeface="TT Fors"/>
              </a:rPr>
              <a:t>@Luka Store</a:t>
            </a:r>
          </a:p>
        </p:txBody>
      </p:sp>
      <p:sp>
        <p:nvSpPr>
          <p:cNvPr id="10" name="Rectangle: Rounded Corners 9">
            <a:extLst>
              <a:ext uri="{FF2B5EF4-FFF2-40B4-BE49-F238E27FC236}">
                <a16:creationId xmlns:a16="http://schemas.microsoft.com/office/drawing/2014/main" id="{CAFA4F5C-94D4-09E2-B01E-F9730DDF9C8E}"/>
              </a:ext>
            </a:extLst>
          </p:cNvPr>
          <p:cNvSpPr/>
          <p:nvPr/>
        </p:nvSpPr>
        <p:spPr>
          <a:xfrm>
            <a:off x="590550" y="381000"/>
            <a:ext cx="17106900" cy="9525000"/>
          </a:xfrm>
          <a:prstGeom prst="roundRect">
            <a:avLst/>
          </a:prstGeom>
          <a:solidFill>
            <a:srgbClr val="3A8A91">
              <a:alpha val="1294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9"/>
          <p:cNvSpPr/>
          <p:nvPr/>
        </p:nvSpPr>
        <p:spPr>
          <a:xfrm>
            <a:off x="6308249" y="-1513685"/>
            <a:ext cx="14190056" cy="13235452"/>
          </a:xfrm>
          <a:custGeom>
            <a:avLst/>
            <a:gdLst/>
            <a:ahLst/>
            <a:cxnLst/>
            <a:rect l="l" t="t" r="r" b="b"/>
            <a:pathLst>
              <a:path w="14190056" h="13235452">
                <a:moveTo>
                  <a:pt x="0" y="0"/>
                </a:moveTo>
                <a:lnTo>
                  <a:pt x="14190056" y="0"/>
                </a:lnTo>
                <a:lnTo>
                  <a:pt x="14190056" y="13235452"/>
                </a:lnTo>
                <a:lnTo>
                  <a:pt x="0" y="13235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a:p>
        </p:txBody>
      </p:sp>
      <p:sp>
        <p:nvSpPr>
          <p:cNvPr id="12" name="Freeform 2">
            <a:extLst>
              <a:ext uri="{FF2B5EF4-FFF2-40B4-BE49-F238E27FC236}">
                <a16:creationId xmlns:a16="http://schemas.microsoft.com/office/drawing/2014/main" id="{EEEB99FA-861D-FF40-F259-C4912EA3801C}"/>
              </a:ext>
            </a:extLst>
          </p:cNvPr>
          <p:cNvSpPr/>
          <p:nvPr/>
        </p:nvSpPr>
        <p:spPr>
          <a:xfrm>
            <a:off x="6172200" y="-2000048"/>
            <a:ext cx="15232938" cy="14208177"/>
          </a:xfrm>
          <a:custGeom>
            <a:avLst/>
            <a:gdLst/>
            <a:ahLst/>
            <a:cxnLst/>
            <a:rect l="l" t="t" r="r" b="b"/>
            <a:pathLst>
              <a:path w="15232938" h="14208177">
                <a:moveTo>
                  <a:pt x="0" y="0"/>
                </a:moveTo>
                <a:lnTo>
                  <a:pt x="15232938" y="0"/>
                </a:lnTo>
                <a:lnTo>
                  <a:pt x="15232938" y="14208177"/>
                </a:lnTo>
                <a:lnTo>
                  <a:pt x="0" y="14208177"/>
                </a:lnTo>
                <a:lnTo>
                  <a:pt x="0" y="0"/>
                </a:lnTo>
                <a:close/>
              </a:path>
            </a:pathLst>
          </a:custGeom>
          <a:blipFill>
            <a:blip r:embed="rId2">
              <a:alphaModFix amt="15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AF4F4"/>
        </a:solidFill>
        <a:effectLst/>
      </p:bgPr>
    </p:bg>
    <p:spTree>
      <p:nvGrpSpPr>
        <p:cNvPr id="1" name=""/>
        <p:cNvGrpSpPr/>
        <p:nvPr/>
      </p:nvGrpSpPr>
      <p:grpSpPr>
        <a:xfrm>
          <a:off x="0" y="0"/>
          <a:ext cx="0" cy="0"/>
          <a:chOff x="0" y="0"/>
          <a:chExt cx="0" cy="0"/>
        </a:xfrm>
      </p:grpSpPr>
      <p:sp>
        <p:nvSpPr>
          <p:cNvPr id="5" name="TextBox 5"/>
          <p:cNvSpPr txBox="1"/>
          <p:nvPr/>
        </p:nvSpPr>
        <p:spPr>
          <a:xfrm>
            <a:off x="1300343" y="2633938"/>
            <a:ext cx="9870025" cy="1327286"/>
          </a:xfrm>
          <a:prstGeom prst="rect">
            <a:avLst/>
          </a:prstGeom>
        </p:spPr>
        <p:txBody>
          <a:bodyPr lIns="0" tIns="0" rIns="0" bIns="0" rtlCol="0" anchor="t">
            <a:spAutoFit/>
          </a:bodyPr>
          <a:lstStyle/>
          <a:p>
            <a:pPr algn="l">
              <a:lnSpc>
                <a:spcPts val="9350"/>
              </a:lnSpc>
            </a:pPr>
            <a:r>
              <a:rPr lang="en-US" sz="11000" spc="-418" dirty="0">
                <a:solidFill>
                  <a:srgbClr val="3A8A91"/>
                </a:solidFill>
                <a:latin typeface="TT Fors"/>
                <a:ea typeface="TT Fors"/>
                <a:cs typeface="TT Fors"/>
                <a:sym typeface="TT Fors"/>
              </a:rPr>
              <a:t>Overview</a:t>
            </a:r>
          </a:p>
        </p:txBody>
      </p:sp>
      <p:sp>
        <p:nvSpPr>
          <p:cNvPr id="7" name="TextBox 7"/>
          <p:cNvSpPr txBox="1"/>
          <p:nvPr/>
        </p:nvSpPr>
        <p:spPr>
          <a:xfrm>
            <a:off x="1300343" y="4457700"/>
            <a:ext cx="7543800" cy="4763676"/>
          </a:xfrm>
          <a:prstGeom prst="rect">
            <a:avLst/>
          </a:prstGeom>
        </p:spPr>
        <p:txBody>
          <a:bodyPr wrap="square" lIns="0" tIns="0" rIns="0" bIns="0" rtlCol="0" anchor="t">
            <a:spAutoFit/>
          </a:bodyPr>
          <a:lstStyle/>
          <a:p>
            <a:pPr>
              <a:spcBef>
                <a:spcPct val="0"/>
              </a:spcBef>
            </a:pPr>
            <a:r>
              <a:rPr lang="en-US" sz="2400" b="1" kern="100" dirty="0">
                <a:solidFill>
                  <a:srgbClr val="3A8A91"/>
                </a:solidFill>
                <a:effectLst/>
                <a:latin typeface="Arial Black" panose="020B0A04020102020204" pitchFamily="34" charset="0"/>
                <a:ea typeface="Calibri" panose="020F0502020204030204" pitchFamily="34" charset="0"/>
                <a:cs typeface="Arial" panose="020B0604020202020204" pitchFamily="34" charset="0"/>
              </a:rPr>
              <a:t>The brand focuses on providing high-quality cosmetics at affordable prices, making beauty products accessible to a larger audience in Egypt. </a:t>
            </a:r>
          </a:p>
          <a:p>
            <a:pPr>
              <a:spcBef>
                <a:spcPct val="0"/>
              </a:spcBef>
            </a:pPr>
            <a:r>
              <a:rPr lang="en-US" sz="2400" b="1" kern="100" dirty="0">
                <a:solidFill>
                  <a:srgbClr val="3A8A91"/>
                </a:solidFill>
                <a:effectLst/>
                <a:latin typeface="Arial Black" panose="020B0A04020102020204" pitchFamily="34" charset="0"/>
                <a:ea typeface="Calibri" panose="020F0502020204030204" pitchFamily="34" charset="0"/>
                <a:cs typeface="Arial" panose="020B0604020202020204" pitchFamily="34" charset="0"/>
              </a:rPr>
              <a:t>The store operates mainly through its e-commerce website and social media platforms, allowing customers to easily browse products, compare options, and place orders online. we're more than just a cosmetics brand; we're the source of happiness and confidence for every Egyptian girl.</a:t>
            </a:r>
            <a:endParaRPr lang="en-US" sz="2400" kern="100" dirty="0">
              <a:solidFill>
                <a:srgbClr val="3A8A91"/>
              </a:solidFill>
              <a:effectLst/>
              <a:latin typeface="Arial Black" panose="020B0A04020102020204" pitchFamily="34" charset="0"/>
              <a:ea typeface="Calibri" panose="020F0502020204030204" pitchFamily="34" charset="0"/>
              <a:cs typeface="Arial" panose="020B0604020202020204" pitchFamily="34" charset="0"/>
            </a:endParaRPr>
          </a:p>
          <a:p>
            <a:pPr marL="0" lvl="0" indent="0" algn="l">
              <a:lnSpc>
                <a:spcPts val="2538"/>
              </a:lnSpc>
              <a:spcBef>
                <a:spcPct val="0"/>
              </a:spcBef>
            </a:pPr>
            <a:endParaRPr lang="en-US" sz="2372" u="none" strike="noStrike" dirty="0">
              <a:solidFill>
                <a:srgbClr val="3A8A91"/>
              </a:solidFill>
              <a:latin typeface="TT Fors"/>
              <a:ea typeface="TT Fors"/>
              <a:cs typeface="TT Fors"/>
              <a:sym typeface="TT Fors"/>
            </a:endParaRPr>
          </a:p>
        </p:txBody>
      </p:sp>
      <p:pic>
        <p:nvPicPr>
          <p:cNvPr id="10" name="Picture 9">
            <a:extLst>
              <a:ext uri="{FF2B5EF4-FFF2-40B4-BE49-F238E27FC236}">
                <a16:creationId xmlns:a16="http://schemas.microsoft.com/office/drawing/2014/main" id="{59241A74-6AB1-41EB-FA78-CADDF48EEC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08797" y="3467100"/>
            <a:ext cx="6678860" cy="6678860"/>
          </a:xfrm>
          <a:prstGeom prst="rect">
            <a:avLst/>
          </a:prstGeom>
        </p:spPr>
      </p:pic>
      <p:sp>
        <p:nvSpPr>
          <p:cNvPr id="11" name="Freeform 4">
            <a:extLst>
              <a:ext uri="{FF2B5EF4-FFF2-40B4-BE49-F238E27FC236}">
                <a16:creationId xmlns:a16="http://schemas.microsoft.com/office/drawing/2014/main" id="{CD311B1D-1DEE-5F7D-487F-2CD05BE4E2EE}"/>
              </a:ext>
            </a:extLst>
          </p:cNvPr>
          <p:cNvSpPr/>
          <p:nvPr/>
        </p:nvSpPr>
        <p:spPr>
          <a:xfrm>
            <a:off x="1855540" y="-1372637"/>
            <a:ext cx="18245979" cy="6867123"/>
          </a:xfrm>
          <a:custGeom>
            <a:avLst/>
            <a:gdLst/>
            <a:ahLst/>
            <a:cxnLst/>
            <a:rect l="l" t="t" r="r" b="b"/>
            <a:pathLst>
              <a:path w="18245979" h="6867123">
                <a:moveTo>
                  <a:pt x="0" y="0"/>
                </a:moveTo>
                <a:lnTo>
                  <a:pt x="18245980" y="0"/>
                </a:lnTo>
                <a:lnTo>
                  <a:pt x="18245980" y="6867123"/>
                </a:lnTo>
                <a:lnTo>
                  <a:pt x="0" y="6867123"/>
                </a:lnTo>
                <a:lnTo>
                  <a:pt x="0" y="0"/>
                </a:lnTo>
                <a:close/>
              </a:path>
            </a:pathLst>
          </a:custGeom>
          <a:blipFill>
            <a:blip r:embed="rId3">
              <a:alphaModFix amt="15000"/>
              <a:extLst>
                <a:ext uri="{96DAC541-7B7A-43D3-8B79-37D633B846F1}">
                  <asvg:svgBlip xmlns:asvg="http://schemas.microsoft.com/office/drawing/2016/SVG/main" r:embed="rId4"/>
                </a:ext>
              </a:extLst>
            </a:blip>
            <a:stretch>
              <a:fillRect/>
            </a:stretch>
          </a:blipFill>
          <a:ln cap="sq">
            <a:noFill/>
            <a:prstDash val="solid"/>
            <a:miter/>
          </a:ln>
        </p:spPr>
        <p:txBody>
          <a:bodyPr/>
          <a:lstStyle/>
          <a:p>
            <a:endParaRPr/>
          </a:p>
        </p:txBody>
      </p:sp>
      <p:sp>
        <p:nvSpPr>
          <p:cNvPr id="2" name="Rectangle: Rounded Corners 1">
            <a:extLst>
              <a:ext uri="{FF2B5EF4-FFF2-40B4-BE49-F238E27FC236}">
                <a16:creationId xmlns:a16="http://schemas.microsoft.com/office/drawing/2014/main" id="{94B0F25A-76BA-A328-172D-40FE58503D42}"/>
              </a:ext>
            </a:extLst>
          </p:cNvPr>
          <p:cNvSpPr/>
          <p:nvPr/>
        </p:nvSpPr>
        <p:spPr>
          <a:xfrm>
            <a:off x="857891" y="4152900"/>
            <a:ext cx="8001000" cy="4876800"/>
          </a:xfrm>
          <a:prstGeom prst="roundRect">
            <a:avLst/>
          </a:prstGeom>
          <a:solidFill>
            <a:srgbClr val="428C7E">
              <a:alpha val="1411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Rounded Corners 2">
            <a:extLst>
              <a:ext uri="{FF2B5EF4-FFF2-40B4-BE49-F238E27FC236}">
                <a16:creationId xmlns:a16="http://schemas.microsoft.com/office/drawing/2014/main" id="{0C31C876-F1B4-1DD4-1F80-B42C7FBBAAB4}"/>
              </a:ext>
            </a:extLst>
          </p:cNvPr>
          <p:cNvSpPr/>
          <p:nvPr/>
        </p:nvSpPr>
        <p:spPr>
          <a:xfrm>
            <a:off x="590550" y="381000"/>
            <a:ext cx="17106900" cy="9525000"/>
          </a:xfrm>
          <a:prstGeom prst="roundRect">
            <a:avLst/>
          </a:prstGeom>
          <a:solidFill>
            <a:srgbClr val="3A8A91">
              <a:alpha val="1294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AF4F4"/>
        </a:solidFill>
        <a:effectLst/>
      </p:bgPr>
    </p:bg>
    <p:spTree>
      <p:nvGrpSpPr>
        <p:cNvPr id="1" name=""/>
        <p:cNvGrpSpPr/>
        <p:nvPr/>
      </p:nvGrpSpPr>
      <p:grpSpPr>
        <a:xfrm>
          <a:off x="0" y="0"/>
          <a:ext cx="0" cy="0"/>
          <a:chOff x="0" y="0"/>
          <a:chExt cx="0" cy="0"/>
        </a:xfrm>
      </p:grpSpPr>
      <p:sp>
        <p:nvSpPr>
          <p:cNvPr id="2" name="Freeform 2"/>
          <p:cNvSpPr/>
          <p:nvPr/>
        </p:nvSpPr>
        <p:spPr>
          <a:xfrm>
            <a:off x="2590800" y="-622864"/>
            <a:ext cx="15883821" cy="6151371"/>
          </a:xfrm>
          <a:custGeom>
            <a:avLst/>
            <a:gdLst/>
            <a:ahLst/>
            <a:cxnLst/>
            <a:rect l="l" t="t" r="r" b="b"/>
            <a:pathLst>
              <a:path w="15883821" h="6151371">
                <a:moveTo>
                  <a:pt x="0" y="0"/>
                </a:moveTo>
                <a:lnTo>
                  <a:pt x="15883821" y="0"/>
                </a:lnTo>
                <a:lnTo>
                  <a:pt x="15883821" y="6151371"/>
                </a:lnTo>
                <a:lnTo>
                  <a:pt x="0" y="6151371"/>
                </a:lnTo>
                <a:lnTo>
                  <a:pt x="0" y="0"/>
                </a:lnTo>
                <a:close/>
              </a:path>
            </a:pathLst>
          </a:custGeom>
          <a:blipFill>
            <a:blip r:embed="rId2">
              <a:alphaModFix amt="15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a:p>
        </p:txBody>
      </p:sp>
      <p:sp>
        <p:nvSpPr>
          <p:cNvPr id="3" name="TextBox 3"/>
          <p:cNvSpPr txBox="1"/>
          <p:nvPr/>
        </p:nvSpPr>
        <p:spPr>
          <a:xfrm>
            <a:off x="493389" y="1636779"/>
            <a:ext cx="8650611" cy="1327286"/>
          </a:xfrm>
          <a:prstGeom prst="rect">
            <a:avLst/>
          </a:prstGeom>
        </p:spPr>
        <p:txBody>
          <a:bodyPr lIns="0" tIns="0" rIns="0" bIns="0" rtlCol="0" anchor="t">
            <a:spAutoFit/>
          </a:bodyPr>
          <a:lstStyle/>
          <a:p>
            <a:pPr algn="l">
              <a:lnSpc>
                <a:spcPts val="9350"/>
              </a:lnSpc>
            </a:pPr>
            <a:r>
              <a:rPr lang="en-US" sz="11000" spc="-418" dirty="0">
                <a:solidFill>
                  <a:srgbClr val="3A8A91"/>
                </a:solidFill>
                <a:latin typeface="TT Fors"/>
                <a:ea typeface="TT Fors"/>
                <a:cs typeface="TT Fors"/>
                <a:sym typeface="TT Fors"/>
              </a:rPr>
              <a:t>mission</a:t>
            </a:r>
          </a:p>
        </p:txBody>
      </p:sp>
      <p:sp>
        <p:nvSpPr>
          <p:cNvPr id="7" name="TextBox 7"/>
          <p:cNvSpPr txBox="1"/>
          <p:nvPr/>
        </p:nvSpPr>
        <p:spPr>
          <a:xfrm>
            <a:off x="838119" y="3081533"/>
            <a:ext cx="7125831" cy="2486130"/>
          </a:xfrm>
          <a:prstGeom prst="rect">
            <a:avLst/>
          </a:prstGeom>
        </p:spPr>
        <p:txBody>
          <a:bodyPr wrap="square" lIns="0" tIns="0" rIns="0" bIns="0" rtlCol="0" anchor="t">
            <a:spAutoFit/>
          </a:bodyPr>
          <a:lstStyle/>
          <a:p>
            <a:pPr marL="256094" lvl="1"/>
            <a:r>
              <a:rPr lang="en-US" sz="2800" b="1" kern="100" dirty="0">
                <a:solidFill>
                  <a:schemeClr val="accent5">
                    <a:lumMod val="75000"/>
                  </a:schemeClr>
                </a:solidFill>
                <a:effectLst/>
                <a:latin typeface="Arial Black" panose="020B0A04020102020204" pitchFamily="34" charset="0"/>
                <a:ea typeface="Calibri" panose="020F0502020204030204" pitchFamily="34" charset="0"/>
                <a:cs typeface="Arial" panose="020B0604020202020204" pitchFamily="34" charset="0"/>
              </a:rPr>
              <a:t>	To provide high-quality cosmetics products at affordable prices while offering a convenient online shopping experience for customers across Egypt.</a:t>
            </a:r>
            <a:endParaRPr lang="en-US" sz="2800" kern="100" dirty="0">
              <a:solidFill>
                <a:schemeClr val="accent5">
                  <a:lumMod val="75000"/>
                </a:schemeClr>
              </a:solidFill>
              <a:effectLst/>
              <a:latin typeface="Arial Black" panose="020B0A04020102020204" pitchFamily="34" charset="0"/>
              <a:ea typeface="Calibri" panose="020F0502020204030204" pitchFamily="34" charset="0"/>
              <a:cs typeface="Arial" panose="020B0604020202020204" pitchFamily="34" charset="0"/>
            </a:endParaRPr>
          </a:p>
          <a:p>
            <a:pPr marL="256094" lvl="1" algn="l">
              <a:lnSpc>
                <a:spcPts val="2538"/>
              </a:lnSpc>
            </a:pPr>
            <a:endParaRPr lang="en-US" sz="2372" u="none" strike="noStrike" dirty="0">
              <a:solidFill>
                <a:srgbClr val="3A8A91"/>
              </a:solidFill>
              <a:latin typeface="TT Fors"/>
              <a:ea typeface="TT Fors"/>
              <a:cs typeface="TT Fors"/>
              <a:sym typeface="TT Fors"/>
            </a:endParaRPr>
          </a:p>
        </p:txBody>
      </p:sp>
      <p:sp>
        <p:nvSpPr>
          <p:cNvPr id="8" name="TextBox 8"/>
          <p:cNvSpPr txBox="1"/>
          <p:nvPr/>
        </p:nvSpPr>
        <p:spPr>
          <a:xfrm>
            <a:off x="11887281" y="2620644"/>
            <a:ext cx="5562600" cy="2917017"/>
          </a:xfrm>
          <a:prstGeom prst="rect">
            <a:avLst/>
          </a:prstGeom>
        </p:spPr>
        <p:txBody>
          <a:bodyPr wrap="square" lIns="0" tIns="0" rIns="0" bIns="0" rtlCol="0" anchor="t">
            <a:spAutoFit/>
          </a:bodyPr>
          <a:lstStyle/>
          <a:p>
            <a:pPr>
              <a:spcBef>
                <a:spcPct val="0"/>
              </a:spcBef>
            </a:pPr>
            <a:r>
              <a:rPr lang="en-US" sz="2800" b="1" kern="100" dirty="0">
                <a:solidFill>
                  <a:schemeClr val="accent5">
                    <a:lumMod val="75000"/>
                  </a:schemeClr>
                </a:solidFill>
                <a:effectLst/>
                <a:latin typeface="Arial Black" panose="020B0A04020102020204" pitchFamily="34" charset="0"/>
                <a:ea typeface="Calibri" panose="020F0502020204030204" pitchFamily="34" charset="0"/>
                <a:cs typeface="Arial" panose="020B0604020202020204" pitchFamily="34" charset="0"/>
              </a:rPr>
              <a:t>	To become one of the leading online cosmetics stores in Egypt by building trust with customers and offering a wide variety of beauty products.</a:t>
            </a:r>
            <a:endParaRPr lang="en-US" sz="2800" kern="100" dirty="0">
              <a:solidFill>
                <a:schemeClr val="accent5">
                  <a:lumMod val="75000"/>
                </a:schemeClr>
              </a:solidFill>
              <a:effectLst/>
              <a:latin typeface="Arial Black" panose="020B0A04020102020204" pitchFamily="34" charset="0"/>
              <a:ea typeface="Calibri" panose="020F0502020204030204" pitchFamily="34" charset="0"/>
              <a:cs typeface="Arial" panose="020B0604020202020204" pitchFamily="34" charset="0"/>
            </a:endParaRPr>
          </a:p>
          <a:p>
            <a:pPr marL="0" lvl="0" indent="0" algn="l">
              <a:lnSpc>
                <a:spcPts val="2538"/>
              </a:lnSpc>
              <a:spcBef>
                <a:spcPct val="0"/>
              </a:spcBef>
            </a:pPr>
            <a:endParaRPr lang="en-US" sz="2372" u="none" strike="noStrike" dirty="0">
              <a:solidFill>
                <a:srgbClr val="3A8A91"/>
              </a:solidFill>
              <a:latin typeface="TT Fors"/>
              <a:ea typeface="TT Fors"/>
              <a:cs typeface="TT Fors"/>
              <a:sym typeface="TT Fors"/>
            </a:endParaRPr>
          </a:p>
        </p:txBody>
      </p:sp>
      <p:sp>
        <p:nvSpPr>
          <p:cNvPr id="10" name="TextBox 3">
            <a:extLst>
              <a:ext uri="{FF2B5EF4-FFF2-40B4-BE49-F238E27FC236}">
                <a16:creationId xmlns:a16="http://schemas.microsoft.com/office/drawing/2014/main" id="{B3AA6BDF-AB74-0583-EA75-1456CA45060C}"/>
              </a:ext>
            </a:extLst>
          </p:cNvPr>
          <p:cNvSpPr txBox="1"/>
          <p:nvPr/>
        </p:nvSpPr>
        <p:spPr>
          <a:xfrm>
            <a:off x="11576691" y="1366722"/>
            <a:ext cx="8650611" cy="1327286"/>
          </a:xfrm>
          <a:prstGeom prst="rect">
            <a:avLst/>
          </a:prstGeom>
        </p:spPr>
        <p:txBody>
          <a:bodyPr lIns="0" tIns="0" rIns="0" bIns="0" rtlCol="0" anchor="t">
            <a:spAutoFit/>
          </a:bodyPr>
          <a:lstStyle/>
          <a:p>
            <a:pPr algn="l">
              <a:lnSpc>
                <a:spcPts val="9350"/>
              </a:lnSpc>
            </a:pPr>
            <a:r>
              <a:rPr lang="en-US" sz="11000" spc="-418" dirty="0">
                <a:solidFill>
                  <a:srgbClr val="3A8A91"/>
                </a:solidFill>
                <a:latin typeface="TT Fors"/>
                <a:ea typeface="TT Fors"/>
                <a:cs typeface="TT Fors"/>
                <a:sym typeface="TT Fors"/>
              </a:rPr>
              <a:t>vision</a:t>
            </a:r>
          </a:p>
        </p:txBody>
      </p:sp>
      <p:sp>
        <p:nvSpPr>
          <p:cNvPr id="11" name="TextBox 8">
            <a:extLst>
              <a:ext uri="{FF2B5EF4-FFF2-40B4-BE49-F238E27FC236}">
                <a16:creationId xmlns:a16="http://schemas.microsoft.com/office/drawing/2014/main" id="{C4A1B6D3-A6C6-22DE-044E-6EB9352003A6}"/>
              </a:ext>
            </a:extLst>
          </p:cNvPr>
          <p:cNvSpPr txBox="1"/>
          <p:nvPr/>
        </p:nvSpPr>
        <p:spPr>
          <a:xfrm>
            <a:off x="16154400" y="9182100"/>
            <a:ext cx="3303478" cy="331676"/>
          </a:xfrm>
          <a:prstGeom prst="rect">
            <a:avLst/>
          </a:prstGeom>
        </p:spPr>
        <p:txBody>
          <a:bodyPr lIns="0" tIns="0" rIns="0" bIns="0" rtlCol="0" anchor="t">
            <a:spAutoFit/>
          </a:bodyPr>
          <a:lstStyle/>
          <a:p>
            <a:pPr algn="l">
              <a:lnSpc>
                <a:spcPts val="2538"/>
              </a:lnSpc>
            </a:pPr>
            <a:r>
              <a:rPr lang="en-US" sz="2372" dirty="0">
                <a:solidFill>
                  <a:srgbClr val="3A8A91"/>
                </a:solidFill>
                <a:latin typeface="TT Fors"/>
                <a:ea typeface="TT Fors"/>
                <a:cs typeface="TT Fors"/>
                <a:sym typeface="TT Fors"/>
              </a:rPr>
              <a:t>@Luka Store</a:t>
            </a:r>
          </a:p>
        </p:txBody>
      </p:sp>
      <p:sp>
        <p:nvSpPr>
          <p:cNvPr id="13" name="TextBox 12">
            <a:extLst>
              <a:ext uri="{FF2B5EF4-FFF2-40B4-BE49-F238E27FC236}">
                <a16:creationId xmlns:a16="http://schemas.microsoft.com/office/drawing/2014/main" id="{A205EBC2-EB64-CF89-2A66-1E65FE6DBD0E}"/>
              </a:ext>
            </a:extLst>
          </p:cNvPr>
          <p:cNvSpPr txBox="1"/>
          <p:nvPr/>
        </p:nvSpPr>
        <p:spPr>
          <a:xfrm>
            <a:off x="6553200" y="6708295"/>
            <a:ext cx="5791200" cy="2777042"/>
          </a:xfrm>
          <a:prstGeom prst="rect">
            <a:avLst/>
          </a:prstGeom>
          <a:noFill/>
        </p:spPr>
        <p:txBody>
          <a:bodyPr wrap="square" rtlCol="0">
            <a:spAutoFit/>
          </a:bodyPr>
          <a:lstStyle/>
          <a:p>
            <a:pPr marR="0" lvl="0" rtl="0">
              <a:lnSpc>
                <a:spcPct val="107000"/>
              </a:lnSpc>
              <a:spcBef>
                <a:spcPts val="0"/>
              </a:spcBef>
              <a:spcAft>
                <a:spcPts val="0"/>
              </a:spcAft>
            </a:pPr>
            <a:endParaRPr lang="en-US" sz="2800" kern="100" dirty="0">
              <a:solidFill>
                <a:schemeClr val="accent5">
                  <a:lumMod val="75000"/>
                </a:schemeClr>
              </a:solidFill>
              <a:effectLst/>
              <a:latin typeface="Arial Black" panose="020B0A0402010202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0"/>
              </a:spcAft>
              <a:buFont typeface="Symbol" panose="05050102010706020507" pitchFamily="18" charset="2"/>
              <a:buChar char=""/>
            </a:pPr>
            <a:r>
              <a:rPr lang="en-US" sz="2800" b="1" kern="100" dirty="0">
                <a:solidFill>
                  <a:schemeClr val="accent5">
                    <a:lumMod val="75000"/>
                  </a:schemeClr>
                </a:solidFill>
                <a:effectLst/>
                <a:latin typeface="Arial Black" panose="020B0A04020102020204" pitchFamily="34" charset="0"/>
                <a:ea typeface="Calibri" panose="020F0502020204030204" pitchFamily="34" charset="0"/>
                <a:cs typeface="Arial" panose="020B0604020202020204" pitchFamily="34" charset="0"/>
              </a:rPr>
              <a:t>Quality products</a:t>
            </a:r>
            <a:endParaRPr lang="en-US" sz="2800" kern="100" dirty="0">
              <a:solidFill>
                <a:schemeClr val="accent5">
                  <a:lumMod val="75000"/>
                </a:schemeClr>
              </a:solidFill>
              <a:effectLst/>
              <a:latin typeface="Arial Black" panose="020B0A0402010202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0"/>
              </a:spcAft>
              <a:buFont typeface="Symbol" panose="05050102010706020507" pitchFamily="18" charset="2"/>
              <a:buChar char=""/>
            </a:pPr>
            <a:r>
              <a:rPr lang="en-US" sz="2800" b="1" kern="100" dirty="0">
                <a:solidFill>
                  <a:schemeClr val="accent5">
                    <a:lumMod val="75000"/>
                  </a:schemeClr>
                </a:solidFill>
                <a:effectLst/>
                <a:latin typeface="Arial Black" panose="020B0A04020102020204" pitchFamily="34" charset="0"/>
                <a:ea typeface="Calibri" panose="020F0502020204030204" pitchFamily="34" charset="0"/>
                <a:cs typeface="Arial" panose="020B0604020202020204" pitchFamily="34" charset="0"/>
              </a:rPr>
              <a:t>Affordable prices</a:t>
            </a:r>
            <a:endParaRPr lang="en-US" sz="2800" kern="100" dirty="0">
              <a:solidFill>
                <a:schemeClr val="accent5">
                  <a:lumMod val="75000"/>
                </a:schemeClr>
              </a:solidFill>
              <a:effectLst/>
              <a:latin typeface="Arial Black" panose="020B0A0402010202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0"/>
              </a:spcAft>
              <a:buFont typeface="Symbol" panose="05050102010706020507" pitchFamily="18" charset="2"/>
              <a:buChar char=""/>
            </a:pPr>
            <a:r>
              <a:rPr lang="en-US" sz="2800" b="1" kern="100" dirty="0">
                <a:solidFill>
                  <a:schemeClr val="accent5">
                    <a:lumMod val="75000"/>
                  </a:schemeClr>
                </a:solidFill>
                <a:effectLst/>
                <a:latin typeface="Arial Black" panose="020B0A04020102020204" pitchFamily="34" charset="0"/>
                <a:ea typeface="Calibri" panose="020F0502020204030204" pitchFamily="34" charset="0"/>
                <a:cs typeface="Arial" panose="020B0604020202020204" pitchFamily="34" charset="0"/>
              </a:rPr>
              <a:t>Customer satisfaction</a:t>
            </a:r>
            <a:endParaRPr lang="en-US" sz="2800" kern="100" dirty="0">
              <a:solidFill>
                <a:schemeClr val="accent5">
                  <a:lumMod val="75000"/>
                </a:schemeClr>
              </a:solidFill>
              <a:effectLst/>
              <a:latin typeface="Arial Black" panose="020B0A0402010202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buFont typeface="Symbol" panose="05050102010706020507" pitchFamily="18" charset="2"/>
              <a:buChar char=""/>
            </a:pPr>
            <a:r>
              <a:rPr lang="en-US" sz="2800" b="1" kern="100" dirty="0">
                <a:solidFill>
                  <a:schemeClr val="accent5">
                    <a:lumMod val="75000"/>
                  </a:schemeClr>
                </a:solidFill>
                <a:effectLst/>
                <a:latin typeface="Arial Black" panose="020B0A04020102020204" pitchFamily="34" charset="0"/>
                <a:ea typeface="Calibri" panose="020F0502020204030204" pitchFamily="34" charset="0"/>
                <a:cs typeface="Arial" panose="020B0604020202020204" pitchFamily="34" charset="0"/>
              </a:rPr>
              <a:t>Trust and transparency</a:t>
            </a:r>
            <a:endParaRPr lang="en-US" sz="2800" kern="100" dirty="0">
              <a:solidFill>
                <a:schemeClr val="accent5">
                  <a:lumMod val="75000"/>
                </a:schemeClr>
              </a:solidFill>
              <a:effectLst/>
              <a:latin typeface="Arial Black" panose="020B0A04020102020204" pitchFamily="34" charset="0"/>
              <a:ea typeface="Calibri" panose="020F0502020204030204" pitchFamily="34" charset="0"/>
              <a:cs typeface="Arial" panose="020B0604020202020204" pitchFamily="34" charset="0"/>
            </a:endParaRPr>
          </a:p>
          <a:p>
            <a:endParaRPr lang="en-US" dirty="0"/>
          </a:p>
        </p:txBody>
      </p:sp>
      <p:sp>
        <p:nvSpPr>
          <p:cNvPr id="14" name="TextBox 3">
            <a:extLst>
              <a:ext uri="{FF2B5EF4-FFF2-40B4-BE49-F238E27FC236}">
                <a16:creationId xmlns:a16="http://schemas.microsoft.com/office/drawing/2014/main" id="{CB216E46-AE3B-AD29-B098-414B670EAA5A}"/>
              </a:ext>
            </a:extLst>
          </p:cNvPr>
          <p:cNvSpPr txBox="1"/>
          <p:nvPr/>
        </p:nvSpPr>
        <p:spPr>
          <a:xfrm>
            <a:off x="6207404" y="5828800"/>
            <a:ext cx="8650611" cy="1327286"/>
          </a:xfrm>
          <a:prstGeom prst="rect">
            <a:avLst/>
          </a:prstGeom>
        </p:spPr>
        <p:txBody>
          <a:bodyPr lIns="0" tIns="0" rIns="0" bIns="0" rtlCol="0" anchor="t">
            <a:spAutoFit/>
          </a:bodyPr>
          <a:lstStyle/>
          <a:p>
            <a:pPr algn="l">
              <a:lnSpc>
                <a:spcPts val="9350"/>
              </a:lnSpc>
            </a:pPr>
            <a:r>
              <a:rPr lang="en-US" sz="11000" spc="-418" dirty="0">
                <a:solidFill>
                  <a:srgbClr val="3A8A91"/>
                </a:solidFill>
                <a:latin typeface="TT Fors"/>
                <a:ea typeface="TT Fors"/>
                <a:cs typeface="TT Fors"/>
                <a:sym typeface="TT Fors"/>
              </a:rPr>
              <a:t>Brand Value</a:t>
            </a:r>
          </a:p>
        </p:txBody>
      </p:sp>
      <p:sp>
        <p:nvSpPr>
          <p:cNvPr id="4" name="Rectangle: Rounded Corners 3">
            <a:extLst>
              <a:ext uri="{FF2B5EF4-FFF2-40B4-BE49-F238E27FC236}">
                <a16:creationId xmlns:a16="http://schemas.microsoft.com/office/drawing/2014/main" id="{C1C2A2AE-E2B9-7ED3-1B03-C2A2BC3C1BD6}"/>
              </a:ext>
            </a:extLst>
          </p:cNvPr>
          <p:cNvSpPr/>
          <p:nvPr/>
        </p:nvSpPr>
        <p:spPr>
          <a:xfrm>
            <a:off x="590550" y="381000"/>
            <a:ext cx="17106900" cy="9525000"/>
          </a:xfrm>
          <a:prstGeom prst="roundRect">
            <a:avLst/>
          </a:prstGeom>
          <a:solidFill>
            <a:srgbClr val="3A8A91">
              <a:alpha val="1294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AF4F4"/>
        </a:solidFill>
        <a:effectLst/>
      </p:bgPr>
    </p:bg>
    <p:spTree>
      <p:nvGrpSpPr>
        <p:cNvPr id="1" name=""/>
        <p:cNvGrpSpPr/>
        <p:nvPr/>
      </p:nvGrpSpPr>
      <p:grpSpPr>
        <a:xfrm>
          <a:off x="0" y="0"/>
          <a:ext cx="0" cy="0"/>
          <a:chOff x="0" y="0"/>
          <a:chExt cx="0" cy="0"/>
        </a:xfrm>
      </p:grpSpPr>
      <p:sp>
        <p:nvSpPr>
          <p:cNvPr id="2" name="Freeform 2"/>
          <p:cNvSpPr/>
          <p:nvPr/>
        </p:nvSpPr>
        <p:spPr>
          <a:xfrm>
            <a:off x="11788140" y="-1027150"/>
            <a:ext cx="7391400" cy="8110389"/>
          </a:xfrm>
          <a:custGeom>
            <a:avLst/>
            <a:gdLst/>
            <a:ahLst/>
            <a:cxnLst/>
            <a:rect l="l" t="t" r="r" b="b"/>
            <a:pathLst>
              <a:path w="17913444" h="17913444">
                <a:moveTo>
                  <a:pt x="0" y="0"/>
                </a:moveTo>
                <a:lnTo>
                  <a:pt x="17913444" y="0"/>
                </a:lnTo>
                <a:lnTo>
                  <a:pt x="17913444" y="17913444"/>
                </a:lnTo>
                <a:lnTo>
                  <a:pt x="0" y="17913444"/>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dirty="0"/>
          </a:p>
        </p:txBody>
      </p:sp>
      <p:sp>
        <p:nvSpPr>
          <p:cNvPr id="3" name="TextBox 3"/>
          <p:cNvSpPr txBox="1"/>
          <p:nvPr/>
        </p:nvSpPr>
        <p:spPr>
          <a:xfrm>
            <a:off x="685800" y="495300"/>
            <a:ext cx="8762999" cy="2532745"/>
          </a:xfrm>
          <a:prstGeom prst="rect">
            <a:avLst/>
          </a:prstGeom>
        </p:spPr>
        <p:txBody>
          <a:bodyPr wrap="square" lIns="0" tIns="0" rIns="0" bIns="0" rtlCol="0" anchor="t">
            <a:spAutoFit/>
          </a:bodyPr>
          <a:lstStyle/>
          <a:p>
            <a:pPr marL="0" lvl="0" indent="0" algn="l">
              <a:lnSpc>
                <a:spcPts val="9350"/>
              </a:lnSpc>
              <a:spcBef>
                <a:spcPct val="0"/>
              </a:spcBef>
            </a:pPr>
            <a:r>
              <a:rPr lang="en-US" sz="11000" spc="-418" dirty="0">
                <a:solidFill>
                  <a:srgbClr val="3A8A91"/>
                </a:solidFill>
                <a:latin typeface="TT Fors"/>
                <a:ea typeface="TT Fors"/>
                <a:cs typeface="TT Fors"/>
                <a:sym typeface="TT Fors"/>
              </a:rPr>
              <a:t>Market Overview</a:t>
            </a:r>
            <a:endParaRPr lang="en-US" sz="11000" u="none" strike="noStrike" spc="-418" dirty="0">
              <a:solidFill>
                <a:srgbClr val="3A8A91"/>
              </a:solidFill>
              <a:latin typeface="TT Fors"/>
              <a:ea typeface="TT Fors"/>
              <a:cs typeface="TT Fors"/>
              <a:sym typeface="TT Fors"/>
            </a:endParaRPr>
          </a:p>
        </p:txBody>
      </p:sp>
      <p:sp>
        <p:nvSpPr>
          <p:cNvPr id="12" name="TextBox 11">
            <a:extLst>
              <a:ext uri="{FF2B5EF4-FFF2-40B4-BE49-F238E27FC236}">
                <a16:creationId xmlns:a16="http://schemas.microsoft.com/office/drawing/2014/main" id="{CB751E35-5B2A-60FB-F4FA-FF9405E99B4C}"/>
              </a:ext>
            </a:extLst>
          </p:cNvPr>
          <p:cNvSpPr txBox="1"/>
          <p:nvPr/>
        </p:nvSpPr>
        <p:spPr>
          <a:xfrm>
            <a:off x="1524000" y="3028044"/>
            <a:ext cx="15240000" cy="3735895"/>
          </a:xfrm>
          <a:prstGeom prst="rect">
            <a:avLst/>
          </a:prstGeom>
          <a:noFill/>
        </p:spPr>
        <p:txBody>
          <a:bodyPr wrap="square" rtlCol="0">
            <a:spAutoFit/>
          </a:bodyPr>
          <a:lstStyle/>
          <a:p>
            <a:pPr marL="0" marR="0">
              <a:lnSpc>
                <a:spcPct val="107000"/>
              </a:lnSpc>
              <a:spcBef>
                <a:spcPts val="0"/>
              </a:spcBef>
              <a:spcAft>
                <a:spcPts val="800"/>
              </a:spcAft>
            </a:pPr>
            <a:r>
              <a:rPr lang="en-US" sz="2400" b="1" u="sng" kern="100" dirty="0">
                <a:solidFill>
                  <a:schemeClr val="accent5">
                    <a:lumMod val="75000"/>
                  </a:schemeClr>
                </a:solidFill>
                <a:effectLst/>
                <a:latin typeface="Arial Black" panose="020B0A04020102020204" pitchFamily="34" charset="0"/>
                <a:ea typeface="Calibri" panose="020F0502020204030204" pitchFamily="34" charset="0"/>
                <a:cs typeface="Arial" panose="020B0604020202020204" pitchFamily="34" charset="0"/>
              </a:rPr>
              <a:t>Globally</a:t>
            </a:r>
            <a:endParaRPr lang="en-US" sz="2400" kern="100" dirty="0">
              <a:solidFill>
                <a:schemeClr val="accent5">
                  <a:lumMod val="75000"/>
                </a:schemeClr>
              </a:solidFill>
              <a:effectLst/>
              <a:latin typeface="Arial Black" panose="020B0A0402010202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2400" b="1" kern="100" dirty="0">
                <a:solidFill>
                  <a:schemeClr val="accent5">
                    <a:lumMod val="75000"/>
                  </a:schemeClr>
                </a:solidFill>
                <a:effectLst/>
                <a:latin typeface="Arial Black" panose="020B0A04020102020204" pitchFamily="34" charset="0"/>
                <a:ea typeface="Calibri" panose="020F0502020204030204" pitchFamily="34" charset="0"/>
                <a:cs typeface="Arial" panose="020B0604020202020204" pitchFamily="34" charset="0"/>
              </a:rPr>
              <a:t>The cosmetics industry is one of the fastest-growing sectors in the global beauty and personal care market. It includes products related to skincare, haircare, makeup, and personal care. With the rise of social media and beauty influencers, the demand for cosmetics products has significantly increased in recent years. Globally, the cosmetics market is valued at more than $400 billion and is expected to continue growing steadily over the next decade due to increasing consumer awareness about skincare and beauty products.</a:t>
            </a:r>
            <a:endParaRPr lang="en-US" sz="2400" kern="100" dirty="0">
              <a:solidFill>
                <a:schemeClr val="accent5">
                  <a:lumMod val="75000"/>
                </a:schemeClr>
              </a:solidFill>
              <a:effectLst/>
              <a:latin typeface="Arial Black" panose="020B0A04020102020204" pitchFamily="34" charset="0"/>
              <a:ea typeface="Calibri" panose="020F0502020204030204" pitchFamily="34" charset="0"/>
              <a:cs typeface="Arial" panose="020B0604020202020204" pitchFamily="34" charset="0"/>
            </a:endParaRPr>
          </a:p>
          <a:p>
            <a:endParaRPr lang="en-US" dirty="0"/>
          </a:p>
        </p:txBody>
      </p:sp>
      <p:sp>
        <p:nvSpPr>
          <p:cNvPr id="13" name="TextBox 12">
            <a:extLst>
              <a:ext uri="{FF2B5EF4-FFF2-40B4-BE49-F238E27FC236}">
                <a16:creationId xmlns:a16="http://schemas.microsoft.com/office/drawing/2014/main" id="{E11FB505-CBEE-3390-A682-EFB839769B84}"/>
              </a:ext>
            </a:extLst>
          </p:cNvPr>
          <p:cNvSpPr txBox="1"/>
          <p:nvPr/>
        </p:nvSpPr>
        <p:spPr>
          <a:xfrm>
            <a:off x="4267200" y="6670434"/>
            <a:ext cx="12115800" cy="2945550"/>
          </a:xfrm>
          <a:prstGeom prst="rect">
            <a:avLst/>
          </a:prstGeom>
          <a:noFill/>
        </p:spPr>
        <p:txBody>
          <a:bodyPr wrap="square" rtlCol="0">
            <a:spAutoFit/>
          </a:bodyPr>
          <a:lstStyle/>
          <a:p>
            <a:pPr marL="0" marR="0">
              <a:lnSpc>
                <a:spcPct val="107000"/>
              </a:lnSpc>
              <a:spcBef>
                <a:spcPts val="0"/>
              </a:spcBef>
              <a:spcAft>
                <a:spcPts val="800"/>
              </a:spcAft>
            </a:pPr>
            <a:r>
              <a:rPr lang="en-US" sz="2400" b="1" u="sng" kern="100" dirty="0">
                <a:solidFill>
                  <a:schemeClr val="accent5">
                    <a:lumMod val="75000"/>
                  </a:schemeClr>
                </a:solidFill>
                <a:effectLst/>
                <a:latin typeface="Arial Black" panose="020B0A04020102020204" pitchFamily="34" charset="0"/>
                <a:ea typeface="Calibri" panose="020F0502020204030204" pitchFamily="34" charset="0"/>
                <a:cs typeface="Arial" panose="020B0604020202020204" pitchFamily="34" charset="0"/>
              </a:rPr>
              <a:t>in Egypt</a:t>
            </a:r>
            <a:endParaRPr lang="en-US" sz="2400" kern="100" dirty="0">
              <a:solidFill>
                <a:schemeClr val="accent5">
                  <a:lumMod val="75000"/>
                </a:schemeClr>
              </a:solidFill>
              <a:effectLst/>
              <a:latin typeface="Arial Black" panose="020B0A0402010202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2400" b="1" kern="100" dirty="0">
                <a:solidFill>
                  <a:schemeClr val="accent5">
                    <a:lumMod val="75000"/>
                  </a:schemeClr>
                </a:solidFill>
                <a:effectLst/>
                <a:latin typeface="Arial Black" panose="020B0A04020102020204" pitchFamily="34" charset="0"/>
                <a:ea typeface="Calibri" panose="020F0502020204030204" pitchFamily="34" charset="0"/>
                <a:cs typeface="Arial" panose="020B0604020202020204" pitchFamily="34" charset="0"/>
              </a:rPr>
              <a:t>The cosmetics market in Egypt has experienced strong growth over the past few years due to the increasing interest in personal care and beauty products. The Egyptian cosmetics market is estimated to be worth between $2–3 billion annually, with continuous growth driven by younger consumers.</a:t>
            </a:r>
            <a:endParaRPr lang="en-US" sz="2400" kern="100" dirty="0">
              <a:solidFill>
                <a:schemeClr val="accent5">
                  <a:lumMod val="75000"/>
                </a:schemeClr>
              </a:solidFill>
              <a:effectLst/>
              <a:latin typeface="Arial Black" panose="020B0A04020102020204" pitchFamily="34" charset="0"/>
              <a:ea typeface="Calibri" panose="020F0502020204030204" pitchFamily="34" charset="0"/>
              <a:cs typeface="Arial" panose="020B0604020202020204" pitchFamily="34" charset="0"/>
            </a:endParaRPr>
          </a:p>
          <a:p>
            <a:endParaRPr lang="en-US" dirty="0"/>
          </a:p>
        </p:txBody>
      </p:sp>
      <p:sp>
        <p:nvSpPr>
          <p:cNvPr id="5" name="Rectangle: Rounded Corners 4">
            <a:extLst>
              <a:ext uri="{FF2B5EF4-FFF2-40B4-BE49-F238E27FC236}">
                <a16:creationId xmlns:a16="http://schemas.microsoft.com/office/drawing/2014/main" id="{2AEAAB0B-EC17-44E1-B57A-D78CDA4DD9DF}"/>
              </a:ext>
            </a:extLst>
          </p:cNvPr>
          <p:cNvSpPr/>
          <p:nvPr/>
        </p:nvSpPr>
        <p:spPr>
          <a:xfrm>
            <a:off x="4038600" y="6670434"/>
            <a:ext cx="12420600" cy="2945550"/>
          </a:xfrm>
          <a:prstGeom prst="roundRect">
            <a:avLst/>
          </a:prstGeom>
          <a:solidFill>
            <a:srgbClr val="FD883D">
              <a:alpha val="1215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D883D"/>
              </a:solidFill>
            </a:endParaRPr>
          </a:p>
        </p:txBody>
      </p:sp>
      <p:sp>
        <p:nvSpPr>
          <p:cNvPr id="6" name="Rectangle: Rounded Corners 5">
            <a:extLst>
              <a:ext uri="{FF2B5EF4-FFF2-40B4-BE49-F238E27FC236}">
                <a16:creationId xmlns:a16="http://schemas.microsoft.com/office/drawing/2014/main" id="{4BF046BF-D775-F5B9-3433-1ECAD43168C7}"/>
              </a:ext>
            </a:extLst>
          </p:cNvPr>
          <p:cNvSpPr/>
          <p:nvPr/>
        </p:nvSpPr>
        <p:spPr>
          <a:xfrm>
            <a:off x="1295399" y="3028043"/>
            <a:ext cx="15674339" cy="3323091"/>
          </a:xfrm>
          <a:prstGeom prst="roundRect">
            <a:avLst/>
          </a:prstGeom>
          <a:solidFill>
            <a:srgbClr val="FD883D">
              <a:alpha val="1215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D883D"/>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AF4F4"/>
        </a:solidFill>
        <a:effectLst/>
      </p:bgPr>
    </p:bg>
    <p:spTree>
      <p:nvGrpSpPr>
        <p:cNvPr id="1" name=""/>
        <p:cNvGrpSpPr/>
        <p:nvPr/>
      </p:nvGrpSpPr>
      <p:grpSpPr>
        <a:xfrm>
          <a:off x="0" y="0"/>
          <a:ext cx="0" cy="0"/>
          <a:chOff x="0" y="0"/>
          <a:chExt cx="0" cy="0"/>
        </a:xfrm>
      </p:grpSpPr>
      <p:grpSp>
        <p:nvGrpSpPr>
          <p:cNvPr id="2" name="Group 2"/>
          <p:cNvGrpSpPr/>
          <p:nvPr/>
        </p:nvGrpSpPr>
        <p:grpSpPr>
          <a:xfrm>
            <a:off x="902935" y="3009900"/>
            <a:ext cx="5246370" cy="5948341"/>
            <a:chOff x="0" y="0"/>
            <a:chExt cx="812800" cy="921554"/>
          </a:xfrm>
        </p:grpSpPr>
        <p:sp>
          <p:nvSpPr>
            <p:cNvPr id="3" name="Freeform 3"/>
            <p:cNvSpPr/>
            <p:nvPr/>
          </p:nvSpPr>
          <p:spPr>
            <a:xfrm>
              <a:off x="0" y="0"/>
              <a:ext cx="812800" cy="921554"/>
            </a:xfrm>
            <a:custGeom>
              <a:avLst/>
              <a:gdLst/>
              <a:ahLst/>
              <a:cxnLst/>
              <a:rect l="l" t="t" r="r" b="b"/>
              <a:pathLst>
                <a:path w="812800" h="921554">
                  <a:moveTo>
                    <a:pt x="0" y="0"/>
                  </a:moveTo>
                  <a:lnTo>
                    <a:pt x="812800" y="0"/>
                  </a:lnTo>
                  <a:lnTo>
                    <a:pt x="812800" y="921554"/>
                  </a:lnTo>
                  <a:lnTo>
                    <a:pt x="0" y="921554"/>
                  </a:lnTo>
                  <a:close/>
                </a:path>
              </a:pathLst>
            </a:custGeom>
            <a:blipFill>
              <a:blip r:embed="rId2"/>
              <a:stretch>
                <a:fillRect l="-35088" r="-35088"/>
              </a:stretch>
            </a:blipFill>
          </p:spPr>
        </p:sp>
      </p:grpSp>
      <p:sp>
        <p:nvSpPr>
          <p:cNvPr id="4" name="Freeform 4"/>
          <p:cNvSpPr/>
          <p:nvPr/>
        </p:nvSpPr>
        <p:spPr>
          <a:xfrm>
            <a:off x="1855540" y="-1372637"/>
            <a:ext cx="18245979" cy="6867123"/>
          </a:xfrm>
          <a:custGeom>
            <a:avLst/>
            <a:gdLst/>
            <a:ahLst/>
            <a:cxnLst/>
            <a:rect l="l" t="t" r="r" b="b"/>
            <a:pathLst>
              <a:path w="18245979" h="6867123">
                <a:moveTo>
                  <a:pt x="0" y="0"/>
                </a:moveTo>
                <a:lnTo>
                  <a:pt x="18245980" y="0"/>
                </a:lnTo>
                <a:lnTo>
                  <a:pt x="18245980" y="6867123"/>
                </a:lnTo>
                <a:lnTo>
                  <a:pt x="0" y="6867123"/>
                </a:lnTo>
                <a:lnTo>
                  <a:pt x="0" y="0"/>
                </a:lnTo>
                <a:close/>
              </a:path>
            </a:pathLst>
          </a:custGeom>
          <a:blipFill>
            <a:blip r:embed="rId3">
              <a:alphaModFix amt="15000"/>
              <a:extLst>
                <a:ext uri="{96DAC541-7B7A-43D3-8B79-37D633B846F1}">
                  <asvg:svgBlip xmlns:asvg="http://schemas.microsoft.com/office/drawing/2016/SVG/main" r:embed="rId4"/>
                </a:ext>
              </a:extLst>
            </a:blip>
            <a:stretch>
              <a:fillRect/>
            </a:stretch>
          </a:blipFill>
          <a:ln cap="sq">
            <a:noFill/>
            <a:prstDash val="solid"/>
            <a:miter/>
          </a:ln>
        </p:spPr>
        <p:txBody>
          <a:bodyPr/>
          <a:lstStyle/>
          <a:p>
            <a:endParaRPr/>
          </a:p>
        </p:txBody>
      </p:sp>
      <p:sp>
        <p:nvSpPr>
          <p:cNvPr id="5" name="TextBox 5"/>
          <p:cNvSpPr txBox="1"/>
          <p:nvPr/>
        </p:nvSpPr>
        <p:spPr>
          <a:xfrm>
            <a:off x="6781800" y="2458355"/>
            <a:ext cx="6711154" cy="2532745"/>
          </a:xfrm>
          <a:prstGeom prst="rect">
            <a:avLst/>
          </a:prstGeom>
        </p:spPr>
        <p:txBody>
          <a:bodyPr lIns="0" tIns="0" rIns="0" bIns="0" rtlCol="0" anchor="t">
            <a:spAutoFit/>
          </a:bodyPr>
          <a:lstStyle/>
          <a:p>
            <a:pPr marL="0" lvl="0" indent="0" algn="l">
              <a:lnSpc>
                <a:spcPts val="9350"/>
              </a:lnSpc>
              <a:spcBef>
                <a:spcPct val="0"/>
              </a:spcBef>
            </a:pPr>
            <a:r>
              <a:rPr lang="en-US" sz="11000" spc="-418" dirty="0">
                <a:solidFill>
                  <a:srgbClr val="3A8A91"/>
                </a:solidFill>
                <a:latin typeface="TT Fors"/>
                <a:ea typeface="TT Fors"/>
                <a:cs typeface="TT Fors"/>
                <a:sym typeface="TT Fors"/>
              </a:rPr>
              <a:t>Market Size</a:t>
            </a:r>
            <a:endParaRPr lang="en-US" sz="11000" u="none" strike="noStrike" spc="-418" dirty="0">
              <a:solidFill>
                <a:srgbClr val="3A8A91"/>
              </a:solidFill>
              <a:latin typeface="TT Fors"/>
              <a:ea typeface="TT Fors"/>
              <a:cs typeface="TT Fors"/>
              <a:sym typeface="TT Fors"/>
            </a:endParaRPr>
          </a:p>
        </p:txBody>
      </p:sp>
      <p:sp>
        <p:nvSpPr>
          <p:cNvPr id="9" name="TextBox 8">
            <a:extLst>
              <a:ext uri="{FF2B5EF4-FFF2-40B4-BE49-F238E27FC236}">
                <a16:creationId xmlns:a16="http://schemas.microsoft.com/office/drawing/2014/main" id="{E939727F-1BF7-0859-74E6-16C47D125DE2}"/>
              </a:ext>
            </a:extLst>
          </p:cNvPr>
          <p:cNvSpPr txBox="1"/>
          <p:nvPr/>
        </p:nvSpPr>
        <p:spPr>
          <a:xfrm>
            <a:off x="6766560" y="5379223"/>
            <a:ext cx="8930640" cy="3323987"/>
          </a:xfrm>
          <a:prstGeom prst="rect">
            <a:avLst/>
          </a:prstGeom>
          <a:noFill/>
        </p:spPr>
        <p:txBody>
          <a:bodyPr wrap="square" rtlCol="0">
            <a:spAutoFit/>
          </a:bodyPr>
          <a:lstStyle/>
          <a:p>
            <a:r>
              <a:rPr lang="en-US" sz="2400" b="1" kern="100" dirty="0">
                <a:solidFill>
                  <a:schemeClr val="accent5">
                    <a:lumMod val="75000"/>
                  </a:schemeClr>
                </a:solidFill>
                <a:effectLst/>
                <a:latin typeface="Arial Black" panose="020B0A04020102020204" pitchFamily="34" charset="0"/>
                <a:ea typeface="Calibri" panose="020F0502020204030204" pitchFamily="34" charset="0"/>
                <a:cs typeface="Arial" panose="020B0604020202020204" pitchFamily="34" charset="0"/>
              </a:rPr>
              <a:t>	We are targeting a promising market in Egypt worth over $2 billion, with a particular focus on the e-commerce sector, which is growing at 20% annually. Since Luka Store focuses on the mass market and offers competitively priced local and imported alternatives, we cater to a segment that represents more than 57% of total consumers in Egypt.</a:t>
            </a:r>
            <a:endParaRPr lang="en-US" sz="2400" kern="100" dirty="0">
              <a:solidFill>
                <a:schemeClr val="accent5">
                  <a:lumMod val="75000"/>
                </a:schemeClr>
              </a:solidFill>
              <a:effectLst/>
              <a:latin typeface="Arial Black" panose="020B0A04020102020204" pitchFamily="34" charset="0"/>
              <a:ea typeface="Calibri" panose="020F0502020204030204" pitchFamily="34" charset="0"/>
              <a:cs typeface="Arial" panose="020B0604020202020204" pitchFamily="34" charset="0"/>
            </a:endParaRPr>
          </a:p>
          <a:p>
            <a:endParaRPr lang="en-US" dirty="0"/>
          </a:p>
        </p:txBody>
      </p:sp>
      <p:sp>
        <p:nvSpPr>
          <p:cNvPr id="10" name="TextBox 8">
            <a:extLst>
              <a:ext uri="{FF2B5EF4-FFF2-40B4-BE49-F238E27FC236}">
                <a16:creationId xmlns:a16="http://schemas.microsoft.com/office/drawing/2014/main" id="{66788C29-D2CC-6F13-AD2E-3F6C74483DD0}"/>
              </a:ext>
            </a:extLst>
          </p:cNvPr>
          <p:cNvSpPr txBox="1"/>
          <p:nvPr/>
        </p:nvSpPr>
        <p:spPr>
          <a:xfrm>
            <a:off x="16154400" y="9182100"/>
            <a:ext cx="3303478" cy="331676"/>
          </a:xfrm>
          <a:prstGeom prst="rect">
            <a:avLst/>
          </a:prstGeom>
        </p:spPr>
        <p:txBody>
          <a:bodyPr lIns="0" tIns="0" rIns="0" bIns="0" rtlCol="0" anchor="t">
            <a:spAutoFit/>
          </a:bodyPr>
          <a:lstStyle/>
          <a:p>
            <a:pPr algn="l">
              <a:lnSpc>
                <a:spcPts val="2538"/>
              </a:lnSpc>
            </a:pPr>
            <a:r>
              <a:rPr lang="en-US" sz="2372" dirty="0">
                <a:solidFill>
                  <a:srgbClr val="3A8A91"/>
                </a:solidFill>
                <a:latin typeface="TT Fors"/>
                <a:ea typeface="TT Fors"/>
                <a:cs typeface="TT Fors"/>
                <a:sym typeface="TT Fors"/>
              </a:rPr>
              <a:t>@Luka Store</a:t>
            </a:r>
          </a:p>
        </p:txBody>
      </p:sp>
      <p:sp>
        <p:nvSpPr>
          <p:cNvPr id="6" name="Rectangle: Rounded Corners 5">
            <a:extLst>
              <a:ext uri="{FF2B5EF4-FFF2-40B4-BE49-F238E27FC236}">
                <a16:creationId xmlns:a16="http://schemas.microsoft.com/office/drawing/2014/main" id="{5065B54F-1FA9-C911-345C-4FC337E54D9C}"/>
              </a:ext>
            </a:extLst>
          </p:cNvPr>
          <p:cNvSpPr/>
          <p:nvPr/>
        </p:nvSpPr>
        <p:spPr>
          <a:xfrm>
            <a:off x="590550" y="381000"/>
            <a:ext cx="17106900" cy="9525000"/>
          </a:xfrm>
          <a:prstGeom prst="roundRect">
            <a:avLst/>
          </a:prstGeom>
          <a:solidFill>
            <a:srgbClr val="3A8A91">
              <a:alpha val="1294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AF4F4"/>
        </a:solidFill>
        <a:effectLst/>
      </p:bgPr>
    </p:bg>
    <p:spTree>
      <p:nvGrpSpPr>
        <p:cNvPr id="1" name="">
          <a:extLst>
            <a:ext uri="{FF2B5EF4-FFF2-40B4-BE49-F238E27FC236}">
              <a16:creationId xmlns:a16="http://schemas.microsoft.com/office/drawing/2014/main" id="{CB5326A2-B72C-05B4-0211-9C7A85EC908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714A701-5A2F-1E3D-1936-325A1EE68850}"/>
              </a:ext>
            </a:extLst>
          </p:cNvPr>
          <p:cNvSpPr txBox="1"/>
          <p:nvPr/>
        </p:nvSpPr>
        <p:spPr>
          <a:xfrm>
            <a:off x="1676400" y="800100"/>
            <a:ext cx="5257800" cy="2123658"/>
          </a:xfrm>
          <a:prstGeom prst="rect">
            <a:avLst/>
          </a:prstGeom>
          <a:noFill/>
        </p:spPr>
        <p:txBody>
          <a:bodyPr wrap="square" rtlCol="0">
            <a:spAutoFit/>
          </a:bodyPr>
          <a:lstStyle/>
          <a:p>
            <a:r>
              <a:rPr lang="en-US" sz="6600" b="1" dirty="0">
                <a:solidFill>
                  <a:srgbClr val="428C7E"/>
                </a:solidFill>
                <a:latin typeface="TT Fors" panose="020B0604020202020204" charset="0"/>
              </a:rPr>
              <a:t>Micro environment</a:t>
            </a:r>
          </a:p>
        </p:txBody>
      </p:sp>
      <p:sp>
        <p:nvSpPr>
          <p:cNvPr id="8" name="TextBox 7">
            <a:extLst>
              <a:ext uri="{FF2B5EF4-FFF2-40B4-BE49-F238E27FC236}">
                <a16:creationId xmlns:a16="http://schemas.microsoft.com/office/drawing/2014/main" id="{63A0F7DF-492D-A898-9554-26F3994FC8B1}"/>
              </a:ext>
            </a:extLst>
          </p:cNvPr>
          <p:cNvSpPr txBox="1"/>
          <p:nvPr/>
        </p:nvSpPr>
        <p:spPr>
          <a:xfrm>
            <a:off x="1572200" y="3344323"/>
            <a:ext cx="6400800" cy="4524315"/>
          </a:xfrm>
          <a:prstGeom prst="rect">
            <a:avLst/>
          </a:prstGeom>
          <a:noFill/>
        </p:spPr>
        <p:txBody>
          <a:bodyPr wrap="square" rtlCol="0">
            <a:spAutoFit/>
          </a:bodyPr>
          <a:lstStyle/>
          <a:p>
            <a:r>
              <a:rPr lang="en-US" sz="2400" b="1" dirty="0">
                <a:solidFill>
                  <a:srgbClr val="3A8A91"/>
                </a:solidFill>
                <a:latin typeface="Arial" panose="020B0604020202020204" pitchFamily="34" charset="0"/>
                <a:cs typeface="Arial" panose="020B0604020202020204" pitchFamily="34" charset="0"/>
              </a:rPr>
              <a:t>1.Suppliers</a:t>
            </a:r>
          </a:p>
          <a:p>
            <a:pPr lvl="1"/>
            <a:r>
              <a:rPr lang="en-US" sz="2400" b="1" dirty="0">
                <a:solidFill>
                  <a:srgbClr val="3A8A91"/>
                </a:solidFill>
                <a:latin typeface="Arial" panose="020B0604020202020204" pitchFamily="34" charset="0"/>
                <a:cs typeface="Arial" panose="020B0604020202020204" pitchFamily="34" charset="0"/>
              </a:rPr>
              <a:t>1</a:t>
            </a:r>
            <a:r>
              <a:rPr lang="en-US" sz="2400" dirty="0">
                <a:solidFill>
                  <a:srgbClr val="3A8A91"/>
                </a:solidFill>
                <a:latin typeface="Arial" panose="020B0604020202020204" pitchFamily="34" charset="0"/>
                <a:cs typeface="Arial" panose="020B0604020202020204" pitchFamily="34" charset="0"/>
              </a:rPr>
              <a:t>.Distributors of Egyptian companies for local products.</a:t>
            </a:r>
          </a:p>
          <a:p>
            <a:pPr lvl="1"/>
            <a:r>
              <a:rPr lang="en-US" sz="2400" b="1" dirty="0">
                <a:solidFill>
                  <a:srgbClr val="3A8A91"/>
                </a:solidFill>
                <a:latin typeface="Arial" panose="020B0604020202020204" pitchFamily="34" charset="0"/>
                <a:cs typeface="Arial" panose="020B0604020202020204" pitchFamily="34" charset="0"/>
              </a:rPr>
              <a:t>2</a:t>
            </a:r>
            <a:r>
              <a:rPr lang="en-US" sz="2400" dirty="0">
                <a:solidFill>
                  <a:srgbClr val="3A8A91"/>
                </a:solidFill>
                <a:latin typeface="Arial" panose="020B0604020202020204" pitchFamily="34" charset="0"/>
                <a:cs typeface="Arial" panose="020B0604020202020204" pitchFamily="34" charset="0"/>
              </a:rPr>
              <a:t>.Importers of Turkish, Indian and American cosmetic products.</a:t>
            </a:r>
          </a:p>
          <a:p>
            <a:r>
              <a:rPr lang="en-US" sz="2400" dirty="0">
                <a:solidFill>
                  <a:srgbClr val="3A8A91"/>
                </a:solidFill>
                <a:latin typeface="Arial" panose="020B0604020202020204" pitchFamily="34" charset="0"/>
                <a:cs typeface="Arial" panose="020B0604020202020204" pitchFamily="34" charset="0"/>
              </a:rPr>
              <a:t>These suppliers ensure the availability of a wide range of cosmetics products including skincare, haircare, and makeup items. Maintaining strong relationships with reliable suppliers helps Luka Store guarantee product quality, authenticity, and competitive pricing for customers.</a:t>
            </a:r>
          </a:p>
        </p:txBody>
      </p:sp>
      <p:sp>
        <p:nvSpPr>
          <p:cNvPr id="9" name="TextBox 8">
            <a:extLst>
              <a:ext uri="{FF2B5EF4-FFF2-40B4-BE49-F238E27FC236}">
                <a16:creationId xmlns:a16="http://schemas.microsoft.com/office/drawing/2014/main" id="{8832EDF6-AE58-10B1-11B4-4B8031F9BE89}"/>
              </a:ext>
            </a:extLst>
          </p:cNvPr>
          <p:cNvSpPr txBox="1"/>
          <p:nvPr/>
        </p:nvSpPr>
        <p:spPr>
          <a:xfrm>
            <a:off x="9296400" y="3528988"/>
            <a:ext cx="6999842" cy="4524315"/>
          </a:xfrm>
          <a:prstGeom prst="rect">
            <a:avLst/>
          </a:prstGeom>
          <a:noFill/>
        </p:spPr>
        <p:txBody>
          <a:bodyPr wrap="square" rtlCol="0">
            <a:spAutoFit/>
          </a:bodyPr>
          <a:lstStyle/>
          <a:p>
            <a:r>
              <a:rPr lang="en-US" sz="2400" b="1" dirty="0">
                <a:solidFill>
                  <a:srgbClr val="3A8A91"/>
                </a:solidFill>
                <a:latin typeface="Arial" panose="020B0604020202020204" pitchFamily="34" charset="0"/>
                <a:cs typeface="Arial" panose="020B0604020202020204" pitchFamily="34" charset="0"/>
              </a:rPr>
              <a:t>2.Distribution</a:t>
            </a:r>
          </a:p>
          <a:p>
            <a:r>
              <a:rPr lang="en-US" sz="2400" dirty="0">
                <a:solidFill>
                  <a:srgbClr val="3A8A91"/>
                </a:solidFill>
                <a:latin typeface="Arial" panose="020B0604020202020204" pitchFamily="34" charset="0"/>
                <a:cs typeface="Arial" panose="020B0604020202020204" pitchFamily="34" charset="0"/>
              </a:rPr>
              <a:t>Luka Store operates as an online-based cosmetics store, which means that distribution mainly relies on delivery services rather than physical retail locations.</a:t>
            </a:r>
          </a:p>
          <a:p>
            <a:r>
              <a:rPr lang="en-US" sz="2400" dirty="0">
                <a:solidFill>
                  <a:srgbClr val="3A8A91"/>
                </a:solidFill>
                <a:latin typeface="Arial" panose="020B0604020202020204" pitchFamily="34" charset="0"/>
                <a:cs typeface="Arial" panose="020B0604020202020204" pitchFamily="34" charset="0"/>
              </a:rPr>
              <a:t>The store distributes its products across Egypt using Egypt Post, which allows the business to reach customers in different cities and regions. This distribution method enables Luka Store to serve a wider customer base while keeping operational costs lower compared to traditional retail stores.</a:t>
            </a:r>
          </a:p>
        </p:txBody>
      </p:sp>
      <p:sp>
        <p:nvSpPr>
          <p:cNvPr id="11" name="Freeform 9">
            <a:extLst>
              <a:ext uri="{FF2B5EF4-FFF2-40B4-BE49-F238E27FC236}">
                <a16:creationId xmlns:a16="http://schemas.microsoft.com/office/drawing/2014/main" id="{10124980-4854-9E41-80DC-0C95DB422FFF}"/>
              </a:ext>
            </a:extLst>
          </p:cNvPr>
          <p:cNvSpPr/>
          <p:nvPr/>
        </p:nvSpPr>
        <p:spPr>
          <a:xfrm>
            <a:off x="7162800" y="-2705100"/>
            <a:ext cx="14190056" cy="13235452"/>
          </a:xfrm>
          <a:custGeom>
            <a:avLst/>
            <a:gdLst/>
            <a:ahLst/>
            <a:cxnLst/>
            <a:rect l="l" t="t" r="r" b="b"/>
            <a:pathLst>
              <a:path w="14190056" h="13235452">
                <a:moveTo>
                  <a:pt x="0" y="0"/>
                </a:moveTo>
                <a:lnTo>
                  <a:pt x="14190056" y="0"/>
                </a:lnTo>
                <a:lnTo>
                  <a:pt x="14190056" y="13235452"/>
                </a:lnTo>
                <a:lnTo>
                  <a:pt x="0" y="13235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a:p>
        </p:txBody>
      </p:sp>
      <p:sp>
        <p:nvSpPr>
          <p:cNvPr id="3" name="Rectangle: Rounded Corners 2">
            <a:extLst>
              <a:ext uri="{FF2B5EF4-FFF2-40B4-BE49-F238E27FC236}">
                <a16:creationId xmlns:a16="http://schemas.microsoft.com/office/drawing/2014/main" id="{867D1614-CDCE-173E-A4E5-5441006A021B}"/>
              </a:ext>
            </a:extLst>
          </p:cNvPr>
          <p:cNvSpPr/>
          <p:nvPr/>
        </p:nvSpPr>
        <p:spPr>
          <a:xfrm>
            <a:off x="1204452" y="3162300"/>
            <a:ext cx="6999842" cy="5609177"/>
          </a:xfrm>
          <a:prstGeom prst="roundRect">
            <a:avLst/>
          </a:prstGeom>
          <a:solidFill>
            <a:srgbClr val="D46BCA">
              <a:alpha val="14118"/>
            </a:srgbClr>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solidFill>
                <a:srgbClr val="C04497"/>
              </a:solidFill>
            </a:endParaRPr>
          </a:p>
        </p:txBody>
      </p:sp>
      <p:sp>
        <p:nvSpPr>
          <p:cNvPr id="4" name="Rectangle: Rounded Corners 3">
            <a:extLst>
              <a:ext uri="{FF2B5EF4-FFF2-40B4-BE49-F238E27FC236}">
                <a16:creationId xmlns:a16="http://schemas.microsoft.com/office/drawing/2014/main" id="{4AF3619A-C951-B1B3-B2D2-2EA37E763180}"/>
              </a:ext>
            </a:extLst>
          </p:cNvPr>
          <p:cNvSpPr/>
          <p:nvPr/>
        </p:nvSpPr>
        <p:spPr>
          <a:xfrm>
            <a:off x="8991601" y="2986556"/>
            <a:ext cx="6999842" cy="5609177"/>
          </a:xfrm>
          <a:prstGeom prst="roundRect">
            <a:avLst/>
          </a:prstGeom>
          <a:solidFill>
            <a:srgbClr val="D46BCA">
              <a:alpha val="14118"/>
            </a:srgbClr>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solidFill>
                <a:srgbClr val="C04497"/>
              </a:solidFill>
            </a:endParaRPr>
          </a:p>
        </p:txBody>
      </p:sp>
    </p:spTree>
    <p:extLst>
      <p:ext uri="{BB962C8B-B14F-4D97-AF65-F5344CB8AC3E}">
        <p14:creationId xmlns:p14="http://schemas.microsoft.com/office/powerpoint/2010/main" val="20084668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AF4F4"/>
        </a:solidFill>
        <a:effectLst/>
      </p:bgPr>
    </p:bg>
    <p:spTree>
      <p:nvGrpSpPr>
        <p:cNvPr id="1" name=""/>
        <p:cNvGrpSpPr/>
        <p:nvPr/>
      </p:nvGrpSpPr>
      <p:grpSpPr>
        <a:xfrm>
          <a:off x="0" y="0"/>
          <a:ext cx="0" cy="0"/>
          <a:chOff x="0" y="0"/>
          <a:chExt cx="0" cy="0"/>
        </a:xfrm>
      </p:grpSpPr>
      <p:sp>
        <p:nvSpPr>
          <p:cNvPr id="2" name="Freeform 2"/>
          <p:cNvSpPr/>
          <p:nvPr/>
        </p:nvSpPr>
        <p:spPr>
          <a:xfrm>
            <a:off x="6324600" y="-4129099"/>
            <a:ext cx="15232938" cy="14208177"/>
          </a:xfrm>
          <a:custGeom>
            <a:avLst/>
            <a:gdLst/>
            <a:ahLst/>
            <a:cxnLst/>
            <a:rect l="l" t="t" r="r" b="b"/>
            <a:pathLst>
              <a:path w="15232938" h="14208177">
                <a:moveTo>
                  <a:pt x="0" y="0"/>
                </a:moveTo>
                <a:lnTo>
                  <a:pt x="15232938" y="0"/>
                </a:lnTo>
                <a:lnTo>
                  <a:pt x="15232938" y="14208177"/>
                </a:lnTo>
                <a:lnTo>
                  <a:pt x="0" y="14208177"/>
                </a:lnTo>
                <a:lnTo>
                  <a:pt x="0" y="0"/>
                </a:lnTo>
                <a:close/>
              </a:path>
            </a:pathLst>
          </a:custGeom>
          <a:blipFill>
            <a:blip r:embed="rId2">
              <a:alphaModFix amt="15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a:p>
        </p:txBody>
      </p:sp>
      <p:sp>
        <p:nvSpPr>
          <p:cNvPr id="6" name="TextBox 5">
            <a:extLst>
              <a:ext uri="{FF2B5EF4-FFF2-40B4-BE49-F238E27FC236}">
                <a16:creationId xmlns:a16="http://schemas.microsoft.com/office/drawing/2014/main" id="{24D360AA-9E7A-3E10-4385-E7FDC48824D4}"/>
              </a:ext>
            </a:extLst>
          </p:cNvPr>
          <p:cNvSpPr txBox="1"/>
          <p:nvPr/>
        </p:nvSpPr>
        <p:spPr>
          <a:xfrm>
            <a:off x="1676400" y="800100"/>
            <a:ext cx="5257800" cy="2123658"/>
          </a:xfrm>
          <a:prstGeom prst="rect">
            <a:avLst/>
          </a:prstGeom>
          <a:noFill/>
        </p:spPr>
        <p:txBody>
          <a:bodyPr wrap="square" rtlCol="0">
            <a:spAutoFit/>
          </a:bodyPr>
          <a:lstStyle/>
          <a:p>
            <a:r>
              <a:rPr lang="en-US" sz="6600" b="1" dirty="0">
                <a:solidFill>
                  <a:srgbClr val="428C7E"/>
                </a:solidFill>
                <a:latin typeface="TT Fors" panose="020B0604020202020204" charset="0"/>
              </a:rPr>
              <a:t>Micro environment</a:t>
            </a:r>
          </a:p>
        </p:txBody>
      </p:sp>
      <p:sp>
        <p:nvSpPr>
          <p:cNvPr id="8" name="TextBox 7">
            <a:extLst>
              <a:ext uri="{FF2B5EF4-FFF2-40B4-BE49-F238E27FC236}">
                <a16:creationId xmlns:a16="http://schemas.microsoft.com/office/drawing/2014/main" id="{1BB52FB9-9FCE-052C-D591-476AB9F381CC}"/>
              </a:ext>
            </a:extLst>
          </p:cNvPr>
          <p:cNvSpPr txBox="1"/>
          <p:nvPr/>
        </p:nvSpPr>
        <p:spPr>
          <a:xfrm>
            <a:off x="1058894" y="3590514"/>
            <a:ext cx="7419401" cy="4893647"/>
          </a:xfrm>
          <a:prstGeom prst="rect">
            <a:avLst/>
          </a:prstGeom>
          <a:noFill/>
        </p:spPr>
        <p:txBody>
          <a:bodyPr wrap="square" rtlCol="0">
            <a:spAutoFit/>
          </a:bodyPr>
          <a:lstStyle/>
          <a:p>
            <a:r>
              <a:rPr lang="en-US" sz="2400" b="1" dirty="0">
                <a:solidFill>
                  <a:srgbClr val="3A8A91"/>
                </a:solidFill>
                <a:latin typeface="Arial" panose="020B0604020202020204" pitchFamily="34" charset="0"/>
                <a:cs typeface="Arial" panose="020B0604020202020204" pitchFamily="34" charset="0"/>
              </a:rPr>
              <a:t>3. Customers</a:t>
            </a:r>
            <a:r>
              <a:rPr lang="en-US" sz="2400" dirty="0">
                <a:solidFill>
                  <a:srgbClr val="3A8A91"/>
                </a:solidFill>
                <a:latin typeface="Arial" panose="020B0604020202020204" pitchFamily="34" charset="0"/>
                <a:cs typeface="Arial" panose="020B0604020202020204" pitchFamily="34" charset="0"/>
              </a:rPr>
              <a:t>.</a:t>
            </a:r>
          </a:p>
          <a:p>
            <a:r>
              <a:rPr lang="en-US" sz="2400" dirty="0">
                <a:solidFill>
                  <a:srgbClr val="3A8A91"/>
                </a:solidFill>
                <a:latin typeface="Arial" panose="020B0604020202020204" pitchFamily="34" charset="0"/>
                <a:cs typeface="Arial" panose="020B0604020202020204" pitchFamily="34" charset="0"/>
              </a:rPr>
              <a:t>The primary customers are young women between the ages of 18 and 45 who are interested in beauty, skincare, and personal care products.</a:t>
            </a:r>
          </a:p>
          <a:p>
            <a:r>
              <a:rPr lang="en-US" sz="2400" dirty="0">
                <a:solidFill>
                  <a:srgbClr val="3A8A91"/>
                </a:solidFill>
                <a:latin typeface="Arial" panose="020B0604020202020204" pitchFamily="34" charset="0"/>
                <a:cs typeface="Arial" panose="020B0604020202020204" pitchFamily="34" charset="0"/>
              </a:rPr>
              <a:t>These customers are highly active on social media platforms such as Instagram, TikTok, and Facebook, where they discover new products, watch reviews, and follow beauty trends before making purchasing decisions.</a:t>
            </a:r>
          </a:p>
          <a:p>
            <a:r>
              <a:rPr lang="en-US" sz="2400" dirty="0">
                <a:solidFill>
                  <a:srgbClr val="3A8A91"/>
                </a:solidFill>
                <a:latin typeface="Arial" panose="020B0604020202020204" pitchFamily="34" charset="0"/>
                <a:cs typeface="Arial" panose="020B0604020202020204" pitchFamily="34" charset="0"/>
              </a:rPr>
              <a:t>Customers typically look for authentic cosmetics products, affordable prices, product variety, and reliable delivery services, which Luka Store aims to provide through its online platform.</a:t>
            </a:r>
          </a:p>
        </p:txBody>
      </p:sp>
      <p:sp>
        <p:nvSpPr>
          <p:cNvPr id="9" name="TextBox 8">
            <a:extLst>
              <a:ext uri="{FF2B5EF4-FFF2-40B4-BE49-F238E27FC236}">
                <a16:creationId xmlns:a16="http://schemas.microsoft.com/office/drawing/2014/main" id="{70F6BB8F-658A-F1B7-9B01-7F97207E4EBB}"/>
              </a:ext>
            </a:extLst>
          </p:cNvPr>
          <p:cNvSpPr txBox="1"/>
          <p:nvPr/>
        </p:nvSpPr>
        <p:spPr>
          <a:xfrm>
            <a:off x="8839200" y="2974990"/>
            <a:ext cx="8839200" cy="6370975"/>
          </a:xfrm>
          <a:prstGeom prst="rect">
            <a:avLst/>
          </a:prstGeom>
          <a:noFill/>
        </p:spPr>
        <p:txBody>
          <a:bodyPr wrap="square" rtlCol="0">
            <a:spAutoFit/>
          </a:bodyPr>
          <a:lstStyle/>
          <a:p>
            <a:r>
              <a:rPr lang="en-US" sz="2400" b="1" dirty="0">
                <a:solidFill>
                  <a:srgbClr val="3A8A91"/>
                </a:solidFill>
                <a:latin typeface="Arial" panose="020B0604020202020204" pitchFamily="34" charset="0"/>
                <a:cs typeface="Arial" panose="020B0604020202020204" pitchFamily="34" charset="0"/>
              </a:rPr>
              <a:t>4.Competitors</a:t>
            </a:r>
          </a:p>
          <a:p>
            <a:r>
              <a:rPr lang="en-US" sz="2400" dirty="0">
                <a:solidFill>
                  <a:srgbClr val="3A8A91"/>
                </a:solidFill>
                <a:latin typeface="Arial" panose="020B0604020202020204" pitchFamily="34" charset="0"/>
                <a:cs typeface="Arial" panose="020B0604020202020204" pitchFamily="34" charset="0"/>
              </a:rPr>
              <a:t>One of the main competitors is Be Mart, which is a well-known online platform that provides a wide variety of cosmetics and personal care products. The brand focuses on convenience and offers customers an easy shopping experience through its website and mobile application.</a:t>
            </a:r>
          </a:p>
          <a:p>
            <a:r>
              <a:rPr lang="en-US" sz="2400" dirty="0">
                <a:solidFill>
                  <a:srgbClr val="3A8A91"/>
                </a:solidFill>
                <a:latin typeface="Arial" panose="020B0604020202020204" pitchFamily="34" charset="0"/>
                <a:cs typeface="Arial" panose="020B0604020202020204" pitchFamily="34" charset="0"/>
              </a:rPr>
              <a:t>Another competitor is Cosmo Store, which specializes in skincare and beauty products.</a:t>
            </a:r>
          </a:p>
          <a:p>
            <a:r>
              <a:rPr lang="en-US" sz="2400" dirty="0">
                <a:solidFill>
                  <a:srgbClr val="3A8A91"/>
                </a:solidFill>
                <a:latin typeface="Arial" panose="020B0604020202020204" pitchFamily="34" charset="0"/>
                <a:cs typeface="Arial" panose="020B0604020202020204" pitchFamily="34" charset="0"/>
              </a:rPr>
              <a:t>The store is known for offering authentic products and focusing on skincare solutions supported by professional recommendations.</a:t>
            </a:r>
          </a:p>
          <a:p>
            <a:r>
              <a:rPr lang="en-US" sz="2400" dirty="0">
                <a:solidFill>
                  <a:srgbClr val="3A8A91"/>
                </a:solidFill>
                <a:latin typeface="Arial" panose="020B0604020202020204" pitchFamily="34" charset="0"/>
                <a:cs typeface="Arial" panose="020B0604020202020204" pitchFamily="34" charset="0"/>
              </a:rPr>
              <a:t>These competitors influence the market by setting pricing strategies, promotional campaigns, and product availability. Therefore, Luka Store needs to differentiate itself by offering competitive prices, a variety of local and imported products, and a convenient online shopping experience for customers across Egypt.</a:t>
            </a:r>
          </a:p>
        </p:txBody>
      </p:sp>
      <p:sp>
        <p:nvSpPr>
          <p:cNvPr id="14" name="Rectangle: Rounded Corners 13">
            <a:extLst>
              <a:ext uri="{FF2B5EF4-FFF2-40B4-BE49-F238E27FC236}">
                <a16:creationId xmlns:a16="http://schemas.microsoft.com/office/drawing/2014/main" id="{19300337-C08E-12A7-D15A-92A6434BE1F7}"/>
              </a:ext>
            </a:extLst>
          </p:cNvPr>
          <p:cNvSpPr/>
          <p:nvPr/>
        </p:nvSpPr>
        <p:spPr>
          <a:xfrm>
            <a:off x="638175" y="3165388"/>
            <a:ext cx="7633252" cy="5990177"/>
          </a:xfrm>
          <a:prstGeom prst="roundRect">
            <a:avLst/>
          </a:prstGeom>
          <a:solidFill>
            <a:srgbClr val="D46BCA">
              <a:alpha val="14118"/>
            </a:srgbClr>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dirty="0">
              <a:solidFill>
                <a:srgbClr val="C04497"/>
              </a:solidFill>
            </a:endParaRPr>
          </a:p>
        </p:txBody>
      </p:sp>
      <p:sp>
        <p:nvSpPr>
          <p:cNvPr id="15" name="Rectangle: Rounded Corners 14">
            <a:extLst>
              <a:ext uri="{FF2B5EF4-FFF2-40B4-BE49-F238E27FC236}">
                <a16:creationId xmlns:a16="http://schemas.microsoft.com/office/drawing/2014/main" id="{C5975421-308D-0AEA-0B16-0CA8A28694FE}"/>
              </a:ext>
            </a:extLst>
          </p:cNvPr>
          <p:cNvSpPr/>
          <p:nvPr/>
        </p:nvSpPr>
        <p:spPr>
          <a:xfrm>
            <a:off x="8623852" y="2781300"/>
            <a:ext cx="9054547" cy="7086600"/>
          </a:xfrm>
          <a:prstGeom prst="roundRect">
            <a:avLst/>
          </a:prstGeom>
          <a:solidFill>
            <a:srgbClr val="D46BCA">
              <a:alpha val="14118"/>
            </a:srgbClr>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solidFill>
                <a:srgbClr val="C04497"/>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AF4F4"/>
        </a:solidFill>
        <a:effectLst/>
      </p:bgPr>
    </p:bg>
    <p:spTree>
      <p:nvGrpSpPr>
        <p:cNvPr id="1" name="">
          <a:extLst>
            <a:ext uri="{FF2B5EF4-FFF2-40B4-BE49-F238E27FC236}">
              <a16:creationId xmlns:a16="http://schemas.microsoft.com/office/drawing/2014/main" id="{CC73516D-720F-49C9-5D52-6F583A65F98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4063F4B-934A-4932-8CAA-E78BB5E5EFFD}"/>
              </a:ext>
            </a:extLst>
          </p:cNvPr>
          <p:cNvSpPr/>
          <p:nvPr/>
        </p:nvSpPr>
        <p:spPr>
          <a:xfrm>
            <a:off x="-5534487" y="2457160"/>
            <a:ext cx="15232938" cy="14208177"/>
          </a:xfrm>
          <a:custGeom>
            <a:avLst/>
            <a:gdLst/>
            <a:ahLst/>
            <a:cxnLst/>
            <a:rect l="l" t="t" r="r" b="b"/>
            <a:pathLst>
              <a:path w="15232938" h="14208177">
                <a:moveTo>
                  <a:pt x="0" y="0"/>
                </a:moveTo>
                <a:lnTo>
                  <a:pt x="15232938" y="0"/>
                </a:lnTo>
                <a:lnTo>
                  <a:pt x="15232938" y="14208177"/>
                </a:lnTo>
                <a:lnTo>
                  <a:pt x="0" y="14208177"/>
                </a:lnTo>
                <a:lnTo>
                  <a:pt x="0" y="0"/>
                </a:lnTo>
                <a:close/>
              </a:path>
            </a:pathLst>
          </a:custGeom>
          <a:blipFill>
            <a:blip r:embed="rId2">
              <a:alphaModFix amt="15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a:p>
        </p:txBody>
      </p:sp>
      <p:sp>
        <p:nvSpPr>
          <p:cNvPr id="3" name="Freeform 3">
            <a:extLst>
              <a:ext uri="{FF2B5EF4-FFF2-40B4-BE49-F238E27FC236}">
                <a16:creationId xmlns:a16="http://schemas.microsoft.com/office/drawing/2014/main" id="{D2391E40-1909-2CED-B28C-16A44EDC3008}"/>
              </a:ext>
            </a:extLst>
          </p:cNvPr>
          <p:cNvSpPr/>
          <p:nvPr/>
        </p:nvSpPr>
        <p:spPr>
          <a:xfrm>
            <a:off x="4977504" y="-4550685"/>
            <a:ext cx="15232938" cy="14208177"/>
          </a:xfrm>
          <a:custGeom>
            <a:avLst/>
            <a:gdLst/>
            <a:ahLst/>
            <a:cxnLst/>
            <a:rect l="l" t="t" r="r" b="b"/>
            <a:pathLst>
              <a:path w="15232938" h="14208177">
                <a:moveTo>
                  <a:pt x="0" y="0"/>
                </a:moveTo>
                <a:lnTo>
                  <a:pt x="15232938" y="0"/>
                </a:lnTo>
                <a:lnTo>
                  <a:pt x="15232938" y="14208177"/>
                </a:lnTo>
                <a:lnTo>
                  <a:pt x="0" y="14208177"/>
                </a:lnTo>
                <a:lnTo>
                  <a:pt x="0" y="0"/>
                </a:lnTo>
                <a:close/>
              </a:path>
            </a:pathLst>
          </a:custGeom>
          <a:blipFill>
            <a:blip r:embed="rId2">
              <a:alphaModFix amt="15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a:p>
        </p:txBody>
      </p:sp>
      <p:sp>
        <p:nvSpPr>
          <p:cNvPr id="4" name="TextBox 4">
            <a:extLst>
              <a:ext uri="{FF2B5EF4-FFF2-40B4-BE49-F238E27FC236}">
                <a16:creationId xmlns:a16="http://schemas.microsoft.com/office/drawing/2014/main" id="{39AAE976-FAC8-1F33-7184-E3F4478A1114}"/>
              </a:ext>
            </a:extLst>
          </p:cNvPr>
          <p:cNvSpPr txBox="1"/>
          <p:nvPr/>
        </p:nvSpPr>
        <p:spPr>
          <a:xfrm>
            <a:off x="2064367" y="473084"/>
            <a:ext cx="7897609" cy="1327286"/>
          </a:xfrm>
          <a:prstGeom prst="rect">
            <a:avLst/>
          </a:prstGeom>
        </p:spPr>
        <p:txBody>
          <a:bodyPr lIns="0" tIns="0" rIns="0" bIns="0" rtlCol="0" anchor="t">
            <a:spAutoFit/>
          </a:bodyPr>
          <a:lstStyle/>
          <a:p>
            <a:pPr algn="l">
              <a:lnSpc>
                <a:spcPts val="9350"/>
              </a:lnSpc>
            </a:pPr>
            <a:r>
              <a:rPr lang="en-US" sz="11000" spc="-418" dirty="0">
                <a:solidFill>
                  <a:srgbClr val="3A8A91"/>
                </a:solidFill>
                <a:latin typeface="TT Fors"/>
                <a:ea typeface="TT Fors"/>
                <a:cs typeface="TT Fors"/>
                <a:sym typeface="TT Fors"/>
              </a:rPr>
              <a:t>Pestel</a:t>
            </a:r>
          </a:p>
        </p:txBody>
      </p:sp>
      <p:sp>
        <p:nvSpPr>
          <p:cNvPr id="5" name="Freeform 5">
            <a:extLst>
              <a:ext uri="{FF2B5EF4-FFF2-40B4-BE49-F238E27FC236}">
                <a16:creationId xmlns:a16="http://schemas.microsoft.com/office/drawing/2014/main" id="{3669BFC9-FAAC-8ED2-FD7F-256CDD0C2BFF}"/>
              </a:ext>
            </a:extLst>
          </p:cNvPr>
          <p:cNvSpPr/>
          <p:nvPr/>
        </p:nvSpPr>
        <p:spPr>
          <a:xfrm>
            <a:off x="1569498" y="63805"/>
            <a:ext cx="614422" cy="702581"/>
          </a:xfrm>
          <a:custGeom>
            <a:avLst/>
            <a:gdLst/>
            <a:ahLst/>
            <a:cxnLst/>
            <a:rect l="l" t="t" r="r" b="b"/>
            <a:pathLst>
              <a:path w="7095472" h="8381174">
                <a:moveTo>
                  <a:pt x="0" y="0"/>
                </a:moveTo>
                <a:lnTo>
                  <a:pt x="7095472" y="0"/>
                </a:lnTo>
                <a:lnTo>
                  <a:pt x="7095472" y="8381174"/>
                </a:lnTo>
                <a:lnTo>
                  <a:pt x="0" y="838117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dirty="0"/>
          </a:p>
        </p:txBody>
      </p:sp>
      <p:sp>
        <p:nvSpPr>
          <p:cNvPr id="7" name="TextBox 7">
            <a:extLst>
              <a:ext uri="{FF2B5EF4-FFF2-40B4-BE49-F238E27FC236}">
                <a16:creationId xmlns:a16="http://schemas.microsoft.com/office/drawing/2014/main" id="{3B0BF71A-A33F-96AA-A33E-1D349AF593D0}"/>
              </a:ext>
            </a:extLst>
          </p:cNvPr>
          <p:cNvSpPr txBox="1"/>
          <p:nvPr/>
        </p:nvSpPr>
        <p:spPr>
          <a:xfrm>
            <a:off x="1554508" y="1762269"/>
            <a:ext cx="14706600" cy="8928919"/>
          </a:xfrm>
          <a:prstGeom prst="rect">
            <a:avLst/>
          </a:prstGeom>
        </p:spPr>
        <p:txBody>
          <a:bodyPr wrap="square" lIns="0" tIns="0" rIns="0" bIns="0" rtlCol="0" anchor="t">
            <a:spAutoFit/>
          </a:bodyPr>
          <a:lstStyle/>
          <a:p>
            <a:pPr marL="342900" marR="0" lvl="0" indent="-342900" rtl="0">
              <a:lnSpc>
                <a:spcPct val="115000"/>
              </a:lnSpc>
              <a:spcBef>
                <a:spcPts val="0"/>
              </a:spcBef>
              <a:spcAft>
                <a:spcPts val="0"/>
              </a:spcAft>
              <a:buFont typeface="Symbol" panose="05050102010706020507" pitchFamily="18" charset="2"/>
              <a:buChar char=""/>
            </a:pPr>
            <a:r>
              <a:rPr lang="en-US" sz="2400" b="1" kern="100" dirty="0">
                <a:solidFill>
                  <a:srgbClr val="428C7E"/>
                </a:solidFill>
                <a:effectLst/>
                <a:latin typeface="TT Fors" panose="020B0604020202020204" charset="0"/>
                <a:ea typeface="Aptos" panose="020B0004020202020204" pitchFamily="34" charset="0"/>
                <a:cs typeface="Arial" panose="020B0604020202020204" pitchFamily="34" charset="0"/>
              </a:rPr>
              <a:t>Government Regulations: </a:t>
            </a:r>
            <a:r>
              <a:rPr lang="en-US" sz="2400" kern="100" dirty="0">
                <a:solidFill>
                  <a:srgbClr val="428C7E"/>
                </a:solidFill>
                <a:effectLst/>
                <a:latin typeface="TT Fors" panose="020B0604020202020204" charset="0"/>
                <a:ea typeface="Aptos" panose="020B0004020202020204" pitchFamily="34" charset="0"/>
                <a:cs typeface="Arial" panose="020B0604020202020204" pitchFamily="34" charset="0"/>
              </a:rPr>
              <a:t>The Ministry of Health and the Egyptian Drug Authority regulate the approval, registration, and safety standards of cosmetic and skincare products. Compliance with these regulations is mandatory before selling international/ national brands, which may affect product launch timelines and availability.</a:t>
            </a:r>
          </a:p>
          <a:p>
            <a:pPr marL="342900" marR="0" lvl="0" indent="-342900" rtl="0">
              <a:lnSpc>
                <a:spcPct val="115000"/>
              </a:lnSpc>
              <a:spcBef>
                <a:spcPts val="0"/>
              </a:spcBef>
              <a:spcAft>
                <a:spcPts val="0"/>
              </a:spcAft>
              <a:buFont typeface="Symbol" panose="05050102010706020507" pitchFamily="18" charset="2"/>
              <a:buChar char=""/>
            </a:pPr>
            <a:endParaRPr lang="en-US" sz="2400" kern="100" dirty="0">
              <a:solidFill>
                <a:srgbClr val="428C7E"/>
              </a:solidFill>
              <a:effectLst/>
              <a:latin typeface="TT Fors" panose="020B0604020202020204" charset="0"/>
              <a:ea typeface="Aptos" panose="020B0004020202020204" pitchFamily="34" charset="0"/>
              <a:cs typeface="Arial" panose="020B0604020202020204" pitchFamily="34" charset="0"/>
            </a:endParaRPr>
          </a:p>
          <a:p>
            <a:pPr marL="342900" marR="0" lvl="0" indent="-342900">
              <a:lnSpc>
                <a:spcPct val="115000"/>
              </a:lnSpc>
              <a:spcBef>
                <a:spcPts val="0"/>
              </a:spcBef>
              <a:spcAft>
                <a:spcPts val="0"/>
              </a:spcAft>
              <a:buFont typeface="Symbol" panose="05050102010706020507" pitchFamily="18" charset="2"/>
              <a:buChar char=""/>
            </a:pPr>
            <a:r>
              <a:rPr lang="en-US" sz="2400" b="1" kern="100" dirty="0">
                <a:solidFill>
                  <a:srgbClr val="428C7E"/>
                </a:solidFill>
                <a:effectLst/>
                <a:latin typeface="TT Fors" panose="020B0604020202020204" charset="0"/>
                <a:ea typeface="Aptos" panose="020B0004020202020204" pitchFamily="34" charset="0"/>
                <a:cs typeface="Arial" panose="020B0604020202020204" pitchFamily="34" charset="0"/>
              </a:rPr>
              <a:t>Import and Customs Policies:</a:t>
            </a:r>
            <a:r>
              <a:rPr lang="en-US" sz="2400" kern="100" dirty="0">
                <a:solidFill>
                  <a:srgbClr val="428C7E"/>
                </a:solidFill>
                <a:effectLst/>
                <a:latin typeface="TT Fors" panose="020B0604020202020204" charset="0"/>
                <a:ea typeface="Aptos" panose="020B0004020202020204" pitchFamily="34" charset="0"/>
                <a:cs typeface="Arial" panose="020B0604020202020204" pitchFamily="34" charset="0"/>
              </a:rPr>
              <a:t> Import duties, customs inspections, and trade regulations on foreign cosmetics directly impact supply chain efficiency, product availability, and pricing strategy. Any changes in trade policies may influence operational costs.</a:t>
            </a:r>
          </a:p>
          <a:p>
            <a:pPr marL="342900" marR="0" lvl="0" indent="-342900">
              <a:lnSpc>
                <a:spcPct val="115000"/>
              </a:lnSpc>
              <a:spcBef>
                <a:spcPts val="0"/>
              </a:spcBef>
              <a:spcAft>
                <a:spcPts val="0"/>
              </a:spcAft>
              <a:buFont typeface="Symbol" panose="05050102010706020507" pitchFamily="18" charset="2"/>
              <a:buChar char=""/>
            </a:pPr>
            <a:endParaRPr lang="en-US" sz="2400" kern="100" dirty="0">
              <a:solidFill>
                <a:srgbClr val="428C7E"/>
              </a:solidFill>
              <a:effectLst/>
              <a:latin typeface="TT Fors" panose="020B0604020202020204" charset="0"/>
              <a:ea typeface="Aptos" panose="020B0004020202020204" pitchFamily="34" charset="0"/>
              <a:cs typeface="Arial" panose="020B0604020202020204" pitchFamily="34" charset="0"/>
            </a:endParaRPr>
          </a:p>
          <a:p>
            <a:pPr marL="342900" marR="0" lvl="0" indent="-342900">
              <a:lnSpc>
                <a:spcPct val="115000"/>
              </a:lnSpc>
              <a:spcBef>
                <a:spcPts val="0"/>
              </a:spcBef>
              <a:spcAft>
                <a:spcPts val="0"/>
              </a:spcAft>
              <a:buFont typeface="Symbol" panose="05050102010706020507" pitchFamily="18" charset="2"/>
              <a:buChar char=""/>
            </a:pPr>
            <a:r>
              <a:rPr lang="en-US" sz="2400" b="1" kern="100" dirty="0">
                <a:solidFill>
                  <a:srgbClr val="428C7E"/>
                </a:solidFill>
                <a:effectLst/>
                <a:latin typeface="TT Fors" panose="020B0604020202020204" charset="0"/>
                <a:ea typeface="Aptos" panose="020B0004020202020204" pitchFamily="34" charset="0"/>
                <a:cs typeface="Arial" panose="020B0604020202020204" pitchFamily="34" charset="0"/>
              </a:rPr>
              <a:t>E-commerce &amp; Digital Regulations: </a:t>
            </a:r>
            <a:r>
              <a:rPr lang="en-US" sz="2400" kern="100" dirty="0">
                <a:solidFill>
                  <a:srgbClr val="428C7E"/>
                </a:solidFill>
                <a:effectLst/>
                <a:latin typeface="TT Fors" panose="020B0604020202020204" charset="0"/>
                <a:ea typeface="Aptos" panose="020B0004020202020204" pitchFamily="34" charset="0"/>
                <a:cs typeface="Arial" panose="020B0604020202020204" pitchFamily="34" charset="0"/>
              </a:rPr>
              <a:t>Government policies regulating online payments, cybersecurity, and digital transactions influence how the website operates and ensure secure online shopping experiences.</a:t>
            </a:r>
          </a:p>
          <a:p>
            <a:pPr marL="342900" marR="0" lvl="0" indent="-342900">
              <a:lnSpc>
                <a:spcPct val="115000"/>
              </a:lnSpc>
              <a:spcBef>
                <a:spcPts val="0"/>
              </a:spcBef>
              <a:spcAft>
                <a:spcPts val="0"/>
              </a:spcAft>
              <a:buFont typeface="Symbol" panose="05050102010706020507" pitchFamily="18" charset="2"/>
              <a:buChar char=""/>
            </a:pPr>
            <a:endParaRPr lang="en-US" sz="2400" kern="100" dirty="0">
              <a:solidFill>
                <a:srgbClr val="428C7E"/>
              </a:solidFill>
              <a:effectLst/>
              <a:latin typeface="TT Fors" panose="020B0604020202020204" charset="0"/>
              <a:ea typeface="Aptos" panose="020B0004020202020204" pitchFamily="34" charset="0"/>
              <a:cs typeface="Arial" panose="020B0604020202020204" pitchFamily="34" charset="0"/>
            </a:endParaRPr>
          </a:p>
          <a:p>
            <a:pPr marL="342900" marR="0" lvl="0" indent="-342900">
              <a:lnSpc>
                <a:spcPct val="115000"/>
              </a:lnSpc>
              <a:spcBef>
                <a:spcPts val="0"/>
              </a:spcBef>
              <a:spcAft>
                <a:spcPts val="0"/>
              </a:spcAft>
              <a:buFont typeface="Symbol" panose="05050102010706020507" pitchFamily="18" charset="2"/>
              <a:buChar char=""/>
            </a:pPr>
            <a:r>
              <a:rPr lang="en-US" sz="2400" b="1" kern="100" dirty="0">
                <a:solidFill>
                  <a:srgbClr val="428C7E"/>
                </a:solidFill>
                <a:effectLst/>
                <a:latin typeface="TT Fors" panose="020B0604020202020204" charset="0"/>
                <a:ea typeface="Aptos" panose="020B0004020202020204" pitchFamily="34" charset="0"/>
                <a:cs typeface="Arial" panose="020B0604020202020204" pitchFamily="34" charset="0"/>
              </a:rPr>
              <a:t>Political Stability &amp; Trade Relations:</a:t>
            </a:r>
            <a:r>
              <a:rPr lang="en-US" sz="2400" kern="100" dirty="0">
                <a:solidFill>
                  <a:srgbClr val="428C7E"/>
                </a:solidFill>
                <a:effectLst/>
                <a:latin typeface="TT Fors" panose="020B0604020202020204" charset="0"/>
                <a:ea typeface="Aptos" panose="020B0004020202020204" pitchFamily="34" charset="0"/>
                <a:cs typeface="Arial" panose="020B0604020202020204" pitchFamily="34" charset="0"/>
              </a:rPr>
              <a:t> Political stability and strong international trade relations support smoother import processes, reduce supply chain risks, and ensure consistent access to global skincare and body care brands.</a:t>
            </a:r>
          </a:p>
          <a:p>
            <a:pPr marL="342900" marR="0" lvl="0" indent="-342900">
              <a:lnSpc>
                <a:spcPct val="115000"/>
              </a:lnSpc>
              <a:spcBef>
                <a:spcPts val="0"/>
              </a:spcBef>
              <a:spcAft>
                <a:spcPts val="0"/>
              </a:spcAft>
              <a:buFont typeface="Symbol" panose="05050102010706020507" pitchFamily="18" charset="2"/>
              <a:buChar char=""/>
            </a:pPr>
            <a:endParaRPr lang="en-US" sz="2400" kern="100" dirty="0">
              <a:solidFill>
                <a:srgbClr val="428C7E"/>
              </a:solidFill>
              <a:effectLst/>
              <a:latin typeface="TT Fors" panose="020B0604020202020204" charset="0"/>
              <a:ea typeface="Aptos" panose="020B0004020202020204" pitchFamily="34" charset="0"/>
              <a:cs typeface="Arial" panose="020B0604020202020204" pitchFamily="34" charset="0"/>
            </a:endParaRPr>
          </a:p>
          <a:p>
            <a:pPr marL="342900" marR="0" lvl="0" indent="-342900">
              <a:lnSpc>
                <a:spcPct val="115000"/>
              </a:lnSpc>
              <a:spcBef>
                <a:spcPts val="0"/>
              </a:spcBef>
              <a:spcAft>
                <a:spcPts val="800"/>
              </a:spcAft>
              <a:buFont typeface="Symbol" panose="05050102010706020507" pitchFamily="18" charset="2"/>
              <a:buChar char=""/>
            </a:pPr>
            <a:r>
              <a:rPr lang="en-US" sz="2400" b="1" kern="100" dirty="0">
                <a:solidFill>
                  <a:srgbClr val="428C7E"/>
                </a:solidFill>
                <a:effectLst/>
                <a:latin typeface="TT Fors" panose="020B0604020202020204" charset="0"/>
                <a:ea typeface="Aptos" panose="020B0004020202020204" pitchFamily="34" charset="0"/>
                <a:cs typeface="Arial" panose="020B0604020202020204" pitchFamily="34" charset="0"/>
              </a:rPr>
              <a:t>Egypt Vision 2030 Support:</a:t>
            </a:r>
            <a:r>
              <a:rPr lang="en-US" sz="2400" kern="100" dirty="0">
                <a:solidFill>
                  <a:srgbClr val="428C7E"/>
                </a:solidFill>
                <a:effectLst/>
                <a:latin typeface="TT Fors" panose="020B0604020202020204" charset="0"/>
                <a:ea typeface="Aptos" panose="020B0004020202020204" pitchFamily="34" charset="0"/>
                <a:cs typeface="Arial" panose="020B0604020202020204" pitchFamily="34" charset="0"/>
              </a:rPr>
              <a:t> Egypt’s Vision 2030 strategy promotes digital transformation, entrepreneurship, and the expansion of e-commerce activities. This creates a supportive environment for online businesses, including skincare and body care e-commerce websites.</a:t>
            </a:r>
          </a:p>
          <a:p>
            <a:pPr marL="0" lvl="0" indent="0" algn="l">
              <a:lnSpc>
                <a:spcPts val="2538"/>
              </a:lnSpc>
              <a:spcBef>
                <a:spcPct val="0"/>
              </a:spcBef>
            </a:pPr>
            <a:endParaRPr lang="en-US" sz="2372" u="none" strike="noStrike" dirty="0">
              <a:solidFill>
                <a:srgbClr val="3A8A91"/>
              </a:solidFill>
              <a:latin typeface="TT Fors"/>
              <a:ea typeface="TT Fors"/>
              <a:cs typeface="TT Fors"/>
              <a:sym typeface="TT Fors"/>
            </a:endParaRPr>
          </a:p>
        </p:txBody>
      </p:sp>
      <p:sp>
        <p:nvSpPr>
          <p:cNvPr id="10" name="TextBox 9">
            <a:extLst>
              <a:ext uri="{FF2B5EF4-FFF2-40B4-BE49-F238E27FC236}">
                <a16:creationId xmlns:a16="http://schemas.microsoft.com/office/drawing/2014/main" id="{25C28046-2DD2-47DD-5161-1EB7412CB6ED}"/>
              </a:ext>
            </a:extLst>
          </p:cNvPr>
          <p:cNvSpPr txBox="1"/>
          <p:nvPr/>
        </p:nvSpPr>
        <p:spPr>
          <a:xfrm>
            <a:off x="6158562" y="1239049"/>
            <a:ext cx="5105400" cy="523220"/>
          </a:xfrm>
          <a:prstGeom prst="rect">
            <a:avLst/>
          </a:prstGeom>
          <a:noFill/>
        </p:spPr>
        <p:txBody>
          <a:bodyPr wrap="square" rtlCol="0">
            <a:spAutoFit/>
          </a:bodyPr>
          <a:lstStyle/>
          <a:p>
            <a:r>
              <a:rPr lang="en-US" sz="2800" dirty="0">
                <a:solidFill>
                  <a:srgbClr val="3A8A91"/>
                </a:solidFill>
                <a:latin typeface="Arial Black" panose="020B0A04020102020204" pitchFamily="34" charset="0"/>
              </a:rPr>
              <a:t>Political &gt;P</a:t>
            </a:r>
          </a:p>
        </p:txBody>
      </p:sp>
      <p:sp>
        <p:nvSpPr>
          <p:cNvPr id="6" name="Rectangle: Rounded Corners 5">
            <a:extLst>
              <a:ext uri="{FF2B5EF4-FFF2-40B4-BE49-F238E27FC236}">
                <a16:creationId xmlns:a16="http://schemas.microsoft.com/office/drawing/2014/main" id="{355FC65A-ECE8-3A48-65E2-2BA9F6FF11C2}"/>
              </a:ext>
            </a:extLst>
          </p:cNvPr>
          <p:cNvSpPr/>
          <p:nvPr/>
        </p:nvSpPr>
        <p:spPr>
          <a:xfrm>
            <a:off x="990600" y="63805"/>
            <a:ext cx="16274112" cy="10288578"/>
          </a:xfrm>
          <a:prstGeom prst="roundRect">
            <a:avLst/>
          </a:prstGeom>
          <a:solidFill>
            <a:srgbClr val="3A8A91">
              <a:alpha val="1294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364297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AF4F4"/>
        </a:solidFill>
        <a:effectLst/>
      </p:bgPr>
    </p:bg>
    <p:spTree>
      <p:nvGrpSpPr>
        <p:cNvPr id="1" name="">
          <a:extLst>
            <a:ext uri="{FF2B5EF4-FFF2-40B4-BE49-F238E27FC236}">
              <a16:creationId xmlns:a16="http://schemas.microsoft.com/office/drawing/2014/main" id="{EE45FA5A-DE64-2078-E8FE-28C1952EDDB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1574B81-D8AD-116C-5E99-AA8CE339215B}"/>
              </a:ext>
            </a:extLst>
          </p:cNvPr>
          <p:cNvSpPr/>
          <p:nvPr/>
        </p:nvSpPr>
        <p:spPr>
          <a:xfrm>
            <a:off x="-5534487" y="2457160"/>
            <a:ext cx="15232938" cy="14208177"/>
          </a:xfrm>
          <a:custGeom>
            <a:avLst/>
            <a:gdLst/>
            <a:ahLst/>
            <a:cxnLst/>
            <a:rect l="l" t="t" r="r" b="b"/>
            <a:pathLst>
              <a:path w="15232938" h="14208177">
                <a:moveTo>
                  <a:pt x="0" y="0"/>
                </a:moveTo>
                <a:lnTo>
                  <a:pt x="15232938" y="0"/>
                </a:lnTo>
                <a:lnTo>
                  <a:pt x="15232938" y="14208177"/>
                </a:lnTo>
                <a:lnTo>
                  <a:pt x="0" y="14208177"/>
                </a:lnTo>
                <a:lnTo>
                  <a:pt x="0" y="0"/>
                </a:lnTo>
                <a:close/>
              </a:path>
            </a:pathLst>
          </a:custGeom>
          <a:blipFill>
            <a:blip r:embed="rId2">
              <a:alphaModFix amt="15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a:p>
        </p:txBody>
      </p:sp>
      <p:sp>
        <p:nvSpPr>
          <p:cNvPr id="3" name="Freeform 3">
            <a:extLst>
              <a:ext uri="{FF2B5EF4-FFF2-40B4-BE49-F238E27FC236}">
                <a16:creationId xmlns:a16="http://schemas.microsoft.com/office/drawing/2014/main" id="{ACCF84C5-D9B7-CA8E-E794-501E39A92C00}"/>
              </a:ext>
            </a:extLst>
          </p:cNvPr>
          <p:cNvSpPr/>
          <p:nvPr/>
        </p:nvSpPr>
        <p:spPr>
          <a:xfrm>
            <a:off x="4977504" y="-4550685"/>
            <a:ext cx="15232938" cy="14208177"/>
          </a:xfrm>
          <a:custGeom>
            <a:avLst/>
            <a:gdLst/>
            <a:ahLst/>
            <a:cxnLst/>
            <a:rect l="l" t="t" r="r" b="b"/>
            <a:pathLst>
              <a:path w="15232938" h="14208177">
                <a:moveTo>
                  <a:pt x="0" y="0"/>
                </a:moveTo>
                <a:lnTo>
                  <a:pt x="15232938" y="0"/>
                </a:lnTo>
                <a:lnTo>
                  <a:pt x="15232938" y="14208177"/>
                </a:lnTo>
                <a:lnTo>
                  <a:pt x="0" y="14208177"/>
                </a:lnTo>
                <a:lnTo>
                  <a:pt x="0" y="0"/>
                </a:lnTo>
                <a:close/>
              </a:path>
            </a:pathLst>
          </a:custGeom>
          <a:blipFill>
            <a:blip r:embed="rId2">
              <a:alphaModFix amt="15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a:p>
        </p:txBody>
      </p:sp>
      <p:sp>
        <p:nvSpPr>
          <p:cNvPr id="4" name="TextBox 4">
            <a:extLst>
              <a:ext uri="{FF2B5EF4-FFF2-40B4-BE49-F238E27FC236}">
                <a16:creationId xmlns:a16="http://schemas.microsoft.com/office/drawing/2014/main" id="{7BDC71CD-65FA-3BEF-9CF2-FD0650093500}"/>
              </a:ext>
            </a:extLst>
          </p:cNvPr>
          <p:cNvSpPr txBox="1"/>
          <p:nvPr/>
        </p:nvSpPr>
        <p:spPr>
          <a:xfrm>
            <a:off x="2191415" y="712756"/>
            <a:ext cx="7897609" cy="1327286"/>
          </a:xfrm>
          <a:prstGeom prst="rect">
            <a:avLst/>
          </a:prstGeom>
        </p:spPr>
        <p:txBody>
          <a:bodyPr lIns="0" tIns="0" rIns="0" bIns="0" rtlCol="0" anchor="t">
            <a:spAutoFit/>
          </a:bodyPr>
          <a:lstStyle/>
          <a:p>
            <a:pPr algn="l">
              <a:lnSpc>
                <a:spcPts val="9350"/>
              </a:lnSpc>
            </a:pPr>
            <a:r>
              <a:rPr lang="en-US" sz="11000" spc="-418" dirty="0">
                <a:solidFill>
                  <a:srgbClr val="3A8A91"/>
                </a:solidFill>
                <a:latin typeface="TT Fors"/>
                <a:ea typeface="TT Fors"/>
                <a:cs typeface="TT Fors"/>
                <a:sym typeface="TT Fors"/>
              </a:rPr>
              <a:t>Pestel</a:t>
            </a:r>
          </a:p>
        </p:txBody>
      </p:sp>
      <p:sp>
        <p:nvSpPr>
          <p:cNvPr id="5" name="Freeform 5">
            <a:extLst>
              <a:ext uri="{FF2B5EF4-FFF2-40B4-BE49-F238E27FC236}">
                <a16:creationId xmlns:a16="http://schemas.microsoft.com/office/drawing/2014/main" id="{0FCF7773-C46D-4183-479F-C0D16AAB9BA3}"/>
              </a:ext>
            </a:extLst>
          </p:cNvPr>
          <p:cNvSpPr/>
          <p:nvPr/>
        </p:nvSpPr>
        <p:spPr>
          <a:xfrm>
            <a:off x="1747778" y="308702"/>
            <a:ext cx="614422" cy="702581"/>
          </a:xfrm>
          <a:custGeom>
            <a:avLst/>
            <a:gdLst/>
            <a:ahLst/>
            <a:cxnLst/>
            <a:rect l="l" t="t" r="r" b="b"/>
            <a:pathLst>
              <a:path w="7095472" h="8381174">
                <a:moveTo>
                  <a:pt x="0" y="0"/>
                </a:moveTo>
                <a:lnTo>
                  <a:pt x="7095472" y="0"/>
                </a:lnTo>
                <a:lnTo>
                  <a:pt x="7095472" y="8381174"/>
                </a:lnTo>
                <a:lnTo>
                  <a:pt x="0" y="838117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a:p>
        </p:txBody>
      </p:sp>
      <p:sp>
        <p:nvSpPr>
          <p:cNvPr id="7" name="TextBox 7">
            <a:extLst>
              <a:ext uri="{FF2B5EF4-FFF2-40B4-BE49-F238E27FC236}">
                <a16:creationId xmlns:a16="http://schemas.microsoft.com/office/drawing/2014/main" id="{F74224D5-5CD9-6A9B-EECF-754CDD04FD3E}"/>
              </a:ext>
            </a:extLst>
          </p:cNvPr>
          <p:cNvSpPr txBox="1"/>
          <p:nvPr/>
        </p:nvSpPr>
        <p:spPr>
          <a:xfrm>
            <a:off x="952500" y="2376669"/>
            <a:ext cx="16383000" cy="8167685"/>
          </a:xfrm>
          <a:prstGeom prst="rect">
            <a:avLst/>
          </a:prstGeom>
        </p:spPr>
        <p:txBody>
          <a:bodyPr wrap="square" lIns="0" tIns="0" rIns="0" bIns="0" rtlCol="0" anchor="t">
            <a:spAutoFit/>
          </a:bodyPr>
          <a:lstStyle/>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sz="2400" b="1" kern="100" dirty="0">
                <a:solidFill>
                  <a:srgbClr val="428C7E"/>
                </a:solidFill>
                <a:effectLst/>
                <a:latin typeface="TT Fors" panose="020B0604020202020204" charset="0"/>
                <a:ea typeface="Aptos" panose="020B0004020202020204" pitchFamily="34" charset="0"/>
                <a:cs typeface="Arial" panose="020B0604020202020204" pitchFamily="34" charset="0"/>
              </a:rPr>
              <a:t>Average Monthly Salary:</a:t>
            </a:r>
            <a:r>
              <a:rPr lang="en-US" sz="2400" kern="100" dirty="0">
                <a:solidFill>
                  <a:srgbClr val="428C7E"/>
                </a:solidFill>
                <a:effectLst/>
                <a:latin typeface="TT Fors" panose="020B0604020202020204" charset="0"/>
                <a:ea typeface="Aptos" panose="020B0004020202020204" pitchFamily="34" charset="0"/>
                <a:cs typeface="Arial" panose="020B0604020202020204" pitchFamily="34" charset="0"/>
              </a:rPr>
              <a:t> The average monthly net salary in Egypt is approximately (7,093 EGP), which directly influences consumers’ purchasing power and their ability to purchase skincare and body care products, especially imported or premium cosmetic brands sold through the website.</a:t>
            </a:r>
          </a:p>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sz="2400" b="1" kern="100" dirty="0">
                <a:solidFill>
                  <a:srgbClr val="428C7E"/>
                </a:solidFill>
                <a:effectLst/>
                <a:latin typeface="TT Fors" panose="020B0604020202020204" charset="0"/>
                <a:ea typeface="Aptos" panose="020B0004020202020204" pitchFamily="34" charset="0"/>
                <a:cs typeface="Arial" panose="020B0604020202020204" pitchFamily="34" charset="0"/>
              </a:rPr>
              <a:t>Interest Rates:</a:t>
            </a:r>
            <a:r>
              <a:rPr lang="en-US" sz="2400" kern="100" dirty="0">
                <a:solidFill>
                  <a:srgbClr val="428C7E"/>
                </a:solidFill>
                <a:effectLst/>
                <a:latin typeface="TT Fors" panose="020B0604020202020204" charset="0"/>
                <a:ea typeface="Aptos" panose="020B0004020202020204" pitchFamily="34" charset="0"/>
                <a:cs typeface="Arial" panose="020B0604020202020204" pitchFamily="34" charset="0"/>
              </a:rPr>
              <a:t> High interest rates (overnight deposit rate of 19% and lending rate of 20%) may reduce consumer spending on non-essential or high-value cosmetic products, including premium skincare and body care items sold through the website, as customers may prioritize essential purchases, which may also affect business expansion.</a:t>
            </a:r>
          </a:p>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sz="2400" b="1" kern="100" dirty="0">
                <a:solidFill>
                  <a:srgbClr val="428C7E"/>
                </a:solidFill>
                <a:effectLst/>
                <a:latin typeface="TT Fors" panose="020B0604020202020204" charset="0"/>
                <a:ea typeface="Aptos" panose="020B0004020202020204" pitchFamily="34" charset="0"/>
                <a:cs typeface="Arial" panose="020B0604020202020204" pitchFamily="34" charset="0"/>
              </a:rPr>
              <a:t>Employment Rate:</a:t>
            </a:r>
            <a:r>
              <a:rPr lang="en-US" sz="2400" kern="100" dirty="0">
                <a:solidFill>
                  <a:srgbClr val="428C7E"/>
                </a:solidFill>
                <a:effectLst/>
                <a:latin typeface="TT Fors" panose="020B0604020202020204" charset="0"/>
                <a:ea typeface="Aptos" panose="020B0004020202020204" pitchFamily="34" charset="0"/>
                <a:cs typeface="Arial" panose="020B0604020202020204" pitchFamily="34" charset="0"/>
              </a:rPr>
              <a:t> The unemployment rate decreased to 6.2% in the fourth quarter of 2025, indicating relative labor market stability. This may increase household income levels, support demand for online cosmetic products, and encourage customers to complete online purchases through the website.</a:t>
            </a:r>
          </a:p>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sz="2400" b="1" kern="100" dirty="0">
                <a:solidFill>
                  <a:srgbClr val="428C7E"/>
                </a:solidFill>
                <a:effectLst/>
                <a:latin typeface="TT Fors" panose="020B0604020202020204" charset="0"/>
                <a:ea typeface="Aptos" panose="020B0004020202020204" pitchFamily="34" charset="0"/>
                <a:cs typeface="Arial" panose="020B0604020202020204" pitchFamily="34" charset="0"/>
              </a:rPr>
              <a:t>Inflation Rate:</a:t>
            </a:r>
            <a:r>
              <a:rPr lang="en-US" sz="2400" kern="100" dirty="0">
                <a:solidFill>
                  <a:srgbClr val="428C7E"/>
                </a:solidFill>
                <a:effectLst/>
                <a:latin typeface="TT Fors" panose="020B0604020202020204" charset="0"/>
                <a:ea typeface="Aptos" panose="020B0004020202020204" pitchFamily="34" charset="0"/>
                <a:cs typeface="Arial" panose="020B0604020202020204" pitchFamily="34" charset="0"/>
              </a:rPr>
              <a:t> The inflation rate reached approximately 10.1% in January 2026. Higher inflation reduces consumer purchasing power and may shift demand toward more affordable skincare and body care products instead of premium cosmetic items sold through the website.</a:t>
            </a:r>
          </a:p>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sz="2400" kern="100" dirty="0">
                <a:solidFill>
                  <a:srgbClr val="428C7E"/>
                </a:solidFill>
                <a:effectLst/>
                <a:latin typeface="TT Fors" panose="020B0604020202020204" charset="0"/>
                <a:ea typeface="Aptos" panose="020B0004020202020204" pitchFamily="34" charset="0"/>
                <a:cs typeface="Arial" panose="020B0604020202020204" pitchFamily="34" charset="0"/>
              </a:rPr>
              <a:t> </a:t>
            </a:r>
            <a:r>
              <a:rPr lang="en-US" sz="2400" b="1" kern="100" dirty="0">
                <a:solidFill>
                  <a:srgbClr val="428C7E"/>
                </a:solidFill>
                <a:effectLst/>
                <a:latin typeface="TT Fors" panose="020B0604020202020204" charset="0"/>
                <a:ea typeface="Aptos" panose="020B0004020202020204" pitchFamily="34" charset="0"/>
                <a:cs typeface="Arial" panose="020B0604020202020204" pitchFamily="34" charset="0"/>
              </a:rPr>
              <a:t>Exchange Rate:</a:t>
            </a:r>
            <a:r>
              <a:rPr lang="en-US" sz="2400" kern="100" dirty="0">
                <a:solidFill>
                  <a:srgbClr val="428C7E"/>
                </a:solidFill>
                <a:effectLst/>
                <a:latin typeface="TT Fors" panose="020B0604020202020204" charset="0"/>
                <a:ea typeface="Aptos" panose="020B0004020202020204" pitchFamily="34" charset="0"/>
                <a:cs typeface="Arial" panose="020B0604020202020204" pitchFamily="34" charset="0"/>
              </a:rPr>
              <a:t> (47.9 EGP/USD, Feb 2026) Currency fluctuations can directly affect the cost of importing cosmetic products, influence final product pricing, and impact business profitability.</a:t>
            </a:r>
          </a:p>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sz="2400" kern="100" dirty="0">
                <a:solidFill>
                  <a:srgbClr val="428C7E"/>
                </a:solidFill>
                <a:effectLst/>
                <a:latin typeface="TT Fors" panose="020B0604020202020204" charset="0"/>
                <a:ea typeface="Aptos" panose="020B0004020202020204" pitchFamily="34" charset="0"/>
                <a:cs typeface="Arial" panose="020B0604020202020204" pitchFamily="34" charset="0"/>
              </a:rPr>
              <a:t> </a:t>
            </a:r>
            <a:r>
              <a:rPr lang="en-US" sz="2400" b="1" kern="100" dirty="0">
                <a:solidFill>
                  <a:srgbClr val="428C7E"/>
                </a:solidFill>
                <a:effectLst/>
                <a:latin typeface="TT Fors" panose="020B0604020202020204" charset="0"/>
                <a:ea typeface="Aptos" panose="020B0004020202020204" pitchFamily="34" charset="0"/>
                <a:cs typeface="Arial" panose="020B0604020202020204" pitchFamily="34" charset="0"/>
              </a:rPr>
              <a:t>GDP Growth:</a:t>
            </a:r>
            <a:r>
              <a:rPr lang="en-US" sz="2400" kern="100" dirty="0">
                <a:solidFill>
                  <a:srgbClr val="428C7E"/>
                </a:solidFill>
                <a:effectLst/>
                <a:latin typeface="TT Fors" panose="020B0604020202020204" charset="0"/>
                <a:ea typeface="Aptos" panose="020B0004020202020204" pitchFamily="34" charset="0"/>
                <a:cs typeface="Arial" panose="020B0604020202020204" pitchFamily="34" charset="0"/>
              </a:rPr>
              <a:t> (2.4% in 2024) Moderate economic expansion supports steady consumer spending and promotes the growth of e-commerce activities, including online sales of skincare and body care products.</a:t>
            </a:r>
          </a:p>
          <a:p>
            <a:pPr marL="0" lvl="0" indent="0" algn="l">
              <a:lnSpc>
                <a:spcPts val="2538"/>
              </a:lnSpc>
              <a:spcBef>
                <a:spcPct val="0"/>
              </a:spcBef>
            </a:pPr>
            <a:endParaRPr lang="en-US" sz="2372" u="none" strike="noStrike" dirty="0">
              <a:solidFill>
                <a:srgbClr val="3A8A91"/>
              </a:solidFill>
              <a:latin typeface="TT Fors"/>
              <a:ea typeface="TT Fors"/>
              <a:cs typeface="TT Fors"/>
              <a:sym typeface="TT Fors"/>
            </a:endParaRPr>
          </a:p>
        </p:txBody>
      </p:sp>
      <p:sp>
        <p:nvSpPr>
          <p:cNvPr id="10" name="TextBox 9">
            <a:extLst>
              <a:ext uri="{FF2B5EF4-FFF2-40B4-BE49-F238E27FC236}">
                <a16:creationId xmlns:a16="http://schemas.microsoft.com/office/drawing/2014/main" id="{55B60382-FA32-EB5C-C77C-4837043120E4}"/>
              </a:ext>
            </a:extLst>
          </p:cNvPr>
          <p:cNvSpPr txBox="1"/>
          <p:nvPr/>
        </p:nvSpPr>
        <p:spPr>
          <a:xfrm>
            <a:off x="6107614" y="1732539"/>
            <a:ext cx="5105400" cy="523220"/>
          </a:xfrm>
          <a:prstGeom prst="rect">
            <a:avLst/>
          </a:prstGeom>
          <a:noFill/>
        </p:spPr>
        <p:txBody>
          <a:bodyPr wrap="square" rtlCol="0">
            <a:spAutoFit/>
          </a:bodyPr>
          <a:lstStyle/>
          <a:p>
            <a:r>
              <a:rPr lang="en-US" sz="2800" dirty="0">
                <a:solidFill>
                  <a:srgbClr val="3A8A91"/>
                </a:solidFill>
                <a:latin typeface="Arial Black" panose="020B0A04020102020204" pitchFamily="34" charset="0"/>
              </a:rPr>
              <a:t>Economic &gt;E</a:t>
            </a:r>
          </a:p>
        </p:txBody>
      </p:sp>
      <p:sp>
        <p:nvSpPr>
          <p:cNvPr id="6" name="Rectangle: Rounded Corners 5">
            <a:extLst>
              <a:ext uri="{FF2B5EF4-FFF2-40B4-BE49-F238E27FC236}">
                <a16:creationId xmlns:a16="http://schemas.microsoft.com/office/drawing/2014/main" id="{143E457C-0998-787B-69F4-332FFB8A9D55}"/>
              </a:ext>
            </a:extLst>
          </p:cNvPr>
          <p:cNvSpPr/>
          <p:nvPr/>
        </p:nvSpPr>
        <p:spPr>
          <a:xfrm>
            <a:off x="457200" y="308702"/>
            <a:ext cx="17221200" cy="9752844"/>
          </a:xfrm>
          <a:prstGeom prst="roundRect">
            <a:avLst/>
          </a:prstGeom>
          <a:solidFill>
            <a:srgbClr val="3A8A91">
              <a:alpha val="1294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3711160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AF4F4"/>
        </a:solidFill>
        <a:effectLst/>
      </p:bgPr>
    </p:bg>
    <p:spTree>
      <p:nvGrpSpPr>
        <p:cNvPr id="1" name="">
          <a:extLst>
            <a:ext uri="{FF2B5EF4-FFF2-40B4-BE49-F238E27FC236}">
              <a16:creationId xmlns:a16="http://schemas.microsoft.com/office/drawing/2014/main" id="{664C23A9-48E2-F76C-1F82-F69BF660CAD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1880A64-083E-483E-F169-F1EA7F530A5D}"/>
              </a:ext>
            </a:extLst>
          </p:cNvPr>
          <p:cNvSpPr/>
          <p:nvPr/>
        </p:nvSpPr>
        <p:spPr>
          <a:xfrm>
            <a:off x="-5534487" y="2457160"/>
            <a:ext cx="15232938" cy="14208177"/>
          </a:xfrm>
          <a:custGeom>
            <a:avLst/>
            <a:gdLst/>
            <a:ahLst/>
            <a:cxnLst/>
            <a:rect l="l" t="t" r="r" b="b"/>
            <a:pathLst>
              <a:path w="15232938" h="14208177">
                <a:moveTo>
                  <a:pt x="0" y="0"/>
                </a:moveTo>
                <a:lnTo>
                  <a:pt x="15232938" y="0"/>
                </a:lnTo>
                <a:lnTo>
                  <a:pt x="15232938" y="14208177"/>
                </a:lnTo>
                <a:lnTo>
                  <a:pt x="0" y="14208177"/>
                </a:lnTo>
                <a:lnTo>
                  <a:pt x="0" y="0"/>
                </a:lnTo>
                <a:close/>
              </a:path>
            </a:pathLst>
          </a:custGeom>
          <a:blipFill>
            <a:blip r:embed="rId2">
              <a:alphaModFix amt="15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a:p>
        </p:txBody>
      </p:sp>
      <p:sp>
        <p:nvSpPr>
          <p:cNvPr id="3" name="Freeform 3">
            <a:extLst>
              <a:ext uri="{FF2B5EF4-FFF2-40B4-BE49-F238E27FC236}">
                <a16:creationId xmlns:a16="http://schemas.microsoft.com/office/drawing/2014/main" id="{493028E9-E2D1-9041-416E-5367363C57A7}"/>
              </a:ext>
            </a:extLst>
          </p:cNvPr>
          <p:cNvSpPr/>
          <p:nvPr/>
        </p:nvSpPr>
        <p:spPr>
          <a:xfrm>
            <a:off x="4977504" y="-4550685"/>
            <a:ext cx="15232938" cy="14208177"/>
          </a:xfrm>
          <a:custGeom>
            <a:avLst/>
            <a:gdLst/>
            <a:ahLst/>
            <a:cxnLst/>
            <a:rect l="l" t="t" r="r" b="b"/>
            <a:pathLst>
              <a:path w="15232938" h="14208177">
                <a:moveTo>
                  <a:pt x="0" y="0"/>
                </a:moveTo>
                <a:lnTo>
                  <a:pt x="15232938" y="0"/>
                </a:lnTo>
                <a:lnTo>
                  <a:pt x="15232938" y="14208177"/>
                </a:lnTo>
                <a:lnTo>
                  <a:pt x="0" y="14208177"/>
                </a:lnTo>
                <a:lnTo>
                  <a:pt x="0" y="0"/>
                </a:lnTo>
                <a:close/>
              </a:path>
            </a:pathLst>
          </a:custGeom>
          <a:blipFill>
            <a:blip r:embed="rId2">
              <a:alphaModFix amt="15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a:p>
        </p:txBody>
      </p:sp>
      <p:sp>
        <p:nvSpPr>
          <p:cNvPr id="4" name="TextBox 4">
            <a:extLst>
              <a:ext uri="{FF2B5EF4-FFF2-40B4-BE49-F238E27FC236}">
                <a16:creationId xmlns:a16="http://schemas.microsoft.com/office/drawing/2014/main" id="{F2CA7AD5-2ECF-AF41-6097-DB0D556A8916}"/>
              </a:ext>
            </a:extLst>
          </p:cNvPr>
          <p:cNvSpPr txBox="1"/>
          <p:nvPr/>
        </p:nvSpPr>
        <p:spPr>
          <a:xfrm>
            <a:off x="2081982" y="755291"/>
            <a:ext cx="7897609" cy="1327286"/>
          </a:xfrm>
          <a:prstGeom prst="rect">
            <a:avLst/>
          </a:prstGeom>
        </p:spPr>
        <p:txBody>
          <a:bodyPr lIns="0" tIns="0" rIns="0" bIns="0" rtlCol="0" anchor="t">
            <a:spAutoFit/>
          </a:bodyPr>
          <a:lstStyle/>
          <a:p>
            <a:pPr algn="l">
              <a:lnSpc>
                <a:spcPts val="9350"/>
              </a:lnSpc>
            </a:pPr>
            <a:r>
              <a:rPr lang="en-US" sz="11000" spc="-418" dirty="0">
                <a:solidFill>
                  <a:srgbClr val="3A8A91"/>
                </a:solidFill>
                <a:latin typeface="TT Fors"/>
                <a:ea typeface="TT Fors"/>
                <a:cs typeface="TT Fors"/>
                <a:sym typeface="TT Fors"/>
              </a:rPr>
              <a:t>Pestel</a:t>
            </a:r>
          </a:p>
        </p:txBody>
      </p:sp>
      <p:sp>
        <p:nvSpPr>
          <p:cNvPr id="5" name="Freeform 5">
            <a:extLst>
              <a:ext uri="{FF2B5EF4-FFF2-40B4-BE49-F238E27FC236}">
                <a16:creationId xmlns:a16="http://schemas.microsoft.com/office/drawing/2014/main" id="{F3D5C82C-A33D-5253-EBF9-C0E22AEBC28D}"/>
              </a:ext>
            </a:extLst>
          </p:cNvPr>
          <p:cNvSpPr/>
          <p:nvPr/>
        </p:nvSpPr>
        <p:spPr>
          <a:xfrm>
            <a:off x="1600200" y="368217"/>
            <a:ext cx="614422" cy="702581"/>
          </a:xfrm>
          <a:custGeom>
            <a:avLst/>
            <a:gdLst/>
            <a:ahLst/>
            <a:cxnLst/>
            <a:rect l="l" t="t" r="r" b="b"/>
            <a:pathLst>
              <a:path w="7095472" h="8381174">
                <a:moveTo>
                  <a:pt x="0" y="0"/>
                </a:moveTo>
                <a:lnTo>
                  <a:pt x="7095472" y="0"/>
                </a:lnTo>
                <a:lnTo>
                  <a:pt x="7095472" y="8381174"/>
                </a:lnTo>
                <a:lnTo>
                  <a:pt x="0" y="838117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dirty="0"/>
          </a:p>
        </p:txBody>
      </p:sp>
      <p:sp>
        <p:nvSpPr>
          <p:cNvPr id="7" name="TextBox 7">
            <a:extLst>
              <a:ext uri="{FF2B5EF4-FFF2-40B4-BE49-F238E27FC236}">
                <a16:creationId xmlns:a16="http://schemas.microsoft.com/office/drawing/2014/main" id="{5EABE710-BD25-36C3-CE50-E2FA70A798B8}"/>
              </a:ext>
            </a:extLst>
          </p:cNvPr>
          <p:cNvSpPr txBox="1"/>
          <p:nvPr/>
        </p:nvSpPr>
        <p:spPr>
          <a:xfrm>
            <a:off x="1811751" y="2154144"/>
            <a:ext cx="15773400" cy="8592417"/>
          </a:xfrm>
          <a:prstGeom prst="rect">
            <a:avLst/>
          </a:prstGeom>
        </p:spPr>
        <p:txBody>
          <a:bodyPr wrap="square" lIns="0" tIns="0" rIns="0" bIns="0" rtlCol="0" anchor="t">
            <a:spAutoFit/>
          </a:bodyPr>
          <a:lstStyle/>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sz="2400" b="1" kern="100" dirty="0">
                <a:solidFill>
                  <a:srgbClr val="428C7E"/>
                </a:solidFill>
                <a:effectLst/>
                <a:latin typeface="TT Fors" panose="020B0604020202020204" charset="0"/>
                <a:ea typeface="Aptos" panose="020B0004020202020204" pitchFamily="34" charset="0"/>
                <a:cs typeface="Arial" panose="020B0604020202020204" pitchFamily="34" charset="0"/>
              </a:rPr>
              <a:t>Population Size and Growth:</a:t>
            </a:r>
            <a:r>
              <a:rPr lang="en-US" sz="2400" kern="100" dirty="0">
                <a:solidFill>
                  <a:srgbClr val="428C7E"/>
                </a:solidFill>
                <a:effectLst/>
                <a:latin typeface="TT Fors" panose="020B0604020202020204" charset="0"/>
                <a:ea typeface="Aptos" panose="020B0004020202020204" pitchFamily="34" charset="0"/>
                <a:cs typeface="Arial" panose="020B0604020202020204" pitchFamily="34" charset="0"/>
              </a:rPr>
              <a:t> Egypt’s population reached approximately 119 million in October 2025, with an annual growth rate of about 1.5%, providing a continuously expanding consumer base for online skincare and body care products.</a:t>
            </a:r>
          </a:p>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sz="2400" b="1" kern="100" dirty="0">
                <a:solidFill>
                  <a:srgbClr val="428C7E"/>
                </a:solidFill>
                <a:effectLst/>
                <a:latin typeface="TT Fors" panose="020B0604020202020204" charset="0"/>
                <a:ea typeface="Aptos" panose="020B0004020202020204" pitchFamily="34" charset="0"/>
                <a:cs typeface="Arial" panose="020B0604020202020204" pitchFamily="34" charset="0"/>
              </a:rPr>
              <a:t>Urban-Rural Distribution:</a:t>
            </a:r>
            <a:r>
              <a:rPr lang="en-US" sz="2400" kern="100" dirty="0">
                <a:solidFill>
                  <a:srgbClr val="428C7E"/>
                </a:solidFill>
                <a:effectLst/>
                <a:latin typeface="TT Fors" panose="020B0604020202020204" charset="0"/>
                <a:ea typeface="Aptos" panose="020B0004020202020204" pitchFamily="34" charset="0"/>
                <a:cs typeface="Arial" panose="020B0604020202020204" pitchFamily="34" charset="0"/>
              </a:rPr>
              <a:t> Around 56.5% of the population lives in rural areas, while 43.5% live in urban areas. This highlights the importance of accessible pricing strategies, user-friendly website design, and effective digital marketing.</a:t>
            </a:r>
          </a:p>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sz="2400" b="1" kern="100" dirty="0">
                <a:solidFill>
                  <a:srgbClr val="428C7E"/>
                </a:solidFill>
                <a:effectLst/>
                <a:latin typeface="TT Fors" panose="020B0604020202020204" charset="0"/>
                <a:ea typeface="Aptos" panose="020B0004020202020204" pitchFamily="34" charset="0"/>
                <a:cs typeface="Arial" panose="020B0604020202020204" pitchFamily="34" charset="0"/>
              </a:rPr>
              <a:t>Gender Distribution:</a:t>
            </a:r>
            <a:r>
              <a:rPr lang="en-US" sz="2400" kern="100" dirty="0">
                <a:solidFill>
                  <a:srgbClr val="428C7E"/>
                </a:solidFill>
                <a:effectLst/>
                <a:latin typeface="TT Fors" panose="020B0604020202020204" charset="0"/>
                <a:ea typeface="Aptos" panose="020B0004020202020204" pitchFamily="34" charset="0"/>
                <a:cs typeface="Arial" panose="020B0604020202020204" pitchFamily="34" charset="0"/>
              </a:rPr>
              <a:t> The population is nearly evenly distributed between males (50.5%) and females (49.5%), providing balanced market opportunities for skincare and body care products targeting both genders.</a:t>
            </a:r>
          </a:p>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sz="2400" b="1" kern="100" dirty="0">
                <a:solidFill>
                  <a:srgbClr val="428C7E"/>
                </a:solidFill>
                <a:effectLst/>
                <a:latin typeface="TT Fors" panose="020B0604020202020204" charset="0"/>
                <a:ea typeface="Aptos" panose="020B0004020202020204" pitchFamily="34" charset="0"/>
                <a:cs typeface="Arial" panose="020B0604020202020204" pitchFamily="34" charset="0"/>
              </a:rPr>
              <a:t>Age Structure:</a:t>
            </a:r>
            <a:r>
              <a:rPr lang="en-US" sz="2400" kern="100" dirty="0">
                <a:solidFill>
                  <a:srgbClr val="428C7E"/>
                </a:solidFill>
                <a:effectLst/>
                <a:latin typeface="TT Fors" panose="020B0604020202020204" charset="0"/>
                <a:ea typeface="Aptos" panose="020B0004020202020204" pitchFamily="34" charset="0"/>
                <a:cs typeface="Arial" panose="020B0604020202020204" pitchFamily="34" charset="0"/>
              </a:rPr>
              <a:t> Egypt has a young population with a median age of 24.5 years, where more than 50% are under 25 years old. The largest potential consumer segment is the 25–34 age group, supporting strong demand for cosmetic products sold online.</a:t>
            </a:r>
          </a:p>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sz="2400" b="1" kern="100" dirty="0">
                <a:solidFill>
                  <a:srgbClr val="428C7E"/>
                </a:solidFill>
                <a:effectLst/>
                <a:latin typeface="TT Fors" panose="020B0604020202020204" charset="0"/>
                <a:ea typeface="Aptos" panose="020B0004020202020204" pitchFamily="34" charset="0"/>
                <a:cs typeface="Arial" panose="020B0604020202020204" pitchFamily="34" charset="0"/>
              </a:rPr>
              <a:t>Education and Gender Equality:</a:t>
            </a:r>
            <a:r>
              <a:rPr lang="en-US" sz="2400" kern="100" dirty="0">
                <a:solidFill>
                  <a:srgbClr val="428C7E"/>
                </a:solidFill>
                <a:effectLst/>
                <a:latin typeface="TT Fors" panose="020B0604020202020204" charset="0"/>
                <a:ea typeface="Aptos" panose="020B0004020202020204" pitchFamily="34" charset="0"/>
                <a:cs typeface="Arial" panose="020B0604020202020204" pitchFamily="34" charset="0"/>
              </a:rPr>
              <a:t> Near gender parity in education improves consumer awareness and supports digital commerce participation, enhancing opportunities for online skincare product sales.</a:t>
            </a:r>
          </a:p>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sz="2400" b="1" kern="100" dirty="0">
                <a:solidFill>
                  <a:srgbClr val="428C7E"/>
                </a:solidFill>
                <a:effectLst/>
                <a:latin typeface="TT Fors" panose="020B0604020202020204" charset="0"/>
                <a:ea typeface="Aptos" panose="020B0004020202020204" pitchFamily="34" charset="0"/>
                <a:cs typeface="Arial" panose="020B0604020202020204" pitchFamily="34" charset="0"/>
              </a:rPr>
              <a:t>Lifestyle and Consumer Behavior:</a:t>
            </a:r>
            <a:r>
              <a:rPr lang="en-US" sz="2400" kern="100" dirty="0">
                <a:solidFill>
                  <a:srgbClr val="428C7E"/>
                </a:solidFill>
                <a:effectLst/>
                <a:latin typeface="TT Fors" panose="020B0604020202020204" charset="0"/>
                <a:ea typeface="Aptos" panose="020B0004020202020204" pitchFamily="34" charset="0"/>
                <a:cs typeface="Arial" panose="020B0604020202020204" pitchFamily="34" charset="0"/>
              </a:rPr>
              <a:t> Egyptian consumers are becoming more interested in personal care, skincare routines, and self-grooming. Increasing awareness of beauty and wellness, especially among younger generations, supports demand for skincare and body care products sold through the website. Consumers also rely on social media, product reviews, and influencer’s recommendations when making purchasing decisions.</a:t>
            </a:r>
          </a:p>
          <a:p>
            <a:pPr marL="0" lvl="0" indent="0" algn="l">
              <a:lnSpc>
                <a:spcPts val="2538"/>
              </a:lnSpc>
              <a:spcBef>
                <a:spcPct val="0"/>
              </a:spcBef>
            </a:pPr>
            <a:endParaRPr lang="en-US" sz="2372" u="none" strike="noStrike" dirty="0">
              <a:solidFill>
                <a:srgbClr val="3A8A91"/>
              </a:solidFill>
              <a:latin typeface="TT Fors"/>
              <a:ea typeface="TT Fors"/>
              <a:cs typeface="TT Fors"/>
              <a:sym typeface="TT Fors"/>
            </a:endParaRPr>
          </a:p>
        </p:txBody>
      </p:sp>
      <p:sp>
        <p:nvSpPr>
          <p:cNvPr id="10" name="TextBox 9">
            <a:extLst>
              <a:ext uri="{FF2B5EF4-FFF2-40B4-BE49-F238E27FC236}">
                <a16:creationId xmlns:a16="http://schemas.microsoft.com/office/drawing/2014/main" id="{22A044F8-71CD-DD58-6946-082EEEEB0FCD}"/>
              </a:ext>
            </a:extLst>
          </p:cNvPr>
          <p:cNvSpPr txBox="1"/>
          <p:nvPr/>
        </p:nvSpPr>
        <p:spPr>
          <a:xfrm>
            <a:off x="6019800" y="1651016"/>
            <a:ext cx="5105400" cy="523220"/>
          </a:xfrm>
          <a:prstGeom prst="rect">
            <a:avLst/>
          </a:prstGeom>
          <a:noFill/>
        </p:spPr>
        <p:txBody>
          <a:bodyPr wrap="square" rtlCol="0">
            <a:spAutoFit/>
          </a:bodyPr>
          <a:lstStyle/>
          <a:p>
            <a:r>
              <a:rPr lang="en-US" sz="2800" dirty="0">
                <a:solidFill>
                  <a:srgbClr val="3A8A91"/>
                </a:solidFill>
                <a:latin typeface="Arial Black" panose="020B0A04020102020204" pitchFamily="34" charset="0"/>
              </a:rPr>
              <a:t>Social &gt;S</a:t>
            </a:r>
          </a:p>
        </p:txBody>
      </p:sp>
      <p:sp>
        <p:nvSpPr>
          <p:cNvPr id="6" name="Rectangle: Rounded Corners 5">
            <a:extLst>
              <a:ext uri="{FF2B5EF4-FFF2-40B4-BE49-F238E27FC236}">
                <a16:creationId xmlns:a16="http://schemas.microsoft.com/office/drawing/2014/main" id="{77DE2044-5190-D4F0-E4CC-9E6C9E91095F}"/>
              </a:ext>
            </a:extLst>
          </p:cNvPr>
          <p:cNvSpPr/>
          <p:nvPr/>
        </p:nvSpPr>
        <p:spPr>
          <a:xfrm>
            <a:off x="702849" y="495300"/>
            <a:ext cx="17045507" cy="9791700"/>
          </a:xfrm>
          <a:prstGeom prst="roundRect">
            <a:avLst/>
          </a:prstGeom>
          <a:solidFill>
            <a:srgbClr val="3A8A91">
              <a:alpha val="1294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799172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AF4F4"/>
        </a:solidFill>
        <a:effectLst/>
      </p:bgPr>
    </p:bg>
    <p:spTree>
      <p:nvGrpSpPr>
        <p:cNvPr id="1" name="">
          <a:extLst>
            <a:ext uri="{FF2B5EF4-FFF2-40B4-BE49-F238E27FC236}">
              <a16:creationId xmlns:a16="http://schemas.microsoft.com/office/drawing/2014/main" id="{976B474A-40E5-818D-3EA0-084C889CEB7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1410C1D-A83E-77CC-AEE6-A06667F4ACB2}"/>
              </a:ext>
            </a:extLst>
          </p:cNvPr>
          <p:cNvSpPr/>
          <p:nvPr/>
        </p:nvSpPr>
        <p:spPr>
          <a:xfrm>
            <a:off x="-5534487" y="2457160"/>
            <a:ext cx="15232938" cy="14208177"/>
          </a:xfrm>
          <a:custGeom>
            <a:avLst/>
            <a:gdLst/>
            <a:ahLst/>
            <a:cxnLst/>
            <a:rect l="l" t="t" r="r" b="b"/>
            <a:pathLst>
              <a:path w="15232938" h="14208177">
                <a:moveTo>
                  <a:pt x="0" y="0"/>
                </a:moveTo>
                <a:lnTo>
                  <a:pt x="15232938" y="0"/>
                </a:lnTo>
                <a:lnTo>
                  <a:pt x="15232938" y="14208177"/>
                </a:lnTo>
                <a:lnTo>
                  <a:pt x="0" y="14208177"/>
                </a:lnTo>
                <a:lnTo>
                  <a:pt x="0" y="0"/>
                </a:lnTo>
                <a:close/>
              </a:path>
            </a:pathLst>
          </a:custGeom>
          <a:blipFill>
            <a:blip r:embed="rId2">
              <a:alphaModFix amt="15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a:p>
        </p:txBody>
      </p:sp>
      <p:sp>
        <p:nvSpPr>
          <p:cNvPr id="3" name="Freeform 3">
            <a:extLst>
              <a:ext uri="{FF2B5EF4-FFF2-40B4-BE49-F238E27FC236}">
                <a16:creationId xmlns:a16="http://schemas.microsoft.com/office/drawing/2014/main" id="{19127F5A-E511-5262-555E-8887CBB1DA23}"/>
              </a:ext>
            </a:extLst>
          </p:cNvPr>
          <p:cNvSpPr/>
          <p:nvPr/>
        </p:nvSpPr>
        <p:spPr>
          <a:xfrm>
            <a:off x="4977504" y="-4550685"/>
            <a:ext cx="15232938" cy="14208177"/>
          </a:xfrm>
          <a:custGeom>
            <a:avLst/>
            <a:gdLst/>
            <a:ahLst/>
            <a:cxnLst/>
            <a:rect l="l" t="t" r="r" b="b"/>
            <a:pathLst>
              <a:path w="15232938" h="14208177">
                <a:moveTo>
                  <a:pt x="0" y="0"/>
                </a:moveTo>
                <a:lnTo>
                  <a:pt x="15232938" y="0"/>
                </a:lnTo>
                <a:lnTo>
                  <a:pt x="15232938" y="14208177"/>
                </a:lnTo>
                <a:lnTo>
                  <a:pt x="0" y="14208177"/>
                </a:lnTo>
                <a:lnTo>
                  <a:pt x="0" y="0"/>
                </a:lnTo>
                <a:close/>
              </a:path>
            </a:pathLst>
          </a:custGeom>
          <a:blipFill>
            <a:blip r:embed="rId2">
              <a:alphaModFix amt="15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a:p>
        </p:txBody>
      </p:sp>
      <p:sp>
        <p:nvSpPr>
          <p:cNvPr id="4" name="TextBox 4">
            <a:extLst>
              <a:ext uri="{FF2B5EF4-FFF2-40B4-BE49-F238E27FC236}">
                <a16:creationId xmlns:a16="http://schemas.microsoft.com/office/drawing/2014/main" id="{3874CF60-5399-1F9F-477B-5583578E0BF1}"/>
              </a:ext>
            </a:extLst>
          </p:cNvPr>
          <p:cNvSpPr txBox="1"/>
          <p:nvPr/>
        </p:nvSpPr>
        <p:spPr>
          <a:xfrm>
            <a:off x="2194596" y="1043227"/>
            <a:ext cx="7897609" cy="1327286"/>
          </a:xfrm>
          <a:prstGeom prst="rect">
            <a:avLst/>
          </a:prstGeom>
        </p:spPr>
        <p:txBody>
          <a:bodyPr lIns="0" tIns="0" rIns="0" bIns="0" rtlCol="0" anchor="t">
            <a:spAutoFit/>
          </a:bodyPr>
          <a:lstStyle/>
          <a:p>
            <a:pPr algn="l">
              <a:lnSpc>
                <a:spcPts val="9350"/>
              </a:lnSpc>
            </a:pPr>
            <a:r>
              <a:rPr lang="en-US" sz="11000" spc="-418" dirty="0">
                <a:solidFill>
                  <a:srgbClr val="3A8A91"/>
                </a:solidFill>
                <a:latin typeface="TT Fors"/>
                <a:ea typeface="TT Fors"/>
                <a:cs typeface="TT Fors"/>
                <a:sym typeface="TT Fors"/>
              </a:rPr>
              <a:t>Pestel</a:t>
            </a:r>
          </a:p>
        </p:txBody>
      </p:sp>
      <p:sp>
        <p:nvSpPr>
          <p:cNvPr id="5" name="Freeform 5">
            <a:extLst>
              <a:ext uri="{FF2B5EF4-FFF2-40B4-BE49-F238E27FC236}">
                <a16:creationId xmlns:a16="http://schemas.microsoft.com/office/drawing/2014/main" id="{329CDBDF-3402-8AB8-25E1-D1E7CD5AFE73}"/>
              </a:ext>
            </a:extLst>
          </p:cNvPr>
          <p:cNvSpPr/>
          <p:nvPr/>
        </p:nvSpPr>
        <p:spPr>
          <a:xfrm>
            <a:off x="1857384" y="689880"/>
            <a:ext cx="449196" cy="533400"/>
          </a:xfrm>
          <a:custGeom>
            <a:avLst/>
            <a:gdLst/>
            <a:ahLst/>
            <a:cxnLst/>
            <a:rect l="l" t="t" r="r" b="b"/>
            <a:pathLst>
              <a:path w="7095472" h="8381174">
                <a:moveTo>
                  <a:pt x="0" y="0"/>
                </a:moveTo>
                <a:lnTo>
                  <a:pt x="7095472" y="0"/>
                </a:lnTo>
                <a:lnTo>
                  <a:pt x="7095472" y="8381174"/>
                </a:lnTo>
                <a:lnTo>
                  <a:pt x="0" y="838117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dirty="0"/>
          </a:p>
        </p:txBody>
      </p:sp>
      <p:sp>
        <p:nvSpPr>
          <p:cNvPr id="7" name="TextBox 7">
            <a:extLst>
              <a:ext uri="{FF2B5EF4-FFF2-40B4-BE49-F238E27FC236}">
                <a16:creationId xmlns:a16="http://schemas.microsoft.com/office/drawing/2014/main" id="{402F07EF-8F76-78A9-1BD6-7F47458404ED}"/>
              </a:ext>
            </a:extLst>
          </p:cNvPr>
          <p:cNvSpPr txBox="1"/>
          <p:nvPr/>
        </p:nvSpPr>
        <p:spPr>
          <a:xfrm>
            <a:off x="1638300" y="2592489"/>
            <a:ext cx="15011400" cy="7962501"/>
          </a:xfrm>
          <a:prstGeom prst="rect">
            <a:avLst/>
          </a:prstGeom>
        </p:spPr>
        <p:txBody>
          <a:bodyPr wrap="square" lIns="0" tIns="0" rIns="0" bIns="0" rtlCol="0" anchor="t">
            <a:spAutoFit/>
          </a:bodyPr>
          <a:lstStyle/>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sz="2400" kern="100" dirty="0">
                <a:solidFill>
                  <a:srgbClr val="428C7E"/>
                </a:solidFill>
                <a:effectLst/>
                <a:latin typeface="TT Fors" panose="020B0604020202020204" charset="0"/>
                <a:ea typeface="Aptos" panose="020B0004020202020204" pitchFamily="34" charset="0"/>
                <a:cs typeface="Arial" panose="020B0604020202020204" pitchFamily="34" charset="0"/>
              </a:rPr>
              <a:t>Egypt has approximately </a:t>
            </a:r>
            <a:r>
              <a:rPr lang="en-US" sz="2400" b="1" kern="100" dirty="0">
                <a:solidFill>
                  <a:srgbClr val="428C7E"/>
                </a:solidFill>
                <a:effectLst/>
                <a:latin typeface="TT Fors" panose="020B0604020202020204" charset="0"/>
                <a:ea typeface="Aptos" panose="020B0004020202020204" pitchFamily="34" charset="0"/>
                <a:cs typeface="Arial" panose="020B0604020202020204" pitchFamily="34" charset="0"/>
              </a:rPr>
              <a:t>121 million mobile connections</a:t>
            </a:r>
            <a:r>
              <a:rPr lang="en-US" sz="2400" kern="100" dirty="0">
                <a:solidFill>
                  <a:srgbClr val="428C7E"/>
                </a:solidFill>
                <a:effectLst/>
                <a:latin typeface="TT Fors" panose="020B0604020202020204" charset="0"/>
                <a:ea typeface="Aptos" panose="020B0004020202020204" pitchFamily="34" charset="0"/>
                <a:cs typeface="Arial" panose="020B0604020202020204" pitchFamily="34" charset="0"/>
              </a:rPr>
              <a:t> with </a:t>
            </a:r>
            <a:r>
              <a:rPr lang="en-US" sz="2400" b="1" kern="100" dirty="0">
                <a:solidFill>
                  <a:srgbClr val="428C7E"/>
                </a:solidFill>
                <a:effectLst/>
                <a:latin typeface="TT Fors" panose="020B0604020202020204" charset="0"/>
                <a:ea typeface="Aptos" panose="020B0004020202020204" pitchFamily="34" charset="0"/>
                <a:cs typeface="Arial" panose="020B0604020202020204" pitchFamily="34" charset="0"/>
              </a:rPr>
              <a:t>95% 3G/4G/5G network coverage</a:t>
            </a:r>
            <a:r>
              <a:rPr lang="en-US" sz="2400" kern="100" dirty="0">
                <a:solidFill>
                  <a:srgbClr val="428C7E"/>
                </a:solidFill>
                <a:effectLst/>
                <a:latin typeface="TT Fors" panose="020B0604020202020204" charset="0"/>
                <a:ea typeface="Aptos" panose="020B0004020202020204" pitchFamily="34" charset="0"/>
                <a:cs typeface="Arial" panose="020B0604020202020204" pitchFamily="34" charset="0"/>
              </a:rPr>
              <a:t>, supporting mobile access to online shopping platforms. Internet penetration reached about </a:t>
            </a:r>
            <a:r>
              <a:rPr lang="en-US" sz="2400" b="1" kern="100" dirty="0">
                <a:solidFill>
                  <a:srgbClr val="428C7E"/>
                </a:solidFill>
                <a:effectLst/>
                <a:latin typeface="TT Fors" panose="020B0604020202020204" charset="0"/>
                <a:ea typeface="Aptos" panose="020B0004020202020204" pitchFamily="34" charset="0"/>
                <a:cs typeface="Arial" panose="020B0604020202020204" pitchFamily="34" charset="0"/>
              </a:rPr>
              <a:t>98 million users (83% of the population)</a:t>
            </a:r>
            <a:r>
              <a:rPr lang="en-US" sz="2400" kern="100" dirty="0">
                <a:solidFill>
                  <a:srgbClr val="428C7E"/>
                </a:solidFill>
                <a:effectLst/>
                <a:latin typeface="TT Fors" panose="020B0604020202020204" charset="0"/>
                <a:ea typeface="Aptos" panose="020B0004020202020204" pitchFamily="34" charset="0"/>
                <a:cs typeface="Arial" panose="020B0604020202020204" pitchFamily="34" charset="0"/>
              </a:rPr>
              <a:t>, providing a large potential digital customer base for the website.</a:t>
            </a:r>
          </a:p>
          <a:p>
            <a:pPr marL="0" marR="0">
              <a:lnSpc>
                <a:spcPct val="115000"/>
              </a:lnSpc>
              <a:spcBef>
                <a:spcPts val="0"/>
              </a:spcBef>
              <a:spcAft>
                <a:spcPts val="800"/>
              </a:spcAft>
            </a:pPr>
            <a:r>
              <a:rPr lang="en-US" sz="2400" kern="100" dirty="0">
                <a:solidFill>
                  <a:srgbClr val="428C7E"/>
                </a:solidFill>
                <a:effectLst/>
                <a:latin typeface="TT Fors" panose="020B0604020202020204" charset="0"/>
                <a:ea typeface="Aptos" panose="020B0004020202020204" pitchFamily="34" charset="0"/>
                <a:cs typeface="Arial" panose="020B0604020202020204" pitchFamily="34" charset="0"/>
              </a:rPr>
              <a:t>Social media platforms play a significant role in digital marketing for the skincare and body care business:</a:t>
            </a:r>
          </a:p>
          <a:p>
            <a:pPr marL="0" marR="0">
              <a:lnSpc>
                <a:spcPct val="115000"/>
              </a:lnSpc>
              <a:spcBef>
                <a:spcPts val="0"/>
              </a:spcBef>
              <a:spcAft>
                <a:spcPts val="800"/>
              </a:spcAft>
            </a:pPr>
            <a:r>
              <a:rPr lang="en-US" sz="2400" kern="100" dirty="0">
                <a:solidFill>
                  <a:srgbClr val="428C7E"/>
                </a:solidFill>
                <a:effectLst/>
                <a:latin typeface="TT Fors" panose="020B0604020202020204" charset="0"/>
                <a:ea typeface="Aptos" panose="020B0004020202020204" pitchFamily="34" charset="0"/>
                <a:cs typeface="Arial" panose="020B0604020202020204" pitchFamily="34" charset="0"/>
              </a:rPr>
              <a:t>• </a:t>
            </a:r>
            <a:r>
              <a:rPr lang="en-US" sz="2400" b="1" kern="100" dirty="0">
                <a:solidFill>
                  <a:srgbClr val="428C7E"/>
                </a:solidFill>
                <a:effectLst/>
                <a:latin typeface="TT Fors" panose="020B0604020202020204" charset="0"/>
                <a:ea typeface="Aptos" panose="020B0004020202020204" pitchFamily="34" charset="0"/>
                <a:cs typeface="Arial" panose="020B0604020202020204" pitchFamily="34" charset="0"/>
              </a:rPr>
              <a:t>Facebook – 51 million users:</a:t>
            </a:r>
            <a:r>
              <a:rPr lang="en-US" sz="2400" kern="100" dirty="0">
                <a:solidFill>
                  <a:srgbClr val="428C7E"/>
                </a:solidFill>
                <a:effectLst/>
                <a:latin typeface="TT Fors" panose="020B0604020202020204" charset="0"/>
                <a:ea typeface="Aptos" panose="020B0004020202020204" pitchFamily="34" charset="0"/>
                <a:cs typeface="Arial" panose="020B0604020202020204" pitchFamily="34" charset="0"/>
              </a:rPr>
              <a:t> Used for targeted advertising, product promotion, and customer engagement.</a:t>
            </a:r>
            <a:br>
              <a:rPr lang="en-US" sz="2400" kern="100" dirty="0">
                <a:solidFill>
                  <a:srgbClr val="428C7E"/>
                </a:solidFill>
                <a:effectLst/>
                <a:latin typeface="TT Fors" panose="020B0604020202020204" charset="0"/>
                <a:ea typeface="Aptos" panose="020B0004020202020204" pitchFamily="34" charset="0"/>
                <a:cs typeface="Arial" panose="020B0604020202020204" pitchFamily="34" charset="0"/>
              </a:rPr>
            </a:br>
            <a:r>
              <a:rPr lang="en-US" sz="2400" kern="100" dirty="0">
                <a:solidFill>
                  <a:srgbClr val="428C7E"/>
                </a:solidFill>
                <a:effectLst/>
                <a:latin typeface="TT Fors" panose="020B0604020202020204" charset="0"/>
                <a:ea typeface="Aptos" panose="020B0004020202020204" pitchFamily="34" charset="0"/>
                <a:cs typeface="Arial" panose="020B0604020202020204" pitchFamily="34" charset="0"/>
              </a:rPr>
              <a:t>• </a:t>
            </a:r>
            <a:r>
              <a:rPr lang="en-US" sz="2400" b="1" kern="100" dirty="0">
                <a:solidFill>
                  <a:srgbClr val="428C7E"/>
                </a:solidFill>
                <a:effectLst/>
                <a:latin typeface="TT Fors" panose="020B0604020202020204" charset="0"/>
                <a:ea typeface="Aptos" panose="020B0004020202020204" pitchFamily="34" charset="0"/>
                <a:cs typeface="Arial" panose="020B0604020202020204" pitchFamily="34" charset="0"/>
              </a:rPr>
              <a:t>TikTok – 49 million adult users:</a:t>
            </a:r>
            <a:r>
              <a:rPr lang="en-US" sz="2400" kern="100" dirty="0">
                <a:solidFill>
                  <a:srgbClr val="428C7E"/>
                </a:solidFill>
                <a:effectLst/>
                <a:latin typeface="TT Fors" panose="020B0604020202020204" charset="0"/>
                <a:ea typeface="Aptos" panose="020B0004020202020204" pitchFamily="34" charset="0"/>
                <a:cs typeface="Arial" panose="020B0604020202020204" pitchFamily="34" charset="0"/>
              </a:rPr>
              <a:t> Suitable for short video marketing and skincare product demonstrations.</a:t>
            </a:r>
            <a:br>
              <a:rPr lang="en-US" sz="2400" kern="100" dirty="0">
                <a:solidFill>
                  <a:srgbClr val="428C7E"/>
                </a:solidFill>
                <a:effectLst/>
                <a:latin typeface="TT Fors" panose="020B0604020202020204" charset="0"/>
                <a:ea typeface="Aptos" panose="020B0004020202020204" pitchFamily="34" charset="0"/>
                <a:cs typeface="Arial" panose="020B0604020202020204" pitchFamily="34" charset="0"/>
              </a:rPr>
            </a:br>
            <a:r>
              <a:rPr lang="en-US" sz="2400" kern="100" dirty="0">
                <a:solidFill>
                  <a:srgbClr val="428C7E"/>
                </a:solidFill>
                <a:effectLst/>
                <a:latin typeface="TT Fors" panose="020B0604020202020204" charset="0"/>
                <a:ea typeface="Aptos" panose="020B0004020202020204" pitchFamily="34" charset="0"/>
                <a:cs typeface="Arial" panose="020B0604020202020204" pitchFamily="34" charset="0"/>
              </a:rPr>
              <a:t>• </a:t>
            </a:r>
            <a:r>
              <a:rPr lang="en-US" sz="2400" b="1" kern="100" dirty="0">
                <a:solidFill>
                  <a:srgbClr val="428C7E"/>
                </a:solidFill>
                <a:effectLst/>
                <a:latin typeface="TT Fors" panose="020B0604020202020204" charset="0"/>
                <a:ea typeface="Aptos" panose="020B0004020202020204" pitchFamily="34" charset="0"/>
                <a:cs typeface="Arial" panose="020B0604020202020204" pitchFamily="34" charset="0"/>
              </a:rPr>
              <a:t>YouTube – 49 million users:</a:t>
            </a:r>
            <a:r>
              <a:rPr lang="en-US" sz="2400" kern="100" dirty="0">
                <a:solidFill>
                  <a:srgbClr val="428C7E"/>
                </a:solidFill>
                <a:effectLst/>
                <a:latin typeface="TT Fors" panose="020B0604020202020204" charset="0"/>
                <a:ea typeface="Aptos" panose="020B0004020202020204" pitchFamily="34" charset="0"/>
                <a:cs typeface="Arial" panose="020B0604020202020204" pitchFamily="34" charset="0"/>
              </a:rPr>
              <a:t> Supports long-form promotional content, product reviews, and skincare tutorials.</a:t>
            </a:r>
            <a:br>
              <a:rPr lang="en-US" sz="2400" kern="100" dirty="0">
                <a:solidFill>
                  <a:srgbClr val="428C7E"/>
                </a:solidFill>
                <a:effectLst/>
                <a:latin typeface="TT Fors" panose="020B0604020202020204" charset="0"/>
                <a:ea typeface="Aptos" panose="020B0004020202020204" pitchFamily="34" charset="0"/>
                <a:cs typeface="Arial" panose="020B0604020202020204" pitchFamily="34" charset="0"/>
              </a:rPr>
            </a:br>
            <a:r>
              <a:rPr lang="en-US" sz="2400" kern="100" dirty="0">
                <a:solidFill>
                  <a:srgbClr val="428C7E"/>
                </a:solidFill>
                <a:effectLst/>
                <a:latin typeface="TT Fors" panose="020B0604020202020204" charset="0"/>
                <a:ea typeface="Aptos" panose="020B0004020202020204" pitchFamily="34" charset="0"/>
                <a:cs typeface="Arial" panose="020B0604020202020204" pitchFamily="34" charset="0"/>
              </a:rPr>
              <a:t>• </a:t>
            </a:r>
            <a:r>
              <a:rPr lang="en-US" sz="2400" b="1" kern="100" dirty="0">
                <a:solidFill>
                  <a:srgbClr val="428C7E"/>
                </a:solidFill>
                <a:effectLst/>
                <a:latin typeface="TT Fors" panose="020B0604020202020204" charset="0"/>
                <a:ea typeface="Aptos" panose="020B0004020202020204" pitchFamily="34" charset="0"/>
                <a:cs typeface="Arial" panose="020B0604020202020204" pitchFamily="34" charset="0"/>
              </a:rPr>
              <a:t>Instagram – 22 million users (28% of adults):</a:t>
            </a:r>
            <a:r>
              <a:rPr lang="en-US" sz="2400" kern="100" dirty="0">
                <a:solidFill>
                  <a:srgbClr val="428C7E"/>
                </a:solidFill>
                <a:effectLst/>
                <a:latin typeface="TT Fors" panose="020B0604020202020204" charset="0"/>
                <a:ea typeface="Aptos" panose="020B0004020202020204" pitchFamily="34" charset="0"/>
                <a:cs typeface="Arial" panose="020B0604020202020204" pitchFamily="34" charset="0"/>
              </a:rPr>
              <a:t> Effective for visual marketing of skincare and body care products.</a:t>
            </a:r>
            <a:br>
              <a:rPr lang="en-US" sz="2400" kern="100" dirty="0">
                <a:solidFill>
                  <a:srgbClr val="428C7E"/>
                </a:solidFill>
                <a:effectLst/>
                <a:latin typeface="TT Fors" panose="020B0604020202020204" charset="0"/>
                <a:ea typeface="Aptos" panose="020B0004020202020204" pitchFamily="34" charset="0"/>
                <a:cs typeface="Arial" panose="020B0604020202020204" pitchFamily="34" charset="0"/>
              </a:rPr>
            </a:br>
            <a:r>
              <a:rPr lang="en-US" sz="2400" kern="100" dirty="0">
                <a:solidFill>
                  <a:srgbClr val="428C7E"/>
                </a:solidFill>
                <a:effectLst/>
                <a:latin typeface="TT Fors" panose="020B0604020202020204" charset="0"/>
                <a:ea typeface="Aptos" panose="020B0004020202020204" pitchFamily="34" charset="0"/>
                <a:cs typeface="Arial" panose="020B0604020202020204" pitchFamily="34" charset="0"/>
              </a:rPr>
              <a:t>• </a:t>
            </a:r>
            <a:r>
              <a:rPr lang="en-US" sz="2400" b="1" kern="100" dirty="0">
                <a:solidFill>
                  <a:srgbClr val="428C7E"/>
                </a:solidFill>
                <a:effectLst/>
                <a:latin typeface="TT Fors" panose="020B0604020202020204" charset="0"/>
                <a:ea typeface="Aptos" panose="020B0004020202020204" pitchFamily="34" charset="0"/>
                <a:cs typeface="Arial" panose="020B0604020202020204" pitchFamily="34" charset="0"/>
              </a:rPr>
              <a:t>Messenger – 37 million users:</a:t>
            </a:r>
            <a:r>
              <a:rPr lang="en-US" sz="2400" kern="100" dirty="0">
                <a:solidFill>
                  <a:srgbClr val="428C7E"/>
                </a:solidFill>
                <a:effectLst/>
                <a:latin typeface="TT Fors" panose="020B0604020202020204" charset="0"/>
                <a:ea typeface="Aptos" panose="020B0004020202020204" pitchFamily="34" charset="0"/>
                <a:cs typeface="Arial" panose="020B0604020202020204" pitchFamily="34" charset="0"/>
              </a:rPr>
              <a:t> Enables direct communication with customers, inquiries, and customer service support.</a:t>
            </a:r>
            <a:br>
              <a:rPr lang="en-US" sz="2400" kern="100" dirty="0">
                <a:solidFill>
                  <a:srgbClr val="428C7E"/>
                </a:solidFill>
                <a:effectLst/>
                <a:latin typeface="TT Fors" panose="020B0604020202020204" charset="0"/>
                <a:ea typeface="Aptos" panose="020B0004020202020204" pitchFamily="34" charset="0"/>
                <a:cs typeface="Arial" panose="020B0604020202020204" pitchFamily="34" charset="0"/>
              </a:rPr>
            </a:br>
            <a:r>
              <a:rPr lang="en-US" sz="2400" kern="100" dirty="0">
                <a:solidFill>
                  <a:srgbClr val="428C7E"/>
                </a:solidFill>
                <a:effectLst/>
                <a:latin typeface="TT Fors" panose="020B0604020202020204" charset="0"/>
                <a:ea typeface="Aptos" panose="020B0004020202020204" pitchFamily="34" charset="0"/>
                <a:cs typeface="Arial" panose="020B0604020202020204" pitchFamily="34" charset="0"/>
              </a:rPr>
              <a:t>• </a:t>
            </a:r>
            <a:r>
              <a:rPr lang="en-US" sz="2400" b="1" kern="100" dirty="0">
                <a:solidFill>
                  <a:srgbClr val="428C7E"/>
                </a:solidFill>
                <a:effectLst/>
                <a:latin typeface="TT Fors" panose="020B0604020202020204" charset="0"/>
                <a:ea typeface="Aptos" panose="020B0004020202020204" pitchFamily="34" charset="0"/>
                <a:cs typeface="Arial" panose="020B0604020202020204" pitchFamily="34" charset="0"/>
              </a:rPr>
              <a:t>LinkedIn – 15 million users:</a:t>
            </a:r>
            <a:r>
              <a:rPr lang="en-US" sz="2400" kern="100" dirty="0">
                <a:solidFill>
                  <a:srgbClr val="428C7E"/>
                </a:solidFill>
                <a:effectLst/>
                <a:latin typeface="TT Fors" panose="020B0604020202020204" charset="0"/>
                <a:ea typeface="Aptos" panose="020B0004020202020204" pitchFamily="34" charset="0"/>
                <a:cs typeface="Arial" panose="020B0604020202020204" pitchFamily="34" charset="0"/>
              </a:rPr>
              <a:t> Supports professional networking and potential business partnerships.</a:t>
            </a:r>
          </a:p>
          <a:p>
            <a:pPr marL="0" marR="0">
              <a:lnSpc>
                <a:spcPct val="115000"/>
              </a:lnSpc>
              <a:spcBef>
                <a:spcPts val="0"/>
              </a:spcBef>
              <a:spcAft>
                <a:spcPts val="800"/>
              </a:spcAft>
            </a:pPr>
            <a:r>
              <a:rPr lang="en-US" sz="2400" kern="100" dirty="0">
                <a:solidFill>
                  <a:srgbClr val="428C7E"/>
                </a:solidFill>
                <a:effectLst/>
                <a:latin typeface="TT Fors" panose="020B0604020202020204" charset="0"/>
                <a:ea typeface="Aptos" panose="020B0004020202020204" pitchFamily="34" charset="0"/>
                <a:cs typeface="Arial" panose="020B0604020202020204" pitchFamily="34" charset="0"/>
              </a:rPr>
              <a:t>The continuous growth of social media usage enhances market reach and improves marketing efficiency for the website. The expansion of digital payment solutions also supports secure online transactions and increases customer trust.</a:t>
            </a:r>
          </a:p>
          <a:p>
            <a:pPr marL="0" lvl="0" indent="0" algn="l">
              <a:lnSpc>
                <a:spcPts val="2538"/>
              </a:lnSpc>
              <a:spcBef>
                <a:spcPct val="0"/>
              </a:spcBef>
            </a:pPr>
            <a:endParaRPr lang="en-US" sz="2372" u="none" strike="noStrike" dirty="0">
              <a:solidFill>
                <a:srgbClr val="3A8A91"/>
              </a:solidFill>
              <a:latin typeface="TT Fors"/>
              <a:ea typeface="TT Fors"/>
              <a:cs typeface="TT Fors"/>
              <a:sym typeface="TT Fors"/>
            </a:endParaRPr>
          </a:p>
        </p:txBody>
      </p:sp>
      <p:sp>
        <p:nvSpPr>
          <p:cNvPr id="10" name="TextBox 9">
            <a:extLst>
              <a:ext uri="{FF2B5EF4-FFF2-40B4-BE49-F238E27FC236}">
                <a16:creationId xmlns:a16="http://schemas.microsoft.com/office/drawing/2014/main" id="{7F4623C2-7CA0-4348-962E-1355F309F8B4}"/>
              </a:ext>
            </a:extLst>
          </p:cNvPr>
          <p:cNvSpPr txBox="1"/>
          <p:nvPr/>
        </p:nvSpPr>
        <p:spPr>
          <a:xfrm>
            <a:off x="6080258" y="2069269"/>
            <a:ext cx="5105400" cy="523220"/>
          </a:xfrm>
          <a:prstGeom prst="rect">
            <a:avLst/>
          </a:prstGeom>
          <a:noFill/>
        </p:spPr>
        <p:txBody>
          <a:bodyPr wrap="square" rtlCol="0">
            <a:spAutoFit/>
          </a:bodyPr>
          <a:lstStyle/>
          <a:p>
            <a:r>
              <a:rPr lang="en-US" sz="2800" dirty="0">
                <a:solidFill>
                  <a:srgbClr val="3A8A91"/>
                </a:solidFill>
                <a:latin typeface="Arial Black" panose="020B0A04020102020204" pitchFamily="34" charset="0"/>
              </a:rPr>
              <a:t>Technological &gt;T</a:t>
            </a:r>
          </a:p>
        </p:txBody>
      </p:sp>
      <p:sp>
        <p:nvSpPr>
          <p:cNvPr id="6" name="Rectangle: Rounded Corners 5">
            <a:extLst>
              <a:ext uri="{FF2B5EF4-FFF2-40B4-BE49-F238E27FC236}">
                <a16:creationId xmlns:a16="http://schemas.microsoft.com/office/drawing/2014/main" id="{6A5A6A5D-DA78-48DF-B050-28992AAB0902}"/>
              </a:ext>
            </a:extLst>
          </p:cNvPr>
          <p:cNvSpPr/>
          <p:nvPr/>
        </p:nvSpPr>
        <p:spPr>
          <a:xfrm>
            <a:off x="457200" y="689880"/>
            <a:ext cx="17106900" cy="9525000"/>
          </a:xfrm>
          <a:prstGeom prst="roundRect">
            <a:avLst/>
          </a:prstGeom>
          <a:solidFill>
            <a:srgbClr val="3A8A91">
              <a:alpha val="1294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3159128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AF4F4"/>
        </a:solidFill>
        <a:effectLst/>
      </p:bgPr>
    </p:bg>
    <p:spTree>
      <p:nvGrpSpPr>
        <p:cNvPr id="1" name="">
          <a:extLst>
            <a:ext uri="{FF2B5EF4-FFF2-40B4-BE49-F238E27FC236}">
              <a16:creationId xmlns:a16="http://schemas.microsoft.com/office/drawing/2014/main" id="{8F6760EA-9796-2F06-FFA1-4089DFF7550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12D5D53-9488-7A34-6DD5-B04737DC8061}"/>
              </a:ext>
            </a:extLst>
          </p:cNvPr>
          <p:cNvSpPr/>
          <p:nvPr/>
        </p:nvSpPr>
        <p:spPr>
          <a:xfrm>
            <a:off x="-5534487" y="2457160"/>
            <a:ext cx="15232938" cy="14208177"/>
          </a:xfrm>
          <a:custGeom>
            <a:avLst/>
            <a:gdLst/>
            <a:ahLst/>
            <a:cxnLst/>
            <a:rect l="l" t="t" r="r" b="b"/>
            <a:pathLst>
              <a:path w="15232938" h="14208177">
                <a:moveTo>
                  <a:pt x="0" y="0"/>
                </a:moveTo>
                <a:lnTo>
                  <a:pt x="15232938" y="0"/>
                </a:lnTo>
                <a:lnTo>
                  <a:pt x="15232938" y="14208177"/>
                </a:lnTo>
                <a:lnTo>
                  <a:pt x="0" y="14208177"/>
                </a:lnTo>
                <a:lnTo>
                  <a:pt x="0" y="0"/>
                </a:lnTo>
                <a:close/>
              </a:path>
            </a:pathLst>
          </a:custGeom>
          <a:blipFill>
            <a:blip r:embed="rId2">
              <a:alphaModFix amt="15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a:p>
        </p:txBody>
      </p:sp>
      <p:sp>
        <p:nvSpPr>
          <p:cNvPr id="3" name="Freeform 3">
            <a:extLst>
              <a:ext uri="{FF2B5EF4-FFF2-40B4-BE49-F238E27FC236}">
                <a16:creationId xmlns:a16="http://schemas.microsoft.com/office/drawing/2014/main" id="{E95FD07F-4770-3E7C-A502-506B75192035}"/>
              </a:ext>
            </a:extLst>
          </p:cNvPr>
          <p:cNvSpPr/>
          <p:nvPr/>
        </p:nvSpPr>
        <p:spPr>
          <a:xfrm>
            <a:off x="4977504" y="-4550685"/>
            <a:ext cx="15232938" cy="14208177"/>
          </a:xfrm>
          <a:custGeom>
            <a:avLst/>
            <a:gdLst/>
            <a:ahLst/>
            <a:cxnLst/>
            <a:rect l="l" t="t" r="r" b="b"/>
            <a:pathLst>
              <a:path w="15232938" h="14208177">
                <a:moveTo>
                  <a:pt x="0" y="0"/>
                </a:moveTo>
                <a:lnTo>
                  <a:pt x="15232938" y="0"/>
                </a:lnTo>
                <a:lnTo>
                  <a:pt x="15232938" y="14208177"/>
                </a:lnTo>
                <a:lnTo>
                  <a:pt x="0" y="14208177"/>
                </a:lnTo>
                <a:lnTo>
                  <a:pt x="0" y="0"/>
                </a:lnTo>
                <a:close/>
              </a:path>
            </a:pathLst>
          </a:custGeom>
          <a:blipFill>
            <a:blip r:embed="rId2">
              <a:alphaModFix amt="15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a:p>
        </p:txBody>
      </p:sp>
      <p:sp>
        <p:nvSpPr>
          <p:cNvPr id="4" name="TextBox 4">
            <a:extLst>
              <a:ext uri="{FF2B5EF4-FFF2-40B4-BE49-F238E27FC236}">
                <a16:creationId xmlns:a16="http://schemas.microsoft.com/office/drawing/2014/main" id="{E89B1DAC-179B-21FA-D008-2EFBF26364FF}"/>
              </a:ext>
            </a:extLst>
          </p:cNvPr>
          <p:cNvSpPr txBox="1"/>
          <p:nvPr/>
        </p:nvSpPr>
        <p:spPr>
          <a:xfrm>
            <a:off x="2136451" y="1468678"/>
            <a:ext cx="7897609" cy="1327286"/>
          </a:xfrm>
          <a:prstGeom prst="rect">
            <a:avLst/>
          </a:prstGeom>
        </p:spPr>
        <p:txBody>
          <a:bodyPr lIns="0" tIns="0" rIns="0" bIns="0" rtlCol="0" anchor="t">
            <a:spAutoFit/>
          </a:bodyPr>
          <a:lstStyle/>
          <a:p>
            <a:pPr algn="l">
              <a:lnSpc>
                <a:spcPts val="9350"/>
              </a:lnSpc>
            </a:pPr>
            <a:r>
              <a:rPr lang="en-US" sz="11000" spc="-418" dirty="0">
                <a:solidFill>
                  <a:srgbClr val="3A8A91"/>
                </a:solidFill>
                <a:latin typeface="TT Fors"/>
                <a:ea typeface="TT Fors"/>
                <a:cs typeface="TT Fors"/>
                <a:sym typeface="TT Fors"/>
              </a:rPr>
              <a:t>Pestel</a:t>
            </a:r>
          </a:p>
        </p:txBody>
      </p:sp>
      <p:sp>
        <p:nvSpPr>
          <p:cNvPr id="5" name="Freeform 5">
            <a:extLst>
              <a:ext uri="{FF2B5EF4-FFF2-40B4-BE49-F238E27FC236}">
                <a16:creationId xmlns:a16="http://schemas.microsoft.com/office/drawing/2014/main" id="{A5BA2A67-E4CE-B5EB-D1E3-84CFA58EFFD6}"/>
              </a:ext>
            </a:extLst>
          </p:cNvPr>
          <p:cNvSpPr/>
          <p:nvPr/>
        </p:nvSpPr>
        <p:spPr>
          <a:xfrm>
            <a:off x="1542016" y="909048"/>
            <a:ext cx="614422" cy="702581"/>
          </a:xfrm>
          <a:custGeom>
            <a:avLst/>
            <a:gdLst/>
            <a:ahLst/>
            <a:cxnLst/>
            <a:rect l="l" t="t" r="r" b="b"/>
            <a:pathLst>
              <a:path w="7095472" h="8381174">
                <a:moveTo>
                  <a:pt x="0" y="0"/>
                </a:moveTo>
                <a:lnTo>
                  <a:pt x="7095472" y="0"/>
                </a:lnTo>
                <a:lnTo>
                  <a:pt x="7095472" y="8381174"/>
                </a:lnTo>
                <a:lnTo>
                  <a:pt x="0" y="838117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a:p>
        </p:txBody>
      </p:sp>
      <p:sp>
        <p:nvSpPr>
          <p:cNvPr id="7" name="TextBox 7">
            <a:extLst>
              <a:ext uri="{FF2B5EF4-FFF2-40B4-BE49-F238E27FC236}">
                <a16:creationId xmlns:a16="http://schemas.microsoft.com/office/drawing/2014/main" id="{094D8713-2ED0-4EC2-CD4B-E8DA540474F9}"/>
              </a:ext>
            </a:extLst>
          </p:cNvPr>
          <p:cNvSpPr txBox="1"/>
          <p:nvPr/>
        </p:nvSpPr>
        <p:spPr>
          <a:xfrm>
            <a:off x="2843904" y="3619500"/>
            <a:ext cx="14478000" cy="5626477"/>
          </a:xfrm>
          <a:prstGeom prst="rect">
            <a:avLst/>
          </a:prstGeom>
        </p:spPr>
        <p:txBody>
          <a:bodyPr wrap="square" lIns="0" tIns="0" rIns="0" bIns="0" rtlCol="0" anchor="t">
            <a:spAutoFit/>
          </a:bodyPr>
          <a:lstStyle/>
          <a:p>
            <a:pPr marL="0" marR="0"/>
            <a:r>
              <a:rPr lang="en-US" sz="2800" dirty="0">
                <a:solidFill>
                  <a:srgbClr val="428C7E"/>
                </a:solidFill>
                <a:effectLst/>
                <a:latin typeface="TT Fors" panose="020B0604020202020204" charset="0"/>
                <a:ea typeface="Times New Roman" panose="02020603050405020304" pitchFamily="18" charset="0"/>
                <a:cs typeface="Arial" panose="020B0604020202020204" pitchFamily="34" charset="0"/>
              </a:rPr>
              <a:t>Environmental awareness in Egypt has grown significantly in response to global environmental challenges. This rising concern encourages businesses in the skincare and body care e-commerce sector to adopt more sustainable and environmentally responsible practices.</a:t>
            </a:r>
          </a:p>
          <a:p>
            <a:pPr marL="342900" marR="0" lvl="0" indent="-342900">
              <a:lnSpc>
                <a:spcPct val="115000"/>
              </a:lnSpc>
              <a:spcBef>
                <a:spcPts val="0"/>
              </a:spcBef>
              <a:spcAft>
                <a:spcPts val="0"/>
              </a:spcAft>
              <a:buFont typeface="Symbol" panose="05050102010706020507" pitchFamily="18" charset="2"/>
              <a:buChar char=""/>
            </a:pPr>
            <a:r>
              <a:rPr lang="en-US" sz="2800" b="1" kern="100" dirty="0">
                <a:solidFill>
                  <a:srgbClr val="428C7E"/>
                </a:solidFill>
                <a:effectLst/>
                <a:latin typeface="TT Fors" panose="020B0604020202020204" charset="0"/>
                <a:ea typeface="Aptos" panose="020B0004020202020204" pitchFamily="34" charset="0"/>
                <a:cs typeface="Arial" panose="020B0604020202020204" pitchFamily="34" charset="0"/>
              </a:rPr>
              <a:t>Eco-Friendly Operations:</a:t>
            </a:r>
            <a:r>
              <a:rPr lang="en-US" sz="2800" kern="100" dirty="0">
                <a:solidFill>
                  <a:srgbClr val="428C7E"/>
                </a:solidFill>
                <a:effectLst/>
                <a:latin typeface="TT Fors" panose="020B0604020202020204" charset="0"/>
                <a:ea typeface="Aptos" panose="020B0004020202020204" pitchFamily="34" charset="0"/>
                <a:cs typeface="Arial" panose="020B0604020202020204" pitchFamily="34" charset="0"/>
              </a:rPr>
              <a:t> The website will promote the use of recyclable packaging materials and efficient supply chain management to reduce environmental waste and support sustainability trends.</a:t>
            </a:r>
          </a:p>
          <a:p>
            <a:pPr marL="342900" marR="0" lvl="0" indent="-342900">
              <a:lnSpc>
                <a:spcPct val="115000"/>
              </a:lnSpc>
              <a:spcBef>
                <a:spcPts val="0"/>
              </a:spcBef>
              <a:spcAft>
                <a:spcPts val="800"/>
              </a:spcAft>
              <a:buFont typeface="Symbol" panose="05050102010706020507" pitchFamily="18" charset="2"/>
              <a:buChar char=""/>
            </a:pPr>
            <a:r>
              <a:rPr lang="en-US" sz="2800" b="1" kern="100" dirty="0">
                <a:solidFill>
                  <a:srgbClr val="428C7E"/>
                </a:solidFill>
                <a:effectLst/>
                <a:latin typeface="TT Fors" panose="020B0604020202020204" charset="0"/>
                <a:ea typeface="Aptos" panose="020B0004020202020204" pitchFamily="34" charset="0"/>
                <a:cs typeface="Arial" panose="020B0604020202020204" pitchFamily="34" charset="0"/>
              </a:rPr>
              <a:t>Climate and Weather Conditions:</a:t>
            </a:r>
            <a:r>
              <a:rPr lang="en-US" sz="2800" kern="100" dirty="0">
                <a:solidFill>
                  <a:srgbClr val="428C7E"/>
                </a:solidFill>
                <a:effectLst/>
                <a:latin typeface="TT Fors" panose="020B0604020202020204" charset="0"/>
                <a:ea typeface="Aptos" panose="020B0004020202020204" pitchFamily="34" charset="0"/>
                <a:cs typeface="Arial" panose="020B0604020202020204" pitchFamily="34" charset="0"/>
              </a:rPr>
              <a:t> Egypt’s climate and seasonal weather variations can affect product transportation and delivery efficiency. High temperatures during summer may require proper packaging and storage conditions to maintain product quality during shipping.</a:t>
            </a:r>
          </a:p>
          <a:p>
            <a:pPr marL="0" lvl="0" indent="0" algn="l">
              <a:lnSpc>
                <a:spcPts val="2538"/>
              </a:lnSpc>
              <a:spcBef>
                <a:spcPct val="0"/>
              </a:spcBef>
            </a:pPr>
            <a:endParaRPr lang="en-US" sz="2372" u="none" strike="noStrike" dirty="0">
              <a:solidFill>
                <a:srgbClr val="3A8A91"/>
              </a:solidFill>
              <a:latin typeface="TT Fors"/>
              <a:ea typeface="TT Fors"/>
              <a:cs typeface="TT Fors"/>
              <a:sym typeface="TT Fors"/>
            </a:endParaRPr>
          </a:p>
        </p:txBody>
      </p:sp>
      <p:sp>
        <p:nvSpPr>
          <p:cNvPr id="10" name="TextBox 9">
            <a:extLst>
              <a:ext uri="{FF2B5EF4-FFF2-40B4-BE49-F238E27FC236}">
                <a16:creationId xmlns:a16="http://schemas.microsoft.com/office/drawing/2014/main" id="{5F7D2A51-2634-0335-F6BE-4BB812A7DC99}"/>
              </a:ext>
            </a:extLst>
          </p:cNvPr>
          <p:cNvSpPr txBox="1"/>
          <p:nvPr/>
        </p:nvSpPr>
        <p:spPr>
          <a:xfrm>
            <a:off x="5852077" y="2216892"/>
            <a:ext cx="5105400" cy="523220"/>
          </a:xfrm>
          <a:prstGeom prst="rect">
            <a:avLst/>
          </a:prstGeom>
          <a:noFill/>
        </p:spPr>
        <p:txBody>
          <a:bodyPr wrap="square" rtlCol="0">
            <a:spAutoFit/>
          </a:bodyPr>
          <a:lstStyle/>
          <a:p>
            <a:r>
              <a:rPr lang="en-US" sz="2800" dirty="0">
                <a:solidFill>
                  <a:srgbClr val="3A8A91"/>
                </a:solidFill>
                <a:latin typeface="Arial Black" panose="020B0A04020102020204" pitchFamily="34" charset="0"/>
              </a:rPr>
              <a:t>Environmental &gt;E</a:t>
            </a:r>
          </a:p>
        </p:txBody>
      </p:sp>
      <p:sp>
        <p:nvSpPr>
          <p:cNvPr id="9" name="Rectangle: Rounded Corners 8">
            <a:extLst>
              <a:ext uri="{FF2B5EF4-FFF2-40B4-BE49-F238E27FC236}">
                <a16:creationId xmlns:a16="http://schemas.microsoft.com/office/drawing/2014/main" id="{AC4F4760-B9F1-48D4-02B8-116B068E383F}"/>
              </a:ext>
            </a:extLst>
          </p:cNvPr>
          <p:cNvSpPr/>
          <p:nvPr/>
        </p:nvSpPr>
        <p:spPr>
          <a:xfrm>
            <a:off x="590550" y="909048"/>
            <a:ext cx="17011650" cy="8996952"/>
          </a:xfrm>
          <a:prstGeom prst="roundRect">
            <a:avLst/>
          </a:prstGeom>
          <a:solidFill>
            <a:srgbClr val="3A8A91">
              <a:alpha val="1294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788747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AF4F4"/>
        </a:solidFill>
        <a:effectLst/>
      </p:bgPr>
    </p:bg>
    <p:spTree>
      <p:nvGrpSpPr>
        <p:cNvPr id="1" name="">
          <a:extLst>
            <a:ext uri="{FF2B5EF4-FFF2-40B4-BE49-F238E27FC236}">
              <a16:creationId xmlns:a16="http://schemas.microsoft.com/office/drawing/2014/main" id="{76C74320-AAF6-E4EA-7A67-78A8D7B09C0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4917C9A-DFA0-9EDB-FB82-A46156678ADC}"/>
              </a:ext>
            </a:extLst>
          </p:cNvPr>
          <p:cNvSpPr/>
          <p:nvPr/>
        </p:nvSpPr>
        <p:spPr>
          <a:xfrm>
            <a:off x="-5534487" y="2457160"/>
            <a:ext cx="15232938" cy="14208177"/>
          </a:xfrm>
          <a:custGeom>
            <a:avLst/>
            <a:gdLst/>
            <a:ahLst/>
            <a:cxnLst/>
            <a:rect l="l" t="t" r="r" b="b"/>
            <a:pathLst>
              <a:path w="15232938" h="14208177">
                <a:moveTo>
                  <a:pt x="0" y="0"/>
                </a:moveTo>
                <a:lnTo>
                  <a:pt x="15232938" y="0"/>
                </a:lnTo>
                <a:lnTo>
                  <a:pt x="15232938" y="14208177"/>
                </a:lnTo>
                <a:lnTo>
                  <a:pt x="0" y="14208177"/>
                </a:lnTo>
                <a:lnTo>
                  <a:pt x="0" y="0"/>
                </a:lnTo>
                <a:close/>
              </a:path>
            </a:pathLst>
          </a:custGeom>
          <a:blipFill>
            <a:blip r:embed="rId2">
              <a:alphaModFix amt="15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a:p>
        </p:txBody>
      </p:sp>
      <p:sp>
        <p:nvSpPr>
          <p:cNvPr id="3" name="Freeform 3">
            <a:extLst>
              <a:ext uri="{FF2B5EF4-FFF2-40B4-BE49-F238E27FC236}">
                <a16:creationId xmlns:a16="http://schemas.microsoft.com/office/drawing/2014/main" id="{78ED82FF-4069-A2AC-CAA4-19214F872A27}"/>
              </a:ext>
            </a:extLst>
          </p:cNvPr>
          <p:cNvSpPr/>
          <p:nvPr/>
        </p:nvSpPr>
        <p:spPr>
          <a:xfrm>
            <a:off x="4977504" y="-4550685"/>
            <a:ext cx="15232938" cy="14208177"/>
          </a:xfrm>
          <a:custGeom>
            <a:avLst/>
            <a:gdLst/>
            <a:ahLst/>
            <a:cxnLst/>
            <a:rect l="l" t="t" r="r" b="b"/>
            <a:pathLst>
              <a:path w="15232938" h="14208177">
                <a:moveTo>
                  <a:pt x="0" y="0"/>
                </a:moveTo>
                <a:lnTo>
                  <a:pt x="15232938" y="0"/>
                </a:lnTo>
                <a:lnTo>
                  <a:pt x="15232938" y="14208177"/>
                </a:lnTo>
                <a:lnTo>
                  <a:pt x="0" y="14208177"/>
                </a:lnTo>
                <a:lnTo>
                  <a:pt x="0" y="0"/>
                </a:lnTo>
                <a:close/>
              </a:path>
            </a:pathLst>
          </a:custGeom>
          <a:blipFill>
            <a:blip r:embed="rId2">
              <a:alphaModFix amt="15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a:p>
        </p:txBody>
      </p:sp>
      <p:sp>
        <p:nvSpPr>
          <p:cNvPr id="4" name="TextBox 4">
            <a:extLst>
              <a:ext uri="{FF2B5EF4-FFF2-40B4-BE49-F238E27FC236}">
                <a16:creationId xmlns:a16="http://schemas.microsoft.com/office/drawing/2014/main" id="{3C38F234-41AB-921B-BE01-85F2DF9C9F67}"/>
              </a:ext>
            </a:extLst>
          </p:cNvPr>
          <p:cNvSpPr txBox="1"/>
          <p:nvPr/>
        </p:nvSpPr>
        <p:spPr>
          <a:xfrm>
            <a:off x="2106201" y="707109"/>
            <a:ext cx="7897609" cy="1327286"/>
          </a:xfrm>
          <a:prstGeom prst="rect">
            <a:avLst/>
          </a:prstGeom>
        </p:spPr>
        <p:txBody>
          <a:bodyPr lIns="0" tIns="0" rIns="0" bIns="0" rtlCol="0" anchor="t">
            <a:spAutoFit/>
          </a:bodyPr>
          <a:lstStyle/>
          <a:p>
            <a:pPr algn="l">
              <a:lnSpc>
                <a:spcPts val="9350"/>
              </a:lnSpc>
            </a:pPr>
            <a:r>
              <a:rPr lang="en-US" sz="11000" spc="-418" dirty="0">
                <a:solidFill>
                  <a:srgbClr val="3A8A91"/>
                </a:solidFill>
                <a:latin typeface="TT Fors"/>
                <a:ea typeface="TT Fors"/>
                <a:cs typeface="TT Fors"/>
                <a:sym typeface="TT Fors"/>
              </a:rPr>
              <a:t>Pestel</a:t>
            </a:r>
          </a:p>
        </p:txBody>
      </p:sp>
      <p:sp>
        <p:nvSpPr>
          <p:cNvPr id="5" name="Freeform 5">
            <a:extLst>
              <a:ext uri="{FF2B5EF4-FFF2-40B4-BE49-F238E27FC236}">
                <a16:creationId xmlns:a16="http://schemas.microsoft.com/office/drawing/2014/main" id="{A13FF8C4-D8A7-E1D8-3BB1-840ADB16CA89}"/>
              </a:ext>
            </a:extLst>
          </p:cNvPr>
          <p:cNvSpPr/>
          <p:nvPr/>
        </p:nvSpPr>
        <p:spPr>
          <a:xfrm>
            <a:off x="1569214" y="206467"/>
            <a:ext cx="614422" cy="702581"/>
          </a:xfrm>
          <a:custGeom>
            <a:avLst/>
            <a:gdLst/>
            <a:ahLst/>
            <a:cxnLst/>
            <a:rect l="l" t="t" r="r" b="b"/>
            <a:pathLst>
              <a:path w="7095472" h="8381174">
                <a:moveTo>
                  <a:pt x="0" y="0"/>
                </a:moveTo>
                <a:lnTo>
                  <a:pt x="7095472" y="0"/>
                </a:lnTo>
                <a:lnTo>
                  <a:pt x="7095472" y="8381174"/>
                </a:lnTo>
                <a:lnTo>
                  <a:pt x="0" y="838117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a:p>
        </p:txBody>
      </p:sp>
      <p:sp>
        <p:nvSpPr>
          <p:cNvPr id="10" name="TextBox 9">
            <a:extLst>
              <a:ext uri="{FF2B5EF4-FFF2-40B4-BE49-F238E27FC236}">
                <a16:creationId xmlns:a16="http://schemas.microsoft.com/office/drawing/2014/main" id="{0DF0D135-C2CC-06A8-977E-57E28E023748}"/>
              </a:ext>
            </a:extLst>
          </p:cNvPr>
          <p:cNvSpPr txBox="1"/>
          <p:nvPr/>
        </p:nvSpPr>
        <p:spPr>
          <a:xfrm>
            <a:off x="6324600" y="1480318"/>
            <a:ext cx="5105400" cy="523220"/>
          </a:xfrm>
          <a:prstGeom prst="rect">
            <a:avLst/>
          </a:prstGeom>
          <a:noFill/>
        </p:spPr>
        <p:txBody>
          <a:bodyPr wrap="square" rtlCol="0">
            <a:spAutoFit/>
          </a:bodyPr>
          <a:lstStyle/>
          <a:p>
            <a:r>
              <a:rPr lang="en-US" sz="2800" dirty="0">
                <a:solidFill>
                  <a:srgbClr val="3A8A91"/>
                </a:solidFill>
                <a:latin typeface="Arial Black" panose="020B0A04020102020204" pitchFamily="34" charset="0"/>
              </a:rPr>
              <a:t>Legal &gt;L</a:t>
            </a:r>
          </a:p>
        </p:txBody>
      </p:sp>
      <p:sp>
        <p:nvSpPr>
          <p:cNvPr id="9" name="Rectangle: Rounded Corners 8">
            <a:extLst>
              <a:ext uri="{FF2B5EF4-FFF2-40B4-BE49-F238E27FC236}">
                <a16:creationId xmlns:a16="http://schemas.microsoft.com/office/drawing/2014/main" id="{66DDC974-6BAF-F236-6A1D-C3EA9B181371}"/>
              </a:ext>
            </a:extLst>
          </p:cNvPr>
          <p:cNvSpPr/>
          <p:nvPr/>
        </p:nvSpPr>
        <p:spPr>
          <a:xfrm>
            <a:off x="421786" y="128866"/>
            <a:ext cx="17637613" cy="9815233"/>
          </a:xfrm>
          <a:prstGeom prst="roundRect">
            <a:avLst/>
          </a:prstGeom>
          <a:solidFill>
            <a:srgbClr val="3A8A91">
              <a:alpha val="1294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F14FB423-E913-B926-0C42-6E63607664DD}"/>
              </a:ext>
            </a:extLst>
          </p:cNvPr>
          <p:cNvSpPr txBox="1"/>
          <p:nvPr/>
        </p:nvSpPr>
        <p:spPr>
          <a:xfrm>
            <a:off x="650387" y="2041040"/>
            <a:ext cx="17637613" cy="8117094"/>
          </a:xfrm>
          <a:prstGeom prst="rect">
            <a:avLst/>
          </a:prstGeom>
          <a:noFill/>
        </p:spPr>
        <p:txBody>
          <a:bodyPr wrap="square" rtlCol="0">
            <a:spAutoFit/>
          </a:bodyPr>
          <a:lstStyle/>
          <a:p>
            <a:pPr marL="342900" marR="0" lvl="0" indent="-342900" rtl="0">
              <a:lnSpc>
                <a:spcPct val="115000"/>
              </a:lnSpc>
              <a:spcBef>
                <a:spcPts val="0"/>
              </a:spcBef>
              <a:spcAft>
                <a:spcPts val="0"/>
              </a:spcAft>
              <a:buFont typeface="Symbol" panose="05050102010706020507" pitchFamily="18" charset="2"/>
              <a:buChar char=""/>
            </a:pPr>
            <a:r>
              <a:rPr lang="en-US" sz="2400" b="1" kern="100" dirty="0">
                <a:solidFill>
                  <a:srgbClr val="428C7E"/>
                </a:solidFill>
                <a:effectLst/>
                <a:latin typeface="TT Fors" panose="020B0604020202020204" charset="0"/>
                <a:ea typeface="Aptos" panose="020B0004020202020204" pitchFamily="34" charset="0"/>
                <a:cs typeface="Arial" panose="020B0604020202020204" pitchFamily="34" charset="0"/>
              </a:rPr>
              <a:t>Consumer Protection Law No. 181 of 2018:</a:t>
            </a:r>
            <a:r>
              <a:rPr lang="en-US" sz="2400" kern="100" dirty="0">
                <a:solidFill>
                  <a:srgbClr val="428C7E"/>
                </a:solidFill>
                <a:effectLst/>
                <a:latin typeface="TT Fors" panose="020B0604020202020204" charset="0"/>
                <a:ea typeface="Aptos" panose="020B0004020202020204" pitchFamily="34" charset="0"/>
                <a:cs typeface="Arial" panose="020B0604020202020204" pitchFamily="34" charset="0"/>
              </a:rPr>
              <a:t> The website must comply with consumer protection regulations by providing accurate product information, transparent pricing, and clear advertising. The business must also establish defined return, refund, and complaint handling policies to protect customer rights and ensure legal compliance.</a:t>
            </a:r>
          </a:p>
          <a:p>
            <a:pPr marL="342900" marR="0" lvl="0" indent="-342900">
              <a:lnSpc>
                <a:spcPct val="115000"/>
              </a:lnSpc>
              <a:spcBef>
                <a:spcPts val="0"/>
              </a:spcBef>
              <a:spcAft>
                <a:spcPts val="0"/>
              </a:spcAft>
              <a:buFont typeface="Symbol" panose="05050102010706020507" pitchFamily="18" charset="2"/>
              <a:buChar char=""/>
            </a:pPr>
            <a:r>
              <a:rPr lang="en-US" sz="2400" b="1" kern="100" dirty="0">
                <a:solidFill>
                  <a:srgbClr val="428C7E"/>
                </a:solidFill>
                <a:effectLst/>
                <a:latin typeface="TT Fors" panose="020B0604020202020204" charset="0"/>
                <a:ea typeface="Aptos" panose="020B0004020202020204" pitchFamily="34" charset="0"/>
                <a:cs typeface="Arial" panose="020B0604020202020204" pitchFamily="34" charset="0"/>
              </a:rPr>
              <a:t>Intellectual Property Law No. 82 of 2002:</a:t>
            </a:r>
            <a:r>
              <a:rPr lang="en-US" sz="2400" kern="100" dirty="0">
                <a:solidFill>
                  <a:srgbClr val="428C7E"/>
                </a:solidFill>
                <a:effectLst/>
                <a:latin typeface="TT Fors" panose="020B0604020202020204" charset="0"/>
                <a:ea typeface="Aptos" panose="020B0004020202020204" pitchFamily="34" charset="0"/>
                <a:cs typeface="Arial" panose="020B0604020202020204" pitchFamily="34" charset="0"/>
              </a:rPr>
              <a:t> The platform will sell both locally manufactured and imported skincare and body care products. All products must be sourced from authorized suppliers to avoid counterfeit goods and trademark violations. This helps maintain brand authenticity and protects the business from legal penalties.</a:t>
            </a:r>
          </a:p>
          <a:p>
            <a:pPr marL="342900" marR="0" lvl="0" indent="-342900">
              <a:lnSpc>
                <a:spcPct val="115000"/>
              </a:lnSpc>
              <a:spcBef>
                <a:spcPts val="0"/>
              </a:spcBef>
              <a:spcAft>
                <a:spcPts val="0"/>
              </a:spcAft>
              <a:buFont typeface="Symbol" panose="05050102010706020507" pitchFamily="18" charset="2"/>
              <a:buChar char=""/>
            </a:pPr>
            <a:r>
              <a:rPr lang="en-US" sz="2400" b="1" kern="100" dirty="0">
                <a:solidFill>
                  <a:srgbClr val="428C7E"/>
                </a:solidFill>
                <a:effectLst/>
                <a:latin typeface="TT Fors" panose="020B0604020202020204" charset="0"/>
                <a:ea typeface="Aptos" panose="020B0004020202020204" pitchFamily="34" charset="0"/>
                <a:cs typeface="Arial" panose="020B0604020202020204" pitchFamily="34" charset="0"/>
              </a:rPr>
              <a:t>Egyptian Drug Authority Regulations (Law No. 151 of 2019):</a:t>
            </a:r>
            <a:r>
              <a:rPr lang="en-US" sz="2400" kern="100" dirty="0">
                <a:solidFill>
                  <a:srgbClr val="428C7E"/>
                </a:solidFill>
                <a:effectLst/>
                <a:latin typeface="TT Fors" panose="020B0604020202020204" charset="0"/>
                <a:ea typeface="Aptos" panose="020B0004020202020204" pitchFamily="34" charset="0"/>
                <a:cs typeface="Arial" panose="020B0604020202020204" pitchFamily="34" charset="0"/>
              </a:rPr>
              <a:t> All cosmetic and body care products offered on the website must be registered and approved by the Egyptian Drug Authority to ensure product safety, quality standards, and compliance with health regulations.</a:t>
            </a:r>
          </a:p>
          <a:p>
            <a:pPr marL="342900" marR="0" lvl="0" indent="-342900">
              <a:lnSpc>
                <a:spcPct val="115000"/>
              </a:lnSpc>
              <a:spcBef>
                <a:spcPts val="0"/>
              </a:spcBef>
              <a:spcAft>
                <a:spcPts val="0"/>
              </a:spcAft>
              <a:buFont typeface="Symbol" panose="05050102010706020507" pitchFamily="18" charset="2"/>
              <a:buChar char=""/>
            </a:pPr>
            <a:r>
              <a:rPr lang="en-US" sz="2400" b="1" kern="100" dirty="0">
                <a:solidFill>
                  <a:srgbClr val="428C7E"/>
                </a:solidFill>
                <a:effectLst/>
                <a:latin typeface="TT Fors" panose="020B0604020202020204" charset="0"/>
                <a:ea typeface="Aptos" panose="020B0004020202020204" pitchFamily="34" charset="0"/>
                <a:cs typeface="Arial" panose="020B0604020202020204" pitchFamily="34" charset="0"/>
              </a:rPr>
              <a:t>Value Added Tax 9 (Law No. 67 of 2016): </a:t>
            </a:r>
            <a:r>
              <a:rPr lang="en-US" sz="2400" kern="100" dirty="0">
                <a:solidFill>
                  <a:srgbClr val="428C7E"/>
                </a:solidFill>
                <a:effectLst/>
                <a:latin typeface="TT Fors" panose="020B0604020202020204" charset="0"/>
                <a:ea typeface="Aptos" panose="020B0004020202020204" pitchFamily="34" charset="0"/>
                <a:cs typeface="Arial" panose="020B0604020202020204" pitchFamily="34" charset="0"/>
              </a:rPr>
              <a:t>This law regulates the Value Added Tax (VAT) system in Egypt. All commercial businesses, including e-commerce platforms, must comply with VAT regulations. For the skincare and body care website, VAT may affect the final selling price of products, as tax costs may be added to product pricing.</a:t>
            </a:r>
          </a:p>
          <a:p>
            <a:pPr marL="342900" marR="0" lvl="0" indent="-342900">
              <a:lnSpc>
                <a:spcPct val="115000"/>
              </a:lnSpc>
              <a:spcBef>
                <a:spcPts val="0"/>
              </a:spcBef>
              <a:spcAft>
                <a:spcPts val="0"/>
              </a:spcAft>
              <a:buFont typeface="Symbol" panose="05050102010706020507" pitchFamily="18" charset="2"/>
              <a:buChar char=""/>
            </a:pPr>
            <a:r>
              <a:rPr lang="en-US" sz="2400" b="1" kern="100" dirty="0">
                <a:solidFill>
                  <a:srgbClr val="428C7E"/>
                </a:solidFill>
                <a:effectLst/>
                <a:latin typeface="TT Fors" panose="020B0604020202020204" charset="0"/>
                <a:ea typeface="Aptos" panose="020B0004020202020204" pitchFamily="34" charset="0"/>
                <a:cs typeface="Arial" panose="020B0604020202020204" pitchFamily="34" charset="0"/>
              </a:rPr>
              <a:t>Income Tax (Law No. 91 of 2005): </a:t>
            </a:r>
            <a:r>
              <a:rPr lang="en-US" sz="2400" kern="100" dirty="0">
                <a:solidFill>
                  <a:srgbClr val="428C7E"/>
                </a:solidFill>
                <a:effectLst/>
                <a:latin typeface="TT Fors" panose="020B0604020202020204" charset="0"/>
                <a:ea typeface="Aptos" panose="020B0004020202020204" pitchFamily="34" charset="0"/>
                <a:cs typeface="Arial" panose="020B0604020202020204" pitchFamily="34" charset="0"/>
              </a:rPr>
              <a:t>This law governs income tax on business profits in Egypt. The website must maintain accurate financial records of sales and expenses to ensure proper tax calculation and compliance with Egyptian tax authorities. Business profitability may be affected by taxation requirements.</a:t>
            </a:r>
          </a:p>
          <a:p>
            <a:pPr marL="342900" marR="0" lvl="0" indent="-342900">
              <a:lnSpc>
                <a:spcPct val="115000"/>
              </a:lnSpc>
              <a:spcBef>
                <a:spcPts val="0"/>
              </a:spcBef>
              <a:spcAft>
                <a:spcPts val="800"/>
              </a:spcAft>
              <a:buFont typeface="Symbol" panose="05050102010706020507" pitchFamily="18" charset="2"/>
              <a:buChar char=""/>
            </a:pPr>
            <a:r>
              <a:rPr lang="en-US" sz="2400" b="1" kern="100" dirty="0">
                <a:solidFill>
                  <a:srgbClr val="428C7E"/>
                </a:solidFill>
                <a:effectLst/>
                <a:latin typeface="TT Fors" panose="020B0604020202020204" charset="0"/>
                <a:ea typeface="Aptos" panose="020B0004020202020204" pitchFamily="34" charset="0"/>
                <a:cs typeface="Arial" panose="020B0604020202020204" pitchFamily="34" charset="0"/>
              </a:rPr>
              <a:t>Data Protection (Law No. 151 of 2020):</a:t>
            </a:r>
            <a:r>
              <a:rPr lang="en-US" sz="2400" kern="100" dirty="0">
                <a:solidFill>
                  <a:srgbClr val="428C7E"/>
                </a:solidFill>
                <a:effectLst/>
                <a:latin typeface="TT Fors" panose="020B0604020202020204" charset="0"/>
                <a:ea typeface="Aptos" panose="020B0004020202020204" pitchFamily="34" charset="0"/>
                <a:cs typeface="Arial" panose="020B0604020202020204" pitchFamily="34" charset="0"/>
              </a:rPr>
              <a:t> The website must ensure the protection of customer personal data, including contact information and payment details, by implementing secure data storage systems and encrypted online payment methods.</a:t>
            </a:r>
          </a:p>
          <a:p>
            <a:endParaRPr lang="en-US" dirty="0"/>
          </a:p>
        </p:txBody>
      </p:sp>
    </p:spTree>
    <p:extLst>
      <p:ext uri="{BB962C8B-B14F-4D97-AF65-F5344CB8AC3E}">
        <p14:creationId xmlns:p14="http://schemas.microsoft.com/office/powerpoint/2010/main" val="24665915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AF4F4"/>
        </a:solidFill>
        <a:effectLst/>
      </p:bgPr>
    </p:bg>
    <p:spTree>
      <p:nvGrpSpPr>
        <p:cNvPr id="1" name="">
          <a:extLst>
            <a:ext uri="{FF2B5EF4-FFF2-40B4-BE49-F238E27FC236}">
              <a16:creationId xmlns:a16="http://schemas.microsoft.com/office/drawing/2014/main" id="{B6EBE545-F6EF-AC05-77A3-5E205165DF6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9EE56A0-2954-C5FF-BAF2-C3019DCD5A13}"/>
              </a:ext>
            </a:extLst>
          </p:cNvPr>
          <p:cNvSpPr/>
          <p:nvPr/>
        </p:nvSpPr>
        <p:spPr>
          <a:xfrm rot="12521925">
            <a:off x="13536932" y="-3559895"/>
            <a:ext cx="7391400" cy="8110389"/>
          </a:xfrm>
          <a:custGeom>
            <a:avLst/>
            <a:gdLst/>
            <a:ahLst/>
            <a:cxnLst/>
            <a:rect l="l" t="t" r="r" b="b"/>
            <a:pathLst>
              <a:path w="17913444" h="17913444">
                <a:moveTo>
                  <a:pt x="0" y="0"/>
                </a:moveTo>
                <a:lnTo>
                  <a:pt x="17913444" y="0"/>
                </a:lnTo>
                <a:lnTo>
                  <a:pt x="17913444" y="17913444"/>
                </a:lnTo>
                <a:lnTo>
                  <a:pt x="0" y="17913444"/>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dirty="0"/>
          </a:p>
        </p:txBody>
      </p:sp>
      <p:sp>
        <p:nvSpPr>
          <p:cNvPr id="3" name="TextBox 3">
            <a:extLst>
              <a:ext uri="{FF2B5EF4-FFF2-40B4-BE49-F238E27FC236}">
                <a16:creationId xmlns:a16="http://schemas.microsoft.com/office/drawing/2014/main" id="{AFFBD005-0753-518F-02BD-30269B213C7D}"/>
              </a:ext>
            </a:extLst>
          </p:cNvPr>
          <p:cNvSpPr txBox="1"/>
          <p:nvPr/>
        </p:nvSpPr>
        <p:spPr>
          <a:xfrm>
            <a:off x="1676400" y="495299"/>
            <a:ext cx="8762999" cy="2532745"/>
          </a:xfrm>
          <a:prstGeom prst="rect">
            <a:avLst/>
          </a:prstGeom>
        </p:spPr>
        <p:txBody>
          <a:bodyPr wrap="square" lIns="0" tIns="0" rIns="0" bIns="0" rtlCol="0" anchor="t">
            <a:spAutoFit/>
          </a:bodyPr>
          <a:lstStyle/>
          <a:p>
            <a:pPr marL="0" lvl="0" indent="0" algn="l">
              <a:lnSpc>
                <a:spcPts val="9350"/>
              </a:lnSpc>
              <a:spcBef>
                <a:spcPct val="0"/>
              </a:spcBef>
            </a:pPr>
            <a:r>
              <a:rPr lang="en-US" sz="11000" spc="-418" dirty="0">
                <a:solidFill>
                  <a:srgbClr val="3A8A91"/>
                </a:solidFill>
                <a:latin typeface="TT Fors"/>
                <a:ea typeface="TT Fors"/>
                <a:cs typeface="TT Fors"/>
                <a:sym typeface="TT Fors"/>
              </a:rPr>
              <a:t>Marketing Research</a:t>
            </a:r>
            <a:endParaRPr lang="en-US" sz="11000" u="none" strike="noStrike" spc="-418" dirty="0">
              <a:solidFill>
                <a:srgbClr val="3A8A91"/>
              </a:solidFill>
              <a:latin typeface="TT Fors"/>
              <a:ea typeface="TT Fors"/>
              <a:cs typeface="TT Fors"/>
              <a:sym typeface="TT Fors"/>
            </a:endParaRPr>
          </a:p>
        </p:txBody>
      </p:sp>
      <p:sp>
        <p:nvSpPr>
          <p:cNvPr id="12" name="TextBox 11">
            <a:extLst>
              <a:ext uri="{FF2B5EF4-FFF2-40B4-BE49-F238E27FC236}">
                <a16:creationId xmlns:a16="http://schemas.microsoft.com/office/drawing/2014/main" id="{E6CFD14A-528B-0F47-3CC7-ED2399B5D2E5}"/>
              </a:ext>
            </a:extLst>
          </p:cNvPr>
          <p:cNvSpPr txBox="1"/>
          <p:nvPr/>
        </p:nvSpPr>
        <p:spPr>
          <a:xfrm>
            <a:off x="1523999" y="3500927"/>
            <a:ext cx="15240000" cy="369332"/>
          </a:xfrm>
          <a:prstGeom prst="rect">
            <a:avLst/>
          </a:prstGeom>
          <a:noFill/>
        </p:spPr>
        <p:txBody>
          <a:bodyPr wrap="square" rtlCol="0">
            <a:spAutoFit/>
          </a:bodyPr>
          <a:lstStyle/>
          <a:p>
            <a:r>
              <a:rPr lang="en-US" b="1" dirty="0">
                <a:solidFill>
                  <a:srgbClr val="428C7E"/>
                </a:solidFill>
                <a:latin typeface="Arial" panose="020B0604020202020204" pitchFamily="34" charset="0"/>
                <a:cs typeface="Arial" panose="020B0604020202020204" pitchFamily="34" charset="0"/>
              </a:rPr>
              <a:t>​</a:t>
            </a:r>
            <a:endParaRPr lang="en-US" dirty="0">
              <a:solidFill>
                <a:srgbClr val="428C7E"/>
              </a:solidFill>
              <a:latin typeface="Arial" panose="020B0604020202020204" pitchFamily="34" charset="0"/>
              <a:cs typeface="Arial" panose="020B0604020202020204" pitchFamily="34" charset="0"/>
            </a:endParaRPr>
          </a:p>
        </p:txBody>
      </p:sp>
      <p:sp>
        <p:nvSpPr>
          <p:cNvPr id="4" name="Rectangle: Rounded Corners 3">
            <a:extLst>
              <a:ext uri="{FF2B5EF4-FFF2-40B4-BE49-F238E27FC236}">
                <a16:creationId xmlns:a16="http://schemas.microsoft.com/office/drawing/2014/main" id="{2FAE8D79-50EA-DB1C-CE73-0CFB51CFF53E}"/>
              </a:ext>
            </a:extLst>
          </p:cNvPr>
          <p:cNvSpPr/>
          <p:nvPr/>
        </p:nvSpPr>
        <p:spPr>
          <a:xfrm>
            <a:off x="1523999" y="2628900"/>
            <a:ext cx="15674339" cy="7162801"/>
          </a:xfrm>
          <a:prstGeom prst="roundRect">
            <a:avLst/>
          </a:prstGeom>
          <a:solidFill>
            <a:srgbClr val="FD883D">
              <a:alpha val="1215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200" b="1" u="sng" dirty="0">
                <a:solidFill>
                  <a:srgbClr val="428C7E"/>
                </a:solidFill>
                <a:latin typeface="TT Fors" panose="020B0604020202020204" charset="0"/>
                <a:cs typeface="Arial" panose="020B0604020202020204" pitchFamily="34" charset="0"/>
              </a:rPr>
              <a:t>1. Why do customers buy from Luka Store?</a:t>
            </a:r>
          </a:p>
          <a:p>
            <a:pPr lvl="1"/>
            <a:r>
              <a:rPr lang="en-US" sz="3200" dirty="0">
                <a:solidFill>
                  <a:srgbClr val="428C7E"/>
                </a:solidFill>
                <a:latin typeface="TT Fors" panose="020B0604020202020204" charset="0"/>
                <a:cs typeface="Arial" panose="020B0604020202020204" pitchFamily="34" charset="0"/>
              </a:rPr>
              <a:t>​The customer isn’t just purchasing a cream or a cleanser;</a:t>
            </a:r>
          </a:p>
          <a:p>
            <a:pPr lvl="1"/>
            <a:r>
              <a:rPr lang="en-US" sz="3200" dirty="0">
                <a:solidFill>
                  <a:srgbClr val="428C7E"/>
                </a:solidFill>
                <a:latin typeface="TT Fors" panose="020B0604020202020204" charset="0"/>
                <a:cs typeface="Arial" panose="020B0604020202020204" pitchFamily="34" charset="0"/>
              </a:rPr>
              <a:t> they are buying:</a:t>
            </a:r>
          </a:p>
          <a:p>
            <a:r>
              <a:rPr lang="en-US" sz="3200" b="1" dirty="0">
                <a:solidFill>
                  <a:srgbClr val="428C7E"/>
                </a:solidFill>
                <a:latin typeface="TT Fors" panose="020B0604020202020204" charset="0"/>
                <a:cs typeface="Arial" panose="020B0604020202020204" pitchFamily="34" charset="0"/>
              </a:rPr>
              <a:t>1-​Trust and Safety: </a:t>
            </a:r>
            <a:r>
              <a:rPr lang="en-US" sz="3200" dirty="0">
                <a:solidFill>
                  <a:srgbClr val="428C7E"/>
                </a:solidFill>
                <a:latin typeface="TT Fors" panose="020B0604020202020204" charset="0"/>
                <a:cs typeface="Arial" panose="020B0604020202020204" pitchFamily="34" charset="0"/>
              </a:rPr>
              <a:t>Customers choose Luka because they trust the products are 100% authentic and not counterfeit, a powerful motivator in today’s cosmetics market.</a:t>
            </a:r>
          </a:p>
          <a:p>
            <a:r>
              <a:rPr lang="en-US" sz="3200" b="1" dirty="0">
                <a:solidFill>
                  <a:srgbClr val="428C7E"/>
                </a:solidFill>
                <a:latin typeface="TT Fors" panose="020B0604020202020204" charset="0"/>
                <a:cs typeface="Arial" panose="020B0604020202020204" pitchFamily="34" charset="0"/>
              </a:rPr>
              <a:t>2-​Value for Money: </a:t>
            </a:r>
            <a:r>
              <a:rPr lang="en-US" sz="3200" dirty="0">
                <a:solidFill>
                  <a:srgbClr val="428C7E"/>
                </a:solidFill>
                <a:latin typeface="TT Fors" panose="020B0604020202020204" charset="0"/>
                <a:cs typeface="Arial" panose="020B0604020202020204" pitchFamily="34" charset="0"/>
              </a:rPr>
              <a:t>Customers seek the results of expensive global brands through more affordable yet effective alternatives (Dupes).</a:t>
            </a:r>
          </a:p>
          <a:p>
            <a:r>
              <a:rPr lang="en-US" sz="3200" b="1" dirty="0">
                <a:solidFill>
                  <a:srgbClr val="428C7E"/>
                </a:solidFill>
                <a:latin typeface="TT Fors" panose="020B0604020202020204" charset="0"/>
                <a:cs typeface="Arial" panose="020B0604020202020204" pitchFamily="34" charset="0"/>
              </a:rPr>
              <a:t>3-​The Gift Factor: </a:t>
            </a:r>
            <a:r>
              <a:rPr lang="en-US" sz="3200" dirty="0">
                <a:solidFill>
                  <a:srgbClr val="428C7E"/>
                </a:solidFill>
                <a:latin typeface="TT Fors" panose="020B0604020202020204" charset="0"/>
                <a:cs typeface="Arial" panose="020B0604020202020204" pitchFamily="34" charset="0"/>
              </a:rPr>
              <a:t>Small, thoughtful gifts create a strong incentive for repeat purchases by making the customer feel truly appreciated.</a:t>
            </a:r>
          </a:p>
          <a:p>
            <a:r>
              <a:rPr lang="en-US" sz="3200" b="1" dirty="0">
                <a:solidFill>
                  <a:srgbClr val="428C7E"/>
                </a:solidFill>
                <a:latin typeface="TT Fors" panose="020B0604020202020204" charset="0"/>
                <a:cs typeface="Arial" panose="020B0604020202020204" pitchFamily="34" charset="0"/>
              </a:rPr>
              <a:t>4-​Personalized Attention: </a:t>
            </a:r>
            <a:r>
              <a:rPr lang="en-US" sz="3200" dirty="0">
                <a:solidFill>
                  <a:srgbClr val="428C7E"/>
                </a:solidFill>
                <a:latin typeface="TT Fors" panose="020B0604020202020204" charset="0"/>
                <a:cs typeface="Arial" panose="020B0604020202020204" pitchFamily="34" charset="0"/>
              </a:rPr>
              <a:t>Customers specifically shop at Luka because they find someone to provide expert advice, follow up with them, and fulfill their specific requests by name.</a:t>
            </a:r>
          </a:p>
          <a:p>
            <a:endParaRPr lang="en-US" dirty="0">
              <a:solidFill>
                <a:srgbClr val="428C7E"/>
              </a:solidFill>
              <a:latin typeface="Arial Black" panose="020B0A04020102020204" pitchFamily="34" charset="0"/>
            </a:endParaRPr>
          </a:p>
        </p:txBody>
      </p:sp>
    </p:spTree>
    <p:extLst>
      <p:ext uri="{BB962C8B-B14F-4D97-AF65-F5344CB8AC3E}">
        <p14:creationId xmlns:p14="http://schemas.microsoft.com/office/powerpoint/2010/main" val="29394945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AF4F4"/>
        </a:solidFill>
        <a:effectLst/>
      </p:bgPr>
    </p:bg>
    <p:spTree>
      <p:nvGrpSpPr>
        <p:cNvPr id="1" name="">
          <a:extLst>
            <a:ext uri="{FF2B5EF4-FFF2-40B4-BE49-F238E27FC236}">
              <a16:creationId xmlns:a16="http://schemas.microsoft.com/office/drawing/2014/main" id="{29BA0961-B9E8-D500-613F-9DA960AC85B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33D6C05-BF6E-4B2F-2DE7-E17E51CC97C3}"/>
              </a:ext>
            </a:extLst>
          </p:cNvPr>
          <p:cNvSpPr/>
          <p:nvPr/>
        </p:nvSpPr>
        <p:spPr>
          <a:xfrm rot="12521925">
            <a:off x="13536932" y="-3559895"/>
            <a:ext cx="7391400" cy="8110389"/>
          </a:xfrm>
          <a:custGeom>
            <a:avLst/>
            <a:gdLst/>
            <a:ahLst/>
            <a:cxnLst/>
            <a:rect l="l" t="t" r="r" b="b"/>
            <a:pathLst>
              <a:path w="17913444" h="17913444">
                <a:moveTo>
                  <a:pt x="0" y="0"/>
                </a:moveTo>
                <a:lnTo>
                  <a:pt x="17913444" y="0"/>
                </a:lnTo>
                <a:lnTo>
                  <a:pt x="17913444" y="17913444"/>
                </a:lnTo>
                <a:lnTo>
                  <a:pt x="0" y="17913444"/>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dirty="0"/>
          </a:p>
        </p:txBody>
      </p:sp>
      <p:sp>
        <p:nvSpPr>
          <p:cNvPr id="3" name="TextBox 3">
            <a:extLst>
              <a:ext uri="{FF2B5EF4-FFF2-40B4-BE49-F238E27FC236}">
                <a16:creationId xmlns:a16="http://schemas.microsoft.com/office/drawing/2014/main" id="{95ECCC6E-D069-60CB-A7C6-EC46C322B7AE}"/>
              </a:ext>
            </a:extLst>
          </p:cNvPr>
          <p:cNvSpPr txBox="1"/>
          <p:nvPr/>
        </p:nvSpPr>
        <p:spPr>
          <a:xfrm>
            <a:off x="1676400" y="495299"/>
            <a:ext cx="8762999" cy="2532745"/>
          </a:xfrm>
          <a:prstGeom prst="rect">
            <a:avLst/>
          </a:prstGeom>
        </p:spPr>
        <p:txBody>
          <a:bodyPr wrap="square" lIns="0" tIns="0" rIns="0" bIns="0" rtlCol="0" anchor="t">
            <a:spAutoFit/>
          </a:bodyPr>
          <a:lstStyle/>
          <a:p>
            <a:pPr marL="0" lvl="0" indent="0" algn="l">
              <a:lnSpc>
                <a:spcPts val="9350"/>
              </a:lnSpc>
              <a:spcBef>
                <a:spcPct val="0"/>
              </a:spcBef>
            </a:pPr>
            <a:r>
              <a:rPr lang="en-US" sz="11000" spc="-418" dirty="0">
                <a:solidFill>
                  <a:srgbClr val="3A8A91"/>
                </a:solidFill>
                <a:latin typeface="TT Fors"/>
                <a:ea typeface="TT Fors"/>
                <a:cs typeface="TT Fors"/>
                <a:sym typeface="TT Fors"/>
              </a:rPr>
              <a:t>Marketing Research</a:t>
            </a:r>
            <a:endParaRPr lang="en-US" sz="11000" u="none" strike="noStrike" spc="-418" dirty="0">
              <a:solidFill>
                <a:srgbClr val="3A8A91"/>
              </a:solidFill>
              <a:latin typeface="TT Fors"/>
              <a:ea typeface="TT Fors"/>
              <a:cs typeface="TT Fors"/>
              <a:sym typeface="TT Fors"/>
            </a:endParaRPr>
          </a:p>
        </p:txBody>
      </p:sp>
      <p:sp>
        <p:nvSpPr>
          <p:cNvPr id="12" name="TextBox 11">
            <a:extLst>
              <a:ext uri="{FF2B5EF4-FFF2-40B4-BE49-F238E27FC236}">
                <a16:creationId xmlns:a16="http://schemas.microsoft.com/office/drawing/2014/main" id="{42532FB0-B4DA-2647-C361-E95955B11C23}"/>
              </a:ext>
            </a:extLst>
          </p:cNvPr>
          <p:cNvSpPr txBox="1"/>
          <p:nvPr/>
        </p:nvSpPr>
        <p:spPr>
          <a:xfrm>
            <a:off x="1523999" y="3500927"/>
            <a:ext cx="15240000" cy="369332"/>
          </a:xfrm>
          <a:prstGeom prst="rect">
            <a:avLst/>
          </a:prstGeom>
          <a:noFill/>
        </p:spPr>
        <p:txBody>
          <a:bodyPr wrap="square" rtlCol="0">
            <a:spAutoFit/>
          </a:bodyPr>
          <a:lstStyle/>
          <a:p>
            <a:r>
              <a:rPr lang="en-US" b="1" dirty="0">
                <a:solidFill>
                  <a:srgbClr val="428C7E"/>
                </a:solidFill>
                <a:latin typeface="Arial" panose="020B0604020202020204" pitchFamily="34" charset="0"/>
                <a:cs typeface="Arial" panose="020B0604020202020204" pitchFamily="34" charset="0"/>
              </a:rPr>
              <a:t>​</a:t>
            </a:r>
            <a:endParaRPr lang="en-US" dirty="0">
              <a:solidFill>
                <a:srgbClr val="428C7E"/>
              </a:solidFill>
              <a:latin typeface="Arial" panose="020B0604020202020204" pitchFamily="34" charset="0"/>
              <a:cs typeface="Arial" panose="020B0604020202020204" pitchFamily="34" charset="0"/>
            </a:endParaRPr>
          </a:p>
        </p:txBody>
      </p:sp>
      <p:sp>
        <p:nvSpPr>
          <p:cNvPr id="6" name="Rectangle: Rounded Corners 5">
            <a:extLst>
              <a:ext uri="{FF2B5EF4-FFF2-40B4-BE49-F238E27FC236}">
                <a16:creationId xmlns:a16="http://schemas.microsoft.com/office/drawing/2014/main" id="{4E1558A7-82DC-D30D-4DA3-3889A44F4EE3}"/>
              </a:ext>
            </a:extLst>
          </p:cNvPr>
          <p:cNvSpPr/>
          <p:nvPr/>
        </p:nvSpPr>
        <p:spPr>
          <a:xfrm>
            <a:off x="1306829" y="2778327"/>
            <a:ext cx="15674339" cy="7062244"/>
          </a:xfrm>
          <a:prstGeom prst="roundRect">
            <a:avLst/>
          </a:prstGeom>
          <a:solidFill>
            <a:srgbClr val="FD883D">
              <a:alpha val="1215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b="1" u="sng" dirty="0">
                <a:solidFill>
                  <a:srgbClr val="428C7E"/>
                </a:solidFill>
                <a:latin typeface="TT Fors" panose="020B0604020202020204" charset="0"/>
              </a:rPr>
              <a:t>2. Where do customers buy?(Channels)​</a:t>
            </a:r>
          </a:p>
          <a:p>
            <a:r>
              <a:rPr lang="en-US" sz="3600" dirty="0">
                <a:solidFill>
                  <a:srgbClr val="428C7E"/>
                </a:solidFill>
                <a:latin typeface="TT Fors" panose="020B0604020202020204" charset="0"/>
              </a:rPr>
              <a:t>Based on the data, customers prefer purchasing through:</a:t>
            </a:r>
          </a:p>
          <a:p>
            <a:r>
              <a:rPr lang="en-US" sz="3600" b="1" dirty="0">
                <a:solidFill>
                  <a:srgbClr val="428C7E"/>
                </a:solidFill>
                <a:latin typeface="TT Fors" panose="020B0604020202020204" charset="0"/>
              </a:rPr>
              <a:t>1-​WhatsApp: </a:t>
            </a:r>
            <a:r>
              <a:rPr lang="en-US" sz="3600" dirty="0">
                <a:solidFill>
                  <a:srgbClr val="428C7E"/>
                </a:solidFill>
                <a:latin typeface="TT Fors" panose="020B0604020202020204" charset="0"/>
              </a:rPr>
              <a:t>The primary and essential channel for verifying details and placing direct orders.</a:t>
            </a:r>
          </a:p>
          <a:p>
            <a:r>
              <a:rPr lang="en-US" sz="3600" b="1" dirty="0">
                <a:solidFill>
                  <a:srgbClr val="428C7E"/>
                </a:solidFill>
                <a:latin typeface="TT Fors" panose="020B0604020202020204" charset="0"/>
              </a:rPr>
              <a:t>2-​Instagram: </a:t>
            </a:r>
            <a:r>
              <a:rPr lang="en-US" sz="3600" dirty="0">
                <a:solidFill>
                  <a:srgbClr val="428C7E"/>
                </a:solidFill>
                <a:latin typeface="TT Fors" panose="020B0604020202020204" charset="0"/>
              </a:rPr>
              <a:t>Used for discovering new products and checking customer reviews via Highlights.</a:t>
            </a:r>
          </a:p>
          <a:p>
            <a:r>
              <a:rPr lang="en-US" sz="3600" b="1" dirty="0">
                <a:solidFill>
                  <a:srgbClr val="428C7E"/>
                </a:solidFill>
                <a:latin typeface="TT Fors" panose="020B0604020202020204" charset="0"/>
              </a:rPr>
              <a:t>3-​Website: </a:t>
            </a:r>
            <a:r>
              <a:rPr lang="en-US" sz="3600" dirty="0">
                <a:solidFill>
                  <a:srgbClr val="428C7E"/>
                </a:solidFill>
                <a:latin typeface="TT Fors" panose="020B0604020202020204" charset="0"/>
              </a:rPr>
              <a:t>For customers who prefer a fast ordering process and browsing the full catalog.</a:t>
            </a:r>
          </a:p>
          <a:p>
            <a:r>
              <a:rPr lang="en-US" sz="3600" b="1" dirty="0">
                <a:solidFill>
                  <a:srgbClr val="428C7E"/>
                </a:solidFill>
                <a:latin typeface="TT Fors" panose="020B0604020202020204" charset="0"/>
              </a:rPr>
              <a:t>4-​TikTok: </a:t>
            </a:r>
            <a:r>
              <a:rPr lang="en-US" sz="3600" dirty="0">
                <a:solidFill>
                  <a:srgbClr val="428C7E"/>
                </a:solidFill>
                <a:latin typeface="TT Fors" panose="020B0604020202020204" charset="0"/>
              </a:rPr>
              <a:t>To stay updated on exclusive offers and catch up on previous deals.</a:t>
            </a:r>
          </a:p>
        </p:txBody>
      </p:sp>
    </p:spTree>
    <p:extLst>
      <p:ext uri="{BB962C8B-B14F-4D97-AF65-F5344CB8AC3E}">
        <p14:creationId xmlns:p14="http://schemas.microsoft.com/office/powerpoint/2010/main" val="17442712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AF4F4"/>
        </a:solidFill>
        <a:effectLst/>
      </p:bgPr>
    </p:bg>
    <p:spTree>
      <p:nvGrpSpPr>
        <p:cNvPr id="1" name="">
          <a:extLst>
            <a:ext uri="{FF2B5EF4-FFF2-40B4-BE49-F238E27FC236}">
              <a16:creationId xmlns:a16="http://schemas.microsoft.com/office/drawing/2014/main" id="{FF9EFF48-FA7C-A6E5-E1E1-B2F4AF6581A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57A2F6B-FBF9-ABE5-EAF5-7D9064193ED1}"/>
              </a:ext>
            </a:extLst>
          </p:cNvPr>
          <p:cNvSpPr/>
          <p:nvPr/>
        </p:nvSpPr>
        <p:spPr>
          <a:xfrm rot="12521925">
            <a:off x="13536932" y="-3559895"/>
            <a:ext cx="7391400" cy="8110389"/>
          </a:xfrm>
          <a:custGeom>
            <a:avLst/>
            <a:gdLst/>
            <a:ahLst/>
            <a:cxnLst/>
            <a:rect l="l" t="t" r="r" b="b"/>
            <a:pathLst>
              <a:path w="17913444" h="17913444">
                <a:moveTo>
                  <a:pt x="0" y="0"/>
                </a:moveTo>
                <a:lnTo>
                  <a:pt x="17913444" y="0"/>
                </a:lnTo>
                <a:lnTo>
                  <a:pt x="17913444" y="17913444"/>
                </a:lnTo>
                <a:lnTo>
                  <a:pt x="0" y="17913444"/>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dirty="0"/>
          </a:p>
        </p:txBody>
      </p:sp>
      <p:sp>
        <p:nvSpPr>
          <p:cNvPr id="3" name="TextBox 3">
            <a:extLst>
              <a:ext uri="{FF2B5EF4-FFF2-40B4-BE49-F238E27FC236}">
                <a16:creationId xmlns:a16="http://schemas.microsoft.com/office/drawing/2014/main" id="{5B8B8C93-DB45-2BA5-EE0E-5AC99D09467A}"/>
              </a:ext>
            </a:extLst>
          </p:cNvPr>
          <p:cNvSpPr txBox="1"/>
          <p:nvPr/>
        </p:nvSpPr>
        <p:spPr>
          <a:xfrm>
            <a:off x="1676400" y="495299"/>
            <a:ext cx="8762999" cy="2532745"/>
          </a:xfrm>
          <a:prstGeom prst="rect">
            <a:avLst/>
          </a:prstGeom>
        </p:spPr>
        <p:txBody>
          <a:bodyPr wrap="square" lIns="0" tIns="0" rIns="0" bIns="0" rtlCol="0" anchor="t">
            <a:spAutoFit/>
          </a:bodyPr>
          <a:lstStyle/>
          <a:p>
            <a:pPr marL="0" lvl="0" indent="0" algn="l">
              <a:lnSpc>
                <a:spcPts val="9350"/>
              </a:lnSpc>
              <a:spcBef>
                <a:spcPct val="0"/>
              </a:spcBef>
            </a:pPr>
            <a:r>
              <a:rPr lang="en-US" sz="11000" spc="-418" dirty="0">
                <a:solidFill>
                  <a:srgbClr val="3A8A91"/>
                </a:solidFill>
                <a:latin typeface="TT Fors"/>
                <a:ea typeface="TT Fors"/>
                <a:cs typeface="TT Fors"/>
                <a:sym typeface="TT Fors"/>
              </a:rPr>
              <a:t>Marketing Research</a:t>
            </a:r>
            <a:endParaRPr lang="en-US" sz="11000" u="none" strike="noStrike" spc="-418" dirty="0">
              <a:solidFill>
                <a:srgbClr val="3A8A91"/>
              </a:solidFill>
              <a:latin typeface="TT Fors"/>
              <a:ea typeface="TT Fors"/>
              <a:cs typeface="TT Fors"/>
              <a:sym typeface="TT Fors"/>
            </a:endParaRPr>
          </a:p>
        </p:txBody>
      </p:sp>
      <p:sp>
        <p:nvSpPr>
          <p:cNvPr id="12" name="TextBox 11">
            <a:extLst>
              <a:ext uri="{FF2B5EF4-FFF2-40B4-BE49-F238E27FC236}">
                <a16:creationId xmlns:a16="http://schemas.microsoft.com/office/drawing/2014/main" id="{E526BEBF-E61E-E64C-B5B0-AD8516305660}"/>
              </a:ext>
            </a:extLst>
          </p:cNvPr>
          <p:cNvSpPr txBox="1"/>
          <p:nvPr/>
        </p:nvSpPr>
        <p:spPr>
          <a:xfrm>
            <a:off x="1523999" y="3500927"/>
            <a:ext cx="15240000" cy="369332"/>
          </a:xfrm>
          <a:prstGeom prst="rect">
            <a:avLst/>
          </a:prstGeom>
          <a:noFill/>
        </p:spPr>
        <p:txBody>
          <a:bodyPr wrap="square" rtlCol="0">
            <a:spAutoFit/>
          </a:bodyPr>
          <a:lstStyle/>
          <a:p>
            <a:r>
              <a:rPr lang="en-US" b="1" dirty="0">
                <a:solidFill>
                  <a:srgbClr val="428C7E"/>
                </a:solidFill>
                <a:latin typeface="Arial" panose="020B0604020202020204" pitchFamily="34" charset="0"/>
                <a:cs typeface="Arial" panose="020B0604020202020204" pitchFamily="34" charset="0"/>
              </a:rPr>
              <a:t>​</a:t>
            </a:r>
            <a:endParaRPr lang="en-US" dirty="0">
              <a:solidFill>
                <a:srgbClr val="428C7E"/>
              </a:solidFill>
              <a:latin typeface="Arial" panose="020B0604020202020204" pitchFamily="34" charset="0"/>
              <a:cs typeface="Arial" panose="020B0604020202020204" pitchFamily="34" charset="0"/>
            </a:endParaRPr>
          </a:p>
        </p:txBody>
      </p:sp>
      <p:sp>
        <p:nvSpPr>
          <p:cNvPr id="4" name="Rectangle: Rounded Corners 3">
            <a:extLst>
              <a:ext uri="{FF2B5EF4-FFF2-40B4-BE49-F238E27FC236}">
                <a16:creationId xmlns:a16="http://schemas.microsoft.com/office/drawing/2014/main" id="{095A5FC7-F4CB-65CB-10B2-BC3D363F578C}"/>
              </a:ext>
            </a:extLst>
          </p:cNvPr>
          <p:cNvSpPr/>
          <p:nvPr/>
        </p:nvSpPr>
        <p:spPr>
          <a:xfrm>
            <a:off x="1079827" y="2740381"/>
            <a:ext cx="15674339" cy="7051319"/>
          </a:xfrm>
          <a:prstGeom prst="roundRect">
            <a:avLst/>
          </a:prstGeom>
          <a:solidFill>
            <a:srgbClr val="FD883D">
              <a:alpha val="1215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b="1" u="sng" dirty="0">
                <a:solidFill>
                  <a:srgbClr val="428C7E"/>
                </a:solidFill>
                <a:latin typeface="TT Fors" panose="020B0604020202020204" charset="0"/>
              </a:rPr>
              <a:t>3. What influences the purchasing decision? (Influencers)</a:t>
            </a:r>
          </a:p>
          <a:p>
            <a:r>
              <a:rPr lang="en-US" sz="2800" b="1" dirty="0">
                <a:solidFill>
                  <a:srgbClr val="428C7E"/>
                </a:solidFill>
                <a:latin typeface="TT Fors" panose="020B0604020202020204" charset="0"/>
              </a:rPr>
              <a:t>1-​Reviews (Social Proof): </a:t>
            </a:r>
            <a:r>
              <a:rPr lang="en-US" sz="2800" dirty="0">
                <a:solidFill>
                  <a:srgbClr val="428C7E"/>
                </a:solidFill>
                <a:latin typeface="TT Fors" panose="020B0604020202020204" charset="0"/>
              </a:rPr>
              <a:t>Purchasing decisions are often made instantly upon seeing real experiences from other customers praising product quality or service excellence. Customers seek "proof" to feel secure before spending.</a:t>
            </a:r>
          </a:p>
          <a:p>
            <a:endParaRPr lang="en-US" sz="2800" dirty="0">
              <a:solidFill>
                <a:srgbClr val="428C7E"/>
              </a:solidFill>
              <a:latin typeface="TT Fors" panose="020B0604020202020204" charset="0"/>
            </a:endParaRPr>
          </a:p>
          <a:p>
            <a:r>
              <a:rPr lang="en-US" sz="2800" b="1" dirty="0">
                <a:solidFill>
                  <a:srgbClr val="428C7E"/>
                </a:solidFill>
                <a:latin typeface="TT Fors" panose="020B0604020202020204" charset="0"/>
              </a:rPr>
              <a:t>2-​Packaging Quality: </a:t>
            </a:r>
            <a:r>
              <a:rPr lang="en-US" sz="2800" dirty="0">
                <a:solidFill>
                  <a:srgbClr val="428C7E"/>
                </a:solidFill>
                <a:latin typeface="TT Fors" panose="020B0604020202020204" charset="0"/>
              </a:rPr>
              <a:t>Attention to packaging and ensuring the product is "securely sealed" are decisive factors. A customer commits to a purchase when they feel confident about product safety and professional shipping.</a:t>
            </a:r>
          </a:p>
          <a:p>
            <a:endParaRPr lang="en-US" sz="2800" dirty="0">
              <a:solidFill>
                <a:srgbClr val="428C7E"/>
              </a:solidFill>
              <a:latin typeface="TT Fors" panose="020B0604020202020204" charset="0"/>
            </a:endParaRPr>
          </a:p>
          <a:p>
            <a:r>
              <a:rPr lang="en-US" sz="2800" b="1" dirty="0">
                <a:solidFill>
                  <a:srgbClr val="428C7E"/>
                </a:solidFill>
                <a:latin typeface="TT Fors" panose="020B0604020202020204" charset="0"/>
              </a:rPr>
              <a:t>3-​Word of Mouth: </a:t>
            </a:r>
            <a:r>
              <a:rPr lang="en-US" sz="2800" dirty="0">
                <a:solidFill>
                  <a:srgbClr val="428C7E"/>
                </a:solidFill>
                <a:latin typeface="TT Fors" panose="020B0604020202020204" charset="0"/>
              </a:rPr>
              <a:t>A recommendation from a friend or relative is the strongest driver of sales. It builds immediate trust that outshines any paid advertisement because it stems from a trusted personal experience.</a:t>
            </a:r>
          </a:p>
          <a:p>
            <a:endParaRPr lang="en-US" sz="2800" dirty="0">
              <a:solidFill>
                <a:srgbClr val="428C7E"/>
              </a:solidFill>
              <a:latin typeface="TT Fors" panose="020B0604020202020204" charset="0"/>
            </a:endParaRPr>
          </a:p>
          <a:p>
            <a:r>
              <a:rPr lang="en-US" sz="2800" b="1" dirty="0">
                <a:solidFill>
                  <a:srgbClr val="428C7E"/>
                </a:solidFill>
                <a:latin typeface="TT Fors" panose="020B0604020202020204" charset="0"/>
              </a:rPr>
              <a:t>4-​Exclusive Offers and Discounts: </a:t>
            </a:r>
            <a:r>
              <a:rPr lang="en-US" sz="2800" dirty="0">
                <a:solidFill>
                  <a:srgbClr val="428C7E"/>
                </a:solidFill>
                <a:latin typeface="TT Fors" panose="020B0604020202020204" charset="0"/>
              </a:rPr>
              <a:t>Announcing significant discounts for a limited time creates a sense of FOMO (Fear Of Missing Out), prompting customers to make quick buying decisions to secure the deal before it expires.</a:t>
            </a:r>
            <a:endParaRPr lang="en-US" sz="2800" dirty="0">
              <a:solidFill>
                <a:srgbClr val="428C7E"/>
              </a:solidFill>
              <a:latin typeface="Arial Black" panose="020B0A04020102020204" pitchFamily="34" charset="0"/>
            </a:endParaRPr>
          </a:p>
        </p:txBody>
      </p:sp>
    </p:spTree>
    <p:extLst>
      <p:ext uri="{BB962C8B-B14F-4D97-AF65-F5344CB8AC3E}">
        <p14:creationId xmlns:p14="http://schemas.microsoft.com/office/powerpoint/2010/main" val="27743621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AF4F4"/>
        </a:solidFill>
        <a:effectLst/>
      </p:bgPr>
    </p:bg>
    <p:spTree>
      <p:nvGrpSpPr>
        <p:cNvPr id="1" name=""/>
        <p:cNvGrpSpPr/>
        <p:nvPr/>
      </p:nvGrpSpPr>
      <p:grpSpPr>
        <a:xfrm>
          <a:off x="0" y="0"/>
          <a:ext cx="0" cy="0"/>
          <a:chOff x="0" y="0"/>
          <a:chExt cx="0" cy="0"/>
        </a:xfrm>
      </p:grpSpPr>
      <p:sp>
        <p:nvSpPr>
          <p:cNvPr id="2" name="TextBox 2"/>
          <p:cNvSpPr txBox="1"/>
          <p:nvPr/>
        </p:nvSpPr>
        <p:spPr>
          <a:xfrm>
            <a:off x="304800" y="676610"/>
            <a:ext cx="8115300" cy="2532745"/>
          </a:xfrm>
          <a:prstGeom prst="rect">
            <a:avLst/>
          </a:prstGeom>
        </p:spPr>
        <p:txBody>
          <a:bodyPr lIns="0" tIns="0" rIns="0" bIns="0" rtlCol="0" anchor="t">
            <a:spAutoFit/>
          </a:bodyPr>
          <a:lstStyle/>
          <a:p>
            <a:pPr algn="l">
              <a:lnSpc>
                <a:spcPts val="9350"/>
              </a:lnSpc>
            </a:pPr>
            <a:r>
              <a:rPr lang="en-US" sz="11000" spc="-418" dirty="0">
                <a:solidFill>
                  <a:srgbClr val="3A8A91"/>
                </a:solidFill>
                <a:latin typeface="TT Fors"/>
                <a:ea typeface="TT Fors"/>
                <a:cs typeface="TT Fors"/>
                <a:sym typeface="TT Fors"/>
              </a:rPr>
              <a:t>Competitor Analysis</a:t>
            </a:r>
          </a:p>
        </p:txBody>
      </p:sp>
      <p:sp>
        <p:nvSpPr>
          <p:cNvPr id="7" name="Freeform 7"/>
          <p:cNvSpPr/>
          <p:nvPr/>
        </p:nvSpPr>
        <p:spPr>
          <a:xfrm rot="-1615761">
            <a:off x="310495" y="-2609191"/>
            <a:ext cx="10957094" cy="9104349"/>
          </a:xfrm>
          <a:custGeom>
            <a:avLst/>
            <a:gdLst/>
            <a:ahLst/>
            <a:cxnLst/>
            <a:rect l="l" t="t" r="r" b="b"/>
            <a:pathLst>
              <a:path w="10957094" h="9104349">
                <a:moveTo>
                  <a:pt x="0" y="0"/>
                </a:moveTo>
                <a:lnTo>
                  <a:pt x="10957094" y="0"/>
                </a:lnTo>
                <a:lnTo>
                  <a:pt x="10957094" y="9104350"/>
                </a:lnTo>
                <a:lnTo>
                  <a:pt x="0" y="9104350"/>
                </a:lnTo>
                <a:lnTo>
                  <a:pt x="0" y="0"/>
                </a:lnTo>
                <a:close/>
              </a:path>
            </a:pathLst>
          </a:custGeom>
          <a:blipFill>
            <a:blip r:embed="rId2">
              <a:alphaModFix amt="15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a:p>
        </p:txBody>
      </p:sp>
      <p:sp>
        <p:nvSpPr>
          <p:cNvPr id="9" name="TextBox 9"/>
          <p:cNvSpPr txBox="1"/>
          <p:nvPr/>
        </p:nvSpPr>
        <p:spPr>
          <a:xfrm>
            <a:off x="2112654" y="3619500"/>
            <a:ext cx="15306432" cy="6118983"/>
          </a:xfrm>
          <a:prstGeom prst="rect">
            <a:avLst/>
          </a:prstGeom>
        </p:spPr>
        <p:txBody>
          <a:bodyPr wrap="square" lIns="0" tIns="0" rIns="0" bIns="0" rtlCol="0" anchor="t">
            <a:spAutoFit/>
          </a:bodyPr>
          <a:lstStyle/>
          <a:p>
            <a:pPr marL="342900" lvl="0" indent="-342900" algn="l">
              <a:lnSpc>
                <a:spcPts val="2538"/>
              </a:lnSpc>
              <a:spcBef>
                <a:spcPct val="0"/>
              </a:spcBef>
              <a:buFont typeface="Wingdings" panose="05000000000000000000" pitchFamily="2" charset="2"/>
              <a:buChar char="Ø"/>
            </a:pPr>
            <a:r>
              <a:rPr lang="en-US" sz="2800" b="1" u="none" strike="noStrike" dirty="0">
                <a:solidFill>
                  <a:srgbClr val="3A8A91"/>
                </a:solidFill>
                <a:latin typeface="TT Fors"/>
                <a:ea typeface="TT Fors"/>
                <a:cs typeface="TT Fors"/>
                <a:sym typeface="TT Fors"/>
              </a:rPr>
              <a:t>Affordable and Accessible Beauty Products</a:t>
            </a:r>
          </a:p>
          <a:p>
            <a:pPr marL="0" lvl="0" indent="0" algn="l">
              <a:lnSpc>
                <a:spcPts val="2538"/>
              </a:lnSpc>
              <a:spcBef>
                <a:spcPct val="0"/>
              </a:spcBef>
            </a:pPr>
            <a:r>
              <a:rPr lang="en-US" sz="2800" u="none" strike="noStrike" dirty="0">
                <a:solidFill>
                  <a:srgbClr val="3A8A91"/>
                </a:solidFill>
                <a:latin typeface="TT Fors"/>
                <a:ea typeface="TT Fors"/>
                <a:cs typeface="TT Fors"/>
                <a:sym typeface="TT Fors"/>
              </a:rPr>
              <a:t>Luka Store differentiates itself by offering cosmetics at budget-friendly prices, making beauty products accessible to students, young professionals, and customers looking for economical alternatives.</a:t>
            </a:r>
          </a:p>
          <a:p>
            <a:pPr marL="0" lvl="0" indent="0" algn="l">
              <a:lnSpc>
                <a:spcPts val="2538"/>
              </a:lnSpc>
              <a:spcBef>
                <a:spcPct val="0"/>
              </a:spcBef>
            </a:pPr>
            <a:endParaRPr lang="en-US" sz="2800" u="none" strike="noStrike" dirty="0">
              <a:solidFill>
                <a:srgbClr val="428C7E"/>
              </a:solidFill>
              <a:latin typeface="TT Fors"/>
              <a:ea typeface="TT Fors"/>
              <a:cs typeface="TT Fors"/>
              <a:sym typeface="TT Fors"/>
            </a:endParaRPr>
          </a:p>
          <a:p>
            <a:pPr marL="342900" lvl="0" indent="-342900" algn="l">
              <a:lnSpc>
                <a:spcPts val="2538"/>
              </a:lnSpc>
              <a:spcBef>
                <a:spcPct val="0"/>
              </a:spcBef>
              <a:buFont typeface="Wingdings" panose="05000000000000000000" pitchFamily="2" charset="2"/>
              <a:buChar char="Ø"/>
            </a:pPr>
            <a:r>
              <a:rPr lang="en-US" sz="2800" b="1" u="none" strike="noStrike" dirty="0">
                <a:solidFill>
                  <a:srgbClr val="428C7E"/>
                </a:solidFill>
                <a:latin typeface="TT Fors"/>
                <a:ea typeface="TT Fors"/>
                <a:cs typeface="TT Fors"/>
                <a:sym typeface="TT Fors"/>
              </a:rPr>
              <a:t>Strong Customer Engagement</a:t>
            </a:r>
          </a:p>
          <a:p>
            <a:pPr marL="0" lvl="0" indent="0" algn="l">
              <a:lnSpc>
                <a:spcPts val="2538"/>
              </a:lnSpc>
              <a:spcBef>
                <a:spcPct val="0"/>
              </a:spcBef>
            </a:pPr>
            <a:r>
              <a:rPr lang="en-US" sz="2800" u="none" strike="noStrike" dirty="0">
                <a:solidFill>
                  <a:srgbClr val="428C7E"/>
                </a:solidFill>
                <a:latin typeface="TT Fors"/>
                <a:ea typeface="TT Fors"/>
                <a:cs typeface="TT Fors"/>
                <a:sym typeface="TT Fors"/>
              </a:rPr>
              <a:t>Luka Store builds strong relationships with its customers through:</a:t>
            </a:r>
          </a:p>
          <a:p>
            <a:pPr marL="0" lvl="0" indent="0" algn="l">
              <a:lnSpc>
                <a:spcPts val="2538"/>
              </a:lnSpc>
              <a:spcBef>
                <a:spcPct val="0"/>
              </a:spcBef>
            </a:pPr>
            <a:r>
              <a:rPr lang="en-US" sz="2800" u="none" strike="noStrike" dirty="0">
                <a:solidFill>
                  <a:srgbClr val="428C7E"/>
                </a:solidFill>
                <a:latin typeface="TT Fors"/>
                <a:ea typeface="TT Fors"/>
                <a:cs typeface="TT Fors"/>
                <a:sym typeface="TT Fors"/>
              </a:rPr>
              <a:t>fast response times</a:t>
            </a:r>
          </a:p>
          <a:p>
            <a:pPr marL="0" lvl="0" indent="0" algn="l">
              <a:lnSpc>
                <a:spcPts val="2538"/>
              </a:lnSpc>
              <a:spcBef>
                <a:spcPct val="0"/>
              </a:spcBef>
            </a:pPr>
            <a:r>
              <a:rPr lang="en-US" sz="2800" u="none" strike="noStrike" dirty="0">
                <a:solidFill>
                  <a:srgbClr val="428C7E"/>
                </a:solidFill>
                <a:latin typeface="TT Fors"/>
                <a:ea typeface="TT Fors"/>
                <a:cs typeface="TT Fors"/>
                <a:sym typeface="TT Fors"/>
              </a:rPr>
              <a:t>personalized beauty advice</a:t>
            </a:r>
          </a:p>
          <a:p>
            <a:pPr marL="0" lvl="0" indent="0" algn="l">
              <a:lnSpc>
                <a:spcPts val="2538"/>
              </a:lnSpc>
              <a:spcBef>
                <a:spcPct val="0"/>
              </a:spcBef>
            </a:pPr>
            <a:r>
              <a:rPr lang="en-US" sz="2800" u="none" strike="noStrike" dirty="0">
                <a:solidFill>
                  <a:srgbClr val="428C7E"/>
                </a:solidFill>
                <a:latin typeface="TT Fors"/>
                <a:ea typeface="TT Fors"/>
                <a:cs typeface="TT Fors"/>
                <a:sym typeface="TT Fors"/>
              </a:rPr>
              <a:t>customer feedback and reviews</a:t>
            </a:r>
          </a:p>
          <a:p>
            <a:pPr marL="0" lvl="0" indent="0" algn="l">
              <a:lnSpc>
                <a:spcPts val="2538"/>
              </a:lnSpc>
              <a:spcBef>
                <a:spcPct val="0"/>
              </a:spcBef>
            </a:pPr>
            <a:r>
              <a:rPr lang="en-US" sz="2800" u="none" strike="noStrike" dirty="0">
                <a:solidFill>
                  <a:srgbClr val="428C7E"/>
                </a:solidFill>
                <a:latin typeface="TT Fors"/>
                <a:ea typeface="TT Fors"/>
                <a:cs typeface="TT Fors"/>
                <a:sym typeface="TT Fors"/>
              </a:rPr>
              <a:t>This creates customer trust, loyalty, and repeat purchases.</a:t>
            </a:r>
          </a:p>
          <a:p>
            <a:pPr marL="0" lvl="0" indent="0" algn="l">
              <a:lnSpc>
                <a:spcPts val="2538"/>
              </a:lnSpc>
              <a:spcBef>
                <a:spcPct val="0"/>
              </a:spcBef>
            </a:pPr>
            <a:endParaRPr lang="en-US" sz="2800" u="none" strike="noStrike" dirty="0">
              <a:solidFill>
                <a:srgbClr val="3A8A91"/>
              </a:solidFill>
              <a:latin typeface="TT Fors"/>
              <a:ea typeface="TT Fors"/>
              <a:cs typeface="TT Fors"/>
              <a:sym typeface="TT Fors"/>
            </a:endParaRPr>
          </a:p>
          <a:p>
            <a:pPr marL="342900" lvl="0" indent="-342900" algn="l">
              <a:lnSpc>
                <a:spcPts val="2538"/>
              </a:lnSpc>
              <a:spcBef>
                <a:spcPct val="0"/>
              </a:spcBef>
              <a:buFont typeface="Wingdings" panose="05000000000000000000" pitchFamily="2" charset="2"/>
              <a:buChar char="Ø"/>
            </a:pPr>
            <a:r>
              <a:rPr lang="en-US" sz="2800" b="1" u="none" strike="noStrike" dirty="0">
                <a:solidFill>
                  <a:srgbClr val="3A8A91"/>
                </a:solidFill>
                <a:latin typeface="TT Fors"/>
                <a:ea typeface="TT Fors"/>
                <a:cs typeface="TT Fors"/>
                <a:sym typeface="TT Fors"/>
              </a:rPr>
              <a:t>Nationwide Delivery with Low Logistics Cost</a:t>
            </a:r>
          </a:p>
          <a:p>
            <a:pPr marL="0" lvl="0" indent="0" algn="l">
              <a:lnSpc>
                <a:spcPts val="2538"/>
              </a:lnSpc>
              <a:spcBef>
                <a:spcPct val="0"/>
              </a:spcBef>
            </a:pPr>
            <a:r>
              <a:rPr lang="en-US" sz="2800" u="none" strike="noStrike" dirty="0">
                <a:solidFill>
                  <a:srgbClr val="3A8A91"/>
                </a:solidFill>
                <a:latin typeface="TT Fors"/>
                <a:ea typeface="TT Fors"/>
                <a:cs typeface="TT Fors"/>
                <a:sym typeface="TT Fors"/>
              </a:rPr>
              <a:t>By partnering with Egypt Post, Luka Store provides nationwide delivery across Egypt, expanding its reach while maintaining affordable shipping costs.</a:t>
            </a:r>
          </a:p>
          <a:p>
            <a:pPr marL="0" lvl="0" indent="0" algn="l">
              <a:lnSpc>
                <a:spcPts val="2538"/>
              </a:lnSpc>
              <a:spcBef>
                <a:spcPct val="0"/>
              </a:spcBef>
            </a:pPr>
            <a:endParaRPr lang="en-US" sz="2800" u="none" strike="noStrike" dirty="0">
              <a:solidFill>
                <a:srgbClr val="3A8A91"/>
              </a:solidFill>
              <a:latin typeface="TT Fors"/>
              <a:ea typeface="TT Fors"/>
              <a:cs typeface="TT Fors"/>
              <a:sym typeface="TT Fors"/>
            </a:endParaRPr>
          </a:p>
          <a:p>
            <a:pPr marL="342900" lvl="0" indent="-342900" algn="l">
              <a:lnSpc>
                <a:spcPts val="2538"/>
              </a:lnSpc>
              <a:spcBef>
                <a:spcPct val="0"/>
              </a:spcBef>
              <a:buFont typeface="Wingdings" panose="05000000000000000000" pitchFamily="2" charset="2"/>
              <a:buChar char="Ø"/>
            </a:pPr>
            <a:r>
              <a:rPr lang="en-US" sz="2800" b="1" u="none" strike="noStrike" dirty="0">
                <a:solidFill>
                  <a:srgbClr val="428C7E"/>
                </a:solidFill>
                <a:latin typeface="TT Fors"/>
                <a:ea typeface="TT Fors"/>
                <a:cs typeface="TT Fors"/>
                <a:sym typeface="TT Fors"/>
              </a:rPr>
              <a:t>Social Media–Driven Marketing Strategy</a:t>
            </a:r>
          </a:p>
          <a:p>
            <a:pPr marL="0" lvl="0" indent="0" algn="l">
              <a:lnSpc>
                <a:spcPts val="2538"/>
              </a:lnSpc>
              <a:spcBef>
                <a:spcPct val="0"/>
              </a:spcBef>
            </a:pPr>
            <a:r>
              <a:rPr lang="en-US" sz="2800" u="none" strike="noStrike" dirty="0">
                <a:solidFill>
                  <a:srgbClr val="428C7E"/>
                </a:solidFill>
                <a:latin typeface="TT Fors"/>
                <a:ea typeface="TT Fors"/>
                <a:cs typeface="TT Fors"/>
                <a:sym typeface="TT Fors"/>
              </a:rPr>
              <a:t>The brand uses multiple digital channels such as Instagram, TikTok, Facebook, WhatsApp, Telegram, and its website to engage customers and drive sales.</a:t>
            </a:r>
          </a:p>
        </p:txBody>
      </p:sp>
      <p:sp>
        <p:nvSpPr>
          <p:cNvPr id="11" name="TextBox 11"/>
          <p:cNvSpPr txBox="1"/>
          <p:nvPr/>
        </p:nvSpPr>
        <p:spPr>
          <a:xfrm>
            <a:off x="6019800" y="3043508"/>
            <a:ext cx="2502332" cy="331694"/>
          </a:xfrm>
          <a:prstGeom prst="rect">
            <a:avLst/>
          </a:prstGeom>
        </p:spPr>
        <p:txBody>
          <a:bodyPr lIns="0" tIns="0" rIns="0" bIns="0" rtlCol="0" anchor="t">
            <a:spAutoFit/>
          </a:bodyPr>
          <a:lstStyle/>
          <a:p>
            <a:pPr marL="0" lvl="0" indent="0" algn="l">
              <a:lnSpc>
                <a:spcPts val="2538"/>
              </a:lnSpc>
              <a:spcBef>
                <a:spcPct val="0"/>
              </a:spcBef>
            </a:pPr>
            <a:r>
              <a:rPr lang="en-US" sz="2372" b="1" dirty="0">
                <a:solidFill>
                  <a:srgbClr val="428C7E"/>
                </a:solidFill>
                <a:latin typeface="TT Fors Bold"/>
                <a:ea typeface="TT Fors Bold"/>
                <a:cs typeface="TT Fors Bold"/>
                <a:sym typeface="TT Fors Bold"/>
              </a:rPr>
              <a:t>Luke Store </a:t>
            </a:r>
          </a:p>
        </p:txBody>
      </p:sp>
      <p:pic>
        <p:nvPicPr>
          <p:cNvPr id="13" name="Picture 12">
            <a:extLst>
              <a:ext uri="{FF2B5EF4-FFF2-40B4-BE49-F238E27FC236}">
                <a16:creationId xmlns:a16="http://schemas.microsoft.com/office/drawing/2014/main" id="{5B8AD242-6DA7-10D3-91F7-D5CA155D339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392400" y="0"/>
            <a:ext cx="2426371" cy="2426371"/>
          </a:xfrm>
          <a:prstGeom prst="rect">
            <a:avLst/>
          </a:prstGeom>
        </p:spPr>
      </p:pic>
      <p:sp>
        <p:nvSpPr>
          <p:cNvPr id="3" name="Rectangle: Rounded Corners 2">
            <a:extLst>
              <a:ext uri="{FF2B5EF4-FFF2-40B4-BE49-F238E27FC236}">
                <a16:creationId xmlns:a16="http://schemas.microsoft.com/office/drawing/2014/main" id="{0014FC9C-A30E-4CCD-C30D-93AA7D43E147}"/>
              </a:ext>
            </a:extLst>
          </p:cNvPr>
          <p:cNvSpPr/>
          <p:nvPr/>
        </p:nvSpPr>
        <p:spPr>
          <a:xfrm>
            <a:off x="1143000" y="3375202"/>
            <a:ext cx="16675770" cy="6530798"/>
          </a:xfrm>
          <a:prstGeom prst="roundRect">
            <a:avLst/>
          </a:prstGeom>
          <a:solidFill>
            <a:srgbClr val="3A8A91">
              <a:alpha val="1294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AF4F4"/>
        </a:solidFill>
        <a:effectLst/>
      </p:bgPr>
    </p:bg>
    <p:spTree>
      <p:nvGrpSpPr>
        <p:cNvPr id="1" name="">
          <a:extLst>
            <a:ext uri="{FF2B5EF4-FFF2-40B4-BE49-F238E27FC236}">
              <a16:creationId xmlns:a16="http://schemas.microsoft.com/office/drawing/2014/main" id="{B43FE0AD-384F-0B8C-D4E3-E32662045984}"/>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1974C3FD-53BA-D1A9-81EC-3C7406250BF3}"/>
              </a:ext>
            </a:extLst>
          </p:cNvPr>
          <p:cNvSpPr txBox="1"/>
          <p:nvPr/>
        </p:nvSpPr>
        <p:spPr>
          <a:xfrm>
            <a:off x="685800" y="175935"/>
            <a:ext cx="8115300" cy="2532745"/>
          </a:xfrm>
          <a:prstGeom prst="rect">
            <a:avLst/>
          </a:prstGeom>
        </p:spPr>
        <p:txBody>
          <a:bodyPr lIns="0" tIns="0" rIns="0" bIns="0" rtlCol="0" anchor="t">
            <a:spAutoFit/>
          </a:bodyPr>
          <a:lstStyle/>
          <a:p>
            <a:pPr algn="ctr">
              <a:lnSpc>
                <a:spcPts val="9350"/>
              </a:lnSpc>
            </a:pPr>
            <a:r>
              <a:rPr lang="en-US" sz="11000" spc="-418" dirty="0">
                <a:solidFill>
                  <a:srgbClr val="3A8A91"/>
                </a:solidFill>
                <a:latin typeface="TT Fors"/>
                <a:ea typeface="TT Fors"/>
                <a:cs typeface="TT Fors"/>
                <a:sym typeface="TT Fors"/>
              </a:rPr>
              <a:t>Competitor Analysis</a:t>
            </a:r>
          </a:p>
        </p:txBody>
      </p:sp>
      <p:sp>
        <p:nvSpPr>
          <p:cNvPr id="7" name="Freeform 7">
            <a:extLst>
              <a:ext uri="{FF2B5EF4-FFF2-40B4-BE49-F238E27FC236}">
                <a16:creationId xmlns:a16="http://schemas.microsoft.com/office/drawing/2014/main" id="{682424EB-0771-1EC3-C571-025F503D9C20}"/>
              </a:ext>
            </a:extLst>
          </p:cNvPr>
          <p:cNvSpPr/>
          <p:nvPr/>
        </p:nvSpPr>
        <p:spPr>
          <a:xfrm rot="-1615761">
            <a:off x="-56421" y="-2609193"/>
            <a:ext cx="10957094" cy="9104349"/>
          </a:xfrm>
          <a:custGeom>
            <a:avLst/>
            <a:gdLst/>
            <a:ahLst/>
            <a:cxnLst/>
            <a:rect l="l" t="t" r="r" b="b"/>
            <a:pathLst>
              <a:path w="10957094" h="9104349">
                <a:moveTo>
                  <a:pt x="0" y="0"/>
                </a:moveTo>
                <a:lnTo>
                  <a:pt x="10957094" y="0"/>
                </a:lnTo>
                <a:lnTo>
                  <a:pt x="10957094" y="9104350"/>
                </a:lnTo>
                <a:lnTo>
                  <a:pt x="0" y="9104350"/>
                </a:lnTo>
                <a:lnTo>
                  <a:pt x="0" y="0"/>
                </a:lnTo>
                <a:close/>
              </a:path>
            </a:pathLst>
          </a:custGeom>
          <a:blipFill>
            <a:blip r:embed="rId2">
              <a:alphaModFix amt="15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a:p>
        </p:txBody>
      </p:sp>
      <p:sp>
        <p:nvSpPr>
          <p:cNvPr id="11" name="TextBox 11">
            <a:extLst>
              <a:ext uri="{FF2B5EF4-FFF2-40B4-BE49-F238E27FC236}">
                <a16:creationId xmlns:a16="http://schemas.microsoft.com/office/drawing/2014/main" id="{787AA0F7-1F9F-30C3-47C9-79B1192F06BB}"/>
              </a:ext>
            </a:extLst>
          </p:cNvPr>
          <p:cNvSpPr txBox="1"/>
          <p:nvPr/>
        </p:nvSpPr>
        <p:spPr>
          <a:xfrm>
            <a:off x="7218573" y="2372284"/>
            <a:ext cx="2502332" cy="362087"/>
          </a:xfrm>
          <a:prstGeom prst="rect">
            <a:avLst/>
          </a:prstGeom>
        </p:spPr>
        <p:txBody>
          <a:bodyPr lIns="0" tIns="0" rIns="0" bIns="0" rtlCol="0" anchor="t">
            <a:spAutoFit/>
          </a:bodyPr>
          <a:lstStyle/>
          <a:p>
            <a:pPr marL="0" lvl="0" indent="0" algn="l">
              <a:lnSpc>
                <a:spcPts val="2538"/>
              </a:lnSpc>
              <a:spcBef>
                <a:spcPct val="0"/>
              </a:spcBef>
            </a:pPr>
            <a:r>
              <a:rPr lang="en-US" sz="3600" b="1" dirty="0">
                <a:solidFill>
                  <a:srgbClr val="428C7E"/>
                </a:solidFill>
                <a:latin typeface="Arial Black" panose="020B0A04020102020204" pitchFamily="34" charset="0"/>
                <a:ea typeface="TT Fors Bold"/>
                <a:cs typeface="TT Fors Bold"/>
                <a:sym typeface="TT Fors Bold"/>
              </a:rPr>
              <a:t>Bemart</a:t>
            </a:r>
            <a:r>
              <a:rPr lang="en-US" sz="2372" b="1" dirty="0">
                <a:solidFill>
                  <a:srgbClr val="428C7E"/>
                </a:solidFill>
                <a:latin typeface="TT Fors Bold"/>
                <a:ea typeface="TT Fors Bold"/>
                <a:cs typeface="TT Fors Bold"/>
                <a:sym typeface="TT Fors Bold"/>
              </a:rPr>
              <a:t> </a:t>
            </a:r>
          </a:p>
        </p:txBody>
      </p:sp>
      <p:sp>
        <p:nvSpPr>
          <p:cNvPr id="4" name="TextBox 3">
            <a:extLst>
              <a:ext uri="{FF2B5EF4-FFF2-40B4-BE49-F238E27FC236}">
                <a16:creationId xmlns:a16="http://schemas.microsoft.com/office/drawing/2014/main" id="{3B1D243D-ABBF-41CD-4A2A-E71FA3D77A68}"/>
              </a:ext>
            </a:extLst>
          </p:cNvPr>
          <p:cNvSpPr txBox="1"/>
          <p:nvPr/>
        </p:nvSpPr>
        <p:spPr>
          <a:xfrm>
            <a:off x="2819400" y="2985679"/>
            <a:ext cx="13258800" cy="7386638"/>
          </a:xfrm>
          <a:prstGeom prst="rect">
            <a:avLst/>
          </a:prstGeom>
          <a:noFill/>
        </p:spPr>
        <p:txBody>
          <a:bodyPr wrap="square" rtlCol="0">
            <a:spAutoFit/>
          </a:bodyPr>
          <a:lstStyle/>
          <a:p>
            <a:pPr marL="285750" indent="-285750">
              <a:buFont typeface="Wingdings" panose="05000000000000000000" pitchFamily="2" charset="2"/>
              <a:buChar char="Ø"/>
            </a:pPr>
            <a:r>
              <a:rPr lang="en-US" sz="2400" dirty="0">
                <a:solidFill>
                  <a:srgbClr val="3A8A91"/>
                </a:solidFill>
                <a:latin typeface="TT Fors" panose="020B0604020202020204" charset="0"/>
              </a:rPr>
              <a:t>Extensive Product Variety</a:t>
            </a:r>
          </a:p>
          <a:p>
            <a:r>
              <a:rPr lang="en-US" sz="2400" dirty="0">
                <a:solidFill>
                  <a:srgbClr val="3A8A91"/>
                </a:solidFill>
                <a:latin typeface="TT Fors" panose="020B0604020202020204" charset="0"/>
              </a:rPr>
              <a:t>Bemart provides a wide range of products including:</a:t>
            </a:r>
          </a:p>
          <a:p>
            <a:pPr marL="285750" indent="-285750">
              <a:buFont typeface="Arial" panose="020B0604020202020204" pitchFamily="34" charset="0"/>
              <a:buChar char="•"/>
            </a:pPr>
            <a:r>
              <a:rPr lang="en-US" sz="2400" dirty="0">
                <a:solidFill>
                  <a:srgbClr val="3A8A91"/>
                </a:solidFill>
                <a:latin typeface="TT Fors" panose="020B0604020202020204" charset="0"/>
              </a:rPr>
              <a:t>skincare</a:t>
            </a:r>
          </a:p>
          <a:p>
            <a:pPr marL="285750" indent="-285750">
              <a:buFont typeface="Arial" panose="020B0604020202020204" pitchFamily="34" charset="0"/>
              <a:buChar char="•"/>
            </a:pPr>
            <a:r>
              <a:rPr lang="en-US" sz="2400" dirty="0">
                <a:solidFill>
                  <a:srgbClr val="3A8A91"/>
                </a:solidFill>
                <a:latin typeface="TT Fors" panose="020B0604020202020204" charset="0"/>
              </a:rPr>
              <a:t>household items</a:t>
            </a:r>
          </a:p>
          <a:p>
            <a:pPr marL="285750" indent="-285750">
              <a:buFont typeface="Arial" panose="020B0604020202020204" pitchFamily="34" charset="0"/>
              <a:buChar char="•"/>
            </a:pPr>
            <a:r>
              <a:rPr lang="en-US" sz="2400" dirty="0">
                <a:solidFill>
                  <a:srgbClr val="3A8A91"/>
                </a:solidFill>
                <a:latin typeface="TT Fors" panose="020B0604020202020204" charset="0"/>
              </a:rPr>
              <a:t>baby products</a:t>
            </a:r>
          </a:p>
          <a:p>
            <a:pPr marL="285750" indent="-285750">
              <a:buFont typeface="Arial" panose="020B0604020202020204" pitchFamily="34" charset="0"/>
              <a:buChar char="•"/>
            </a:pPr>
            <a:r>
              <a:rPr lang="en-US" sz="2400" dirty="0">
                <a:solidFill>
                  <a:srgbClr val="3A8A91"/>
                </a:solidFill>
                <a:latin typeface="TT Fors" panose="020B0604020202020204" charset="0"/>
              </a:rPr>
              <a:t>health products</a:t>
            </a:r>
          </a:p>
          <a:p>
            <a:r>
              <a:rPr lang="en-US" sz="2400" dirty="0">
                <a:solidFill>
                  <a:srgbClr val="3A8A91"/>
                </a:solidFill>
                <a:latin typeface="TT Fors" panose="020B0604020202020204" charset="0"/>
              </a:rPr>
              <a:t>This allows the platform to operate as a one-stop shop for everyday needs.</a:t>
            </a:r>
          </a:p>
          <a:p>
            <a:endParaRPr lang="en-US" sz="2400" dirty="0">
              <a:solidFill>
                <a:srgbClr val="3A8A91"/>
              </a:solidFill>
              <a:latin typeface="TT Fors" panose="020B0604020202020204" charset="0"/>
            </a:endParaRPr>
          </a:p>
          <a:p>
            <a:pPr marL="285750" indent="-285750">
              <a:buFont typeface="Wingdings" panose="05000000000000000000" pitchFamily="2" charset="2"/>
              <a:buChar char="Ø"/>
            </a:pPr>
            <a:r>
              <a:rPr lang="en-US" sz="2400" dirty="0">
                <a:solidFill>
                  <a:srgbClr val="3A8A91"/>
                </a:solidFill>
                <a:latin typeface="TT Fors" panose="020B0604020202020204" charset="0"/>
              </a:rPr>
              <a:t>Wholesale-Like Pricing Model</a:t>
            </a:r>
          </a:p>
          <a:p>
            <a:r>
              <a:rPr lang="en-US" sz="2400" dirty="0">
                <a:solidFill>
                  <a:srgbClr val="3A8A91"/>
                </a:solidFill>
                <a:latin typeface="TT Fors" panose="020B0604020202020204" charset="0"/>
              </a:rPr>
              <a:t>The platform promotes competitive and wholesale-style pricing, which attracts price-sensitive customers who want to purchase products at lower costs.</a:t>
            </a:r>
          </a:p>
          <a:p>
            <a:endParaRPr lang="en-US" sz="2400" dirty="0">
              <a:solidFill>
                <a:srgbClr val="3A8A91"/>
              </a:solidFill>
              <a:latin typeface="TT Fors" panose="020B0604020202020204" charset="0"/>
            </a:endParaRPr>
          </a:p>
          <a:p>
            <a:pPr marL="285750" indent="-285750">
              <a:buFont typeface="Wingdings" panose="05000000000000000000" pitchFamily="2" charset="2"/>
              <a:buChar char="Ø"/>
            </a:pPr>
            <a:r>
              <a:rPr lang="en-US" sz="2400" dirty="0">
                <a:solidFill>
                  <a:srgbClr val="3A8A91"/>
                </a:solidFill>
                <a:latin typeface="TT Fors" panose="020B0604020202020204" charset="0"/>
              </a:rPr>
              <a:t>Mobile-First Shopping Experience</a:t>
            </a:r>
          </a:p>
          <a:p>
            <a:r>
              <a:rPr lang="en-US" sz="2400" dirty="0">
                <a:solidFill>
                  <a:srgbClr val="3A8A91"/>
                </a:solidFill>
                <a:latin typeface="TT Fors" panose="020B0604020202020204" charset="0"/>
              </a:rPr>
              <a:t>Bemart emphasizes mobile commerce through its application, making it easy for customers to browse products, place orders, and receive promotions directly through their smartphones.</a:t>
            </a:r>
          </a:p>
          <a:p>
            <a:endParaRPr lang="en-US" sz="2400" dirty="0">
              <a:solidFill>
                <a:srgbClr val="3A8A91"/>
              </a:solidFill>
              <a:latin typeface="TT Fors" panose="020B0604020202020204" charset="0"/>
            </a:endParaRPr>
          </a:p>
          <a:p>
            <a:pPr marL="285750" indent="-285750">
              <a:buFont typeface="Wingdings" panose="05000000000000000000" pitchFamily="2" charset="2"/>
              <a:buChar char="Ø"/>
            </a:pPr>
            <a:r>
              <a:rPr lang="en-US" sz="2400" dirty="0">
                <a:solidFill>
                  <a:srgbClr val="3A8A91"/>
                </a:solidFill>
                <a:latin typeface="TT Fors" panose="020B0604020202020204" charset="0"/>
              </a:rPr>
              <a:t>The brand frequently uses:</a:t>
            </a:r>
          </a:p>
          <a:p>
            <a:r>
              <a:rPr lang="en-US" sz="2400" dirty="0">
                <a:solidFill>
                  <a:srgbClr val="3A8A91"/>
                </a:solidFill>
                <a:latin typeface="TT Fors" panose="020B0604020202020204" charset="0"/>
              </a:rPr>
              <a:t>discounts</a:t>
            </a:r>
          </a:p>
          <a:p>
            <a:endParaRPr lang="en-US" dirty="0"/>
          </a:p>
        </p:txBody>
      </p:sp>
      <p:sp>
        <p:nvSpPr>
          <p:cNvPr id="6" name="Rectangle: Rounded Corners 5">
            <a:extLst>
              <a:ext uri="{FF2B5EF4-FFF2-40B4-BE49-F238E27FC236}">
                <a16:creationId xmlns:a16="http://schemas.microsoft.com/office/drawing/2014/main" id="{40450D53-F4F4-30F9-ADB9-4F609ECDE71D}"/>
              </a:ext>
            </a:extLst>
          </p:cNvPr>
          <p:cNvSpPr/>
          <p:nvPr/>
        </p:nvSpPr>
        <p:spPr>
          <a:xfrm>
            <a:off x="1600200" y="3011370"/>
            <a:ext cx="14935200" cy="6894630"/>
          </a:xfrm>
          <a:prstGeom prst="roundRect">
            <a:avLst/>
          </a:prstGeom>
          <a:solidFill>
            <a:srgbClr val="3A8A91">
              <a:alpha val="1294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1F22F122-4296-49CE-8755-37940C2E158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392400" y="0"/>
            <a:ext cx="2426371" cy="2426371"/>
          </a:xfrm>
          <a:prstGeom prst="rect">
            <a:avLst/>
          </a:prstGeom>
        </p:spPr>
      </p:pic>
    </p:spTree>
    <p:extLst>
      <p:ext uri="{BB962C8B-B14F-4D97-AF65-F5344CB8AC3E}">
        <p14:creationId xmlns:p14="http://schemas.microsoft.com/office/powerpoint/2010/main" val="3219209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AF4F4"/>
        </a:solidFill>
        <a:effectLst/>
      </p:bgPr>
    </p:bg>
    <p:spTree>
      <p:nvGrpSpPr>
        <p:cNvPr id="1" name="">
          <a:extLst>
            <a:ext uri="{FF2B5EF4-FFF2-40B4-BE49-F238E27FC236}">
              <a16:creationId xmlns:a16="http://schemas.microsoft.com/office/drawing/2014/main" id="{59D1B3C3-E0C8-D23D-3532-373C759B0136}"/>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C5A2FDFE-0BE9-F2B3-EDAB-941D26746EF1}"/>
              </a:ext>
            </a:extLst>
          </p:cNvPr>
          <p:cNvSpPr txBox="1"/>
          <p:nvPr/>
        </p:nvSpPr>
        <p:spPr>
          <a:xfrm>
            <a:off x="685800" y="175935"/>
            <a:ext cx="8115300" cy="2532745"/>
          </a:xfrm>
          <a:prstGeom prst="rect">
            <a:avLst/>
          </a:prstGeom>
        </p:spPr>
        <p:txBody>
          <a:bodyPr lIns="0" tIns="0" rIns="0" bIns="0" rtlCol="0" anchor="t">
            <a:spAutoFit/>
          </a:bodyPr>
          <a:lstStyle/>
          <a:p>
            <a:pPr algn="ctr">
              <a:lnSpc>
                <a:spcPts val="9350"/>
              </a:lnSpc>
            </a:pPr>
            <a:r>
              <a:rPr lang="en-US" sz="11000" spc="-418" dirty="0">
                <a:solidFill>
                  <a:srgbClr val="3A8A91"/>
                </a:solidFill>
                <a:latin typeface="TT Fors"/>
                <a:ea typeface="TT Fors"/>
                <a:cs typeface="TT Fors"/>
                <a:sym typeface="TT Fors"/>
              </a:rPr>
              <a:t>Competitor Analysis</a:t>
            </a:r>
          </a:p>
        </p:txBody>
      </p:sp>
      <p:sp>
        <p:nvSpPr>
          <p:cNvPr id="7" name="Freeform 7">
            <a:extLst>
              <a:ext uri="{FF2B5EF4-FFF2-40B4-BE49-F238E27FC236}">
                <a16:creationId xmlns:a16="http://schemas.microsoft.com/office/drawing/2014/main" id="{002F4ACB-1053-B814-EE01-C7B6AE9D2B4F}"/>
              </a:ext>
            </a:extLst>
          </p:cNvPr>
          <p:cNvSpPr/>
          <p:nvPr/>
        </p:nvSpPr>
        <p:spPr>
          <a:xfrm rot="-1615761">
            <a:off x="-56421" y="-2609193"/>
            <a:ext cx="10957094" cy="9104349"/>
          </a:xfrm>
          <a:custGeom>
            <a:avLst/>
            <a:gdLst/>
            <a:ahLst/>
            <a:cxnLst/>
            <a:rect l="l" t="t" r="r" b="b"/>
            <a:pathLst>
              <a:path w="10957094" h="9104349">
                <a:moveTo>
                  <a:pt x="0" y="0"/>
                </a:moveTo>
                <a:lnTo>
                  <a:pt x="10957094" y="0"/>
                </a:lnTo>
                <a:lnTo>
                  <a:pt x="10957094" y="9104350"/>
                </a:lnTo>
                <a:lnTo>
                  <a:pt x="0" y="9104350"/>
                </a:lnTo>
                <a:lnTo>
                  <a:pt x="0" y="0"/>
                </a:lnTo>
                <a:close/>
              </a:path>
            </a:pathLst>
          </a:custGeom>
          <a:blipFill>
            <a:blip r:embed="rId2">
              <a:alphaModFix amt="15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a:p>
        </p:txBody>
      </p:sp>
      <p:sp>
        <p:nvSpPr>
          <p:cNvPr id="3" name="TextBox 11">
            <a:extLst>
              <a:ext uri="{FF2B5EF4-FFF2-40B4-BE49-F238E27FC236}">
                <a16:creationId xmlns:a16="http://schemas.microsoft.com/office/drawing/2014/main" id="{80E9FBB5-A06C-0237-62E9-B716DFBE86D5}"/>
              </a:ext>
            </a:extLst>
          </p:cNvPr>
          <p:cNvSpPr txBox="1"/>
          <p:nvPr/>
        </p:nvSpPr>
        <p:spPr>
          <a:xfrm>
            <a:off x="6705600" y="2267192"/>
            <a:ext cx="4876800" cy="553998"/>
          </a:xfrm>
          <a:prstGeom prst="rect">
            <a:avLst/>
          </a:prstGeom>
        </p:spPr>
        <p:txBody>
          <a:bodyPr wrap="square" lIns="0" tIns="0" rIns="0" bIns="0" rtlCol="0" anchor="t">
            <a:spAutoFit/>
          </a:bodyPr>
          <a:lstStyle/>
          <a:p>
            <a:pPr marL="0" lvl="0" indent="0" algn="l">
              <a:spcBef>
                <a:spcPct val="0"/>
              </a:spcBef>
            </a:pPr>
            <a:r>
              <a:rPr lang="en-US" sz="3600" b="1" dirty="0">
                <a:solidFill>
                  <a:srgbClr val="428C7E"/>
                </a:solidFill>
                <a:latin typeface="Arial Black" panose="020B0A04020102020204" pitchFamily="34" charset="0"/>
                <a:ea typeface="TT Fors Bold"/>
                <a:cs typeface="TT Fors Bold"/>
                <a:sym typeface="TT Fors Bold"/>
              </a:rPr>
              <a:t>Cosmo Store Egypt</a:t>
            </a:r>
          </a:p>
        </p:txBody>
      </p:sp>
      <p:sp>
        <p:nvSpPr>
          <p:cNvPr id="5" name="Rectangle: Rounded Corners 4">
            <a:extLst>
              <a:ext uri="{FF2B5EF4-FFF2-40B4-BE49-F238E27FC236}">
                <a16:creationId xmlns:a16="http://schemas.microsoft.com/office/drawing/2014/main" id="{4E09B116-DAA2-6948-8453-91DCAF9AD9B3}"/>
              </a:ext>
            </a:extLst>
          </p:cNvPr>
          <p:cNvSpPr/>
          <p:nvPr/>
        </p:nvSpPr>
        <p:spPr>
          <a:xfrm>
            <a:off x="944511" y="2445200"/>
            <a:ext cx="16306800" cy="7578320"/>
          </a:xfrm>
          <a:prstGeom prst="roundRect">
            <a:avLst/>
          </a:prstGeom>
          <a:solidFill>
            <a:srgbClr val="3A8A91">
              <a:alpha val="1294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4C345271-88BD-A2B6-499A-4AB239A77AE5}"/>
              </a:ext>
            </a:extLst>
          </p:cNvPr>
          <p:cNvSpPr txBox="1"/>
          <p:nvPr/>
        </p:nvSpPr>
        <p:spPr>
          <a:xfrm>
            <a:off x="1752600" y="2933700"/>
            <a:ext cx="14782800" cy="7694414"/>
          </a:xfrm>
          <a:prstGeom prst="rect">
            <a:avLst/>
          </a:prstGeom>
          <a:noFill/>
        </p:spPr>
        <p:txBody>
          <a:bodyPr wrap="square" rtlCol="0">
            <a:spAutoFit/>
          </a:bodyPr>
          <a:lstStyle/>
          <a:p>
            <a:pPr marL="285750" indent="-285750">
              <a:buFont typeface="Wingdings" panose="05000000000000000000" pitchFamily="2" charset="2"/>
              <a:buChar char="Ø"/>
            </a:pPr>
            <a:r>
              <a:rPr lang="en-US" sz="2800" b="1" dirty="0">
                <a:solidFill>
                  <a:srgbClr val="3A8A91"/>
                </a:solidFill>
                <a:latin typeface="TT Fors" panose="020B0604020202020204" charset="0"/>
              </a:rPr>
              <a:t>Specialization in Beauty Products</a:t>
            </a:r>
          </a:p>
          <a:p>
            <a:r>
              <a:rPr lang="en-US" sz="2800" dirty="0">
                <a:solidFill>
                  <a:srgbClr val="3A8A91"/>
                </a:solidFill>
                <a:latin typeface="TT Fors" panose="020B0604020202020204" charset="0"/>
              </a:rPr>
              <a:t>Unlike general marketplaces, Cosmo Store Egypt focuses exclusively on cosmetics, skincare, and beauty products, allowing it to position itself as a specialized beauty destination.</a:t>
            </a:r>
          </a:p>
          <a:p>
            <a:endParaRPr lang="en-US" sz="2800" b="1" dirty="0">
              <a:solidFill>
                <a:srgbClr val="3A8A91"/>
              </a:solidFill>
              <a:latin typeface="TT Fors" panose="020B0604020202020204" charset="0"/>
            </a:endParaRPr>
          </a:p>
          <a:p>
            <a:pPr marL="285750" indent="-285750">
              <a:buFont typeface="Wingdings" panose="05000000000000000000" pitchFamily="2" charset="2"/>
              <a:buChar char="Ø"/>
            </a:pPr>
            <a:r>
              <a:rPr lang="en-US" sz="2800" b="1" dirty="0">
                <a:solidFill>
                  <a:srgbClr val="3A8A91"/>
                </a:solidFill>
                <a:latin typeface="TT Fors" panose="020B0604020202020204" charset="0"/>
              </a:rPr>
              <a:t>Large Selection of Branded Products</a:t>
            </a:r>
          </a:p>
          <a:p>
            <a:r>
              <a:rPr lang="en-US" sz="2800" dirty="0">
                <a:solidFill>
                  <a:srgbClr val="3A8A91"/>
                </a:solidFill>
                <a:latin typeface="TT Fors" panose="020B0604020202020204" charset="0"/>
              </a:rPr>
              <a:t>The store offers a wide variety of well-known international and local beauty brands, which attracts customers looking for trusted and recognizable products.</a:t>
            </a:r>
          </a:p>
          <a:p>
            <a:endParaRPr lang="en-US" sz="2800" dirty="0">
              <a:solidFill>
                <a:srgbClr val="3A8A91"/>
              </a:solidFill>
              <a:latin typeface="TT Fors" panose="020B0604020202020204" charset="0"/>
            </a:endParaRPr>
          </a:p>
          <a:p>
            <a:pPr marL="285750" indent="-285750">
              <a:buFont typeface="Wingdings" panose="05000000000000000000" pitchFamily="2" charset="2"/>
              <a:buChar char="Ø"/>
            </a:pPr>
            <a:r>
              <a:rPr lang="en-US" sz="2800" b="1" dirty="0">
                <a:solidFill>
                  <a:srgbClr val="3A8A91"/>
                </a:solidFill>
                <a:latin typeface="TT Fors" panose="020B0604020202020204" charset="0"/>
              </a:rPr>
              <a:t>Professional Online Store Experience</a:t>
            </a:r>
          </a:p>
          <a:p>
            <a:r>
              <a:rPr lang="en-US" sz="2800" dirty="0">
                <a:solidFill>
                  <a:srgbClr val="3A8A91"/>
                </a:solidFill>
                <a:latin typeface="TT Fors" panose="020B0604020202020204" charset="0"/>
              </a:rPr>
              <a:t>The website is designed to provide structured categories, brand filtering, and product details, improving the online shopping experience.</a:t>
            </a:r>
          </a:p>
          <a:p>
            <a:endParaRPr lang="en-US" sz="2800" dirty="0">
              <a:solidFill>
                <a:srgbClr val="3A8A91"/>
              </a:solidFill>
              <a:latin typeface="TT Fors" panose="020B0604020202020204" charset="0"/>
            </a:endParaRPr>
          </a:p>
          <a:p>
            <a:pPr marL="285750" indent="-285750">
              <a:buFont typeface="Wingdings" panose="05000000000000000000" pitchFamily="2" charset="2"/>
              <a:buChar char="Ø"/>
            </a:pPr>
            <a:r>
              <a:rPr lang="en-US" sz="2800" b="1" dirty="0">
                <a:solidFill>
                  <a:srgbClr val="3A8A91"/>
                </a:solidFill>
                <a:latin typeface="TT Fors" panose="020B0604020202020204" charset="0"/>
              </a:rPr>
              <a:t>Established Brand Presence</a:t>
            </a:r>
          </a:p>
          <a:p>
            <a:r>
              <a:rPr lang="en-US" sz="2800" dirty="0">
                <a:solidFill>
                  <a:srgbClr val="3A8A91"/>
                </a:solidFill>
                <a:latin typeface="TT Fors" panose="020B0604020202020204" charset="0"/>
              </a:rPr>
              <a:t>Compared with newer online stores, Cosmo Store Egypt has built brand credibility and recognition within the beauty market.</a:t>
            </a:r>
          </a:p>
          <a:p>
            <a:endParaRPr lang="en-US" sz="2800" dirty="0">
              <a:solidFill>
                <a:srgbClr val="3A8A91"/>
              </a:solidFill>
              <a:latin typeface="TT Fors" panose="020B0604020202020204" charset="0"/>
            </a:endParaRPr>
          </a:p>
        </p:txBody>
      </p:sp>
      <p:pic>
        <p:nvPicPr>
          <p:cNvPr id="14" name="Picture 13">
            <a:extLst>
              <a:ext uri="{FF2B5EF4-FFF2-40B4-BE49-F238E27FC236}">
                <a16:creationId xmlns:a16="http://schemas.microsoft.com/office/drawing/2014/main" id="{23167EEF-2F3B-8F73-873F-71B5872AAE8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392400" y="0"/>
            <a:ext cx="2426371" cy="2426371"/>
          </a:xfrm>
          <a:prstGeom prst="rect">
            <a:avLst/>
          </a:prstGeom>
        </p:spPr>
      </p:pic>
    </p:spTree>
    <p:extLst>
      <p:ext uri="{BB962C8B-B14F-4D97-AF65-F5344CB8AC3E}">
        <p14:creationId xmlns:p14="http://schemas.microsoft.com/office/powerpoint/2010/main" val="37765916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AF4F4"/>
        </a:solidFill>
        <a:effectLst/>
      </p:bgPr>
    </p:bg>
    <p:spTree>
      <p:nvGrpSpPr>
        <p:cNvPr id="1" name=""/>
        <p:cNvGrpSpPr/>
        <p:nvPr/>
      </p:nvGrpSpPr>
      <p:grpSpPr>
        <a:xfrm>
          <a:off x="0" y="0"/>
          <a:ext cx="0" cy="0"/>
          <a:chOff x="0" y="0"/>
          <a:chExt cx="0" cy="0"/>
        </a:xfrm>
      </p:grpSpPr>
      <p:graphicFrame>
        <p:nvGraphicFramePr>
          <p:cNvPr id="16" name="Table 15">
            <a:extLst>
              <a:ext uri="{FF2B5EF4-FFF2-40B4-BE49-F238E27FC236}">
                <a16:creationId xmlns:a16="http://schemas.microsoft.com/office/drawing/2014/main" id="{11520CDC-3DC1-4BE6-4F65-B12D6D13F133}"/>
              </a:ext>
            </a:extLst>
          </p:cNvPr>
          <p:cNvGraphicFramePr>
            <a:graphicFrameLocks noGrp="1"/>
          </p:cNvGraphicFramePr>
          <p:nvPr>
            <p:extLst>
              <p:ext uri="{D42A27DB-BD31-4B8C-83A1-F6EECF244321}">
                <p14:modId xmlns:p14="http://schemas.microsoft.com/office/powerpoint/2010/main" val="2334208438"/>
              </p:ext>
            </p:extLst>
          </p:nvPr>
        </p:nvGraphicFramePr>
        <p:xfrm>
          <a:off x="838200" y="1254240"/>
          <a:ext cx="16078200" cy="8381405"/>
        </p:xfrm>
        <a:graphic>
          <a:graphicData uri="http://schemas.openxmlformats.org/drawingml/2006/table">
            <a:tbl>
              <a:tblPr firstRow="1" bandRow="1">
                <a:tableStyleId>{7DF18680-E054-41AD-8BC1-D1AEF772440D}</a:tableStyleId>
              </a:tblPr>
              <a:tblGrid>
                <a:gridCol w="3106898">
                  <a:extLst>
                    <a:ext uri="{9D8B030D-6E8A-4147-A177-3AD203B41FA5}">
                      <a16:colId xmlns:a16="http://schemas.microsoft.com/office/drawing/2014/main" val="2697107592"/>
                    </a:ext>
                  </a:extLst>
                </a:gridCol>
                <a:gridCol w="3601660">
                  <a:extLst>
                    <a:ext uri="{9D8B030D-6E8A-4147-A177-3AD203B41FA5}">
                      <a16:colId xmlns:a16="http://schemas.microsoft.com/office/drawing/2014/main" val="3396415990"/>
                    </a:ext>
                  </a:extLst>
                </a:gridCol>
                <a:gridCol w="4546182">
                  <a:extLst>
                    <a:ext uri="{9D8B030D-6E8A-4147-A177-3AD203B41FA5}">
                      <a16:colId xmlns:a16="http://schemas.microsoft.com/office/drawing/2014/main" val="606931374"/>
                    </a:ext>
                  </a:extLst>
                </a:gridCol>
                <a:gridCol w="4823460">
                  <a:extLst>
                    <a:ext uri="{9D8B030D-6E8A-4147-A177-3AD203B41FA5}">
                      <a16:colId xmlns:a16="http://schemas.microsoft.com/office/drawing/2014/main" val="4086126069"/>
                    </a:ext>
                  </a:extLst>
                </a:gridCol>
              </a:tblGrid>
              <a:tr h="1084560">
                <a:tc>
                  <a:txBody>
                    <a:bodyPr/>
                    <a:lstStyle/>
                    <a:p>
                      <a:r>
                        <a:rPr lang="en-US" sz="3200" dirty="0">
                          <a:solidFill>
                            <a:schemeClr val="accent5">
                              <a:lumMod val="20000"/>
                              <a:lumOff val="80000"/>
                            </a:schemeClr>
                          </a:solidFill>
                          <a:latin typeface="Arial Black" panose="020B0A04020102020204" pitchFamily="34" charset="0"/>
                        </a:rPr>
                        <a:t>Brand</a:t>
                      </a:r>
                    </a:p>
                  </a:txBody>
                  <a:tcPr/>
                </a:tc>
                <a:tc>
                  <a:txBody>
                    <a:bodyPr/>
                    <a:lstStyle/>
                    <a:p>
                      <a:r>
                        <a:rPr lang="en-US" sz="3200" dirty="0">
                          <a:solidFill>
                            <a:schemeClr val="accent5">
                              <a:lumMod val="20000"/>
                              <a:lumOff val="80000"/>
                            </a:schemeClr>
                          </a:solidFill>
                          <a:latin typeface="Arial Black" panose="020B0A04020102020204" pitchFamily="34" charset="0"/>
                        </a:rPr>
                        <a:t>Luka Store</a:t>
                      </a:r>
                    </a:p>
                  </a:txBody>
                  <a:tcPr/>
                </a:tc>
                <a:tc>
                  <a:txBody>
                    <a:bodyPr/>
                    <a:lstStyle/>
                    <a:p>
                      <a:r>
                        <a:rPr lang="en-US" sz="3200" dirty="0">
                          <a:solidFill>
                            <a:schemeClr val="accent5">
                              <a:lumMod val="20000"/>
                              <a:lumOff val="80000"/>
                            </a:schemeClr>
                          </a:solidFill>
                          <a:latin typeface="Arial Black" panose="020B0A04020102020204" pitchFamily="34" charset="0"/>
                        </a:rPr>
                        <a:t>Bemart</a:t>
                      </a:r>
                    </a:p>
                  </a:txBody>
                  <a:tcPr/>
                </a:tc>
                <a:tc>
                  <a:txBody>
                    <a:bodyPr/>
                    <a:lstStyle/>
                    <a:p>
                      <a:r>
                        <a:rPr lang="en-US" sz="3200" dirty="0">
                          <a:solidFill>
                            <a:schemeClr val="accent5">
                              <a:lumMod val="20000"/>
                              <a:lumOff val="80000"/>
                            </a:schemeClr>
                          </a:solidFill>
                          <a:latin typeface="Arial Black" panose="020B0A04020102020204" pitchFamily="34" charset="0"/>
                        </a:rPr>
                        <a:t>Cosmo Store Egypt</a:t>
                      </a:r>
                    </a:p>
                  </a:txBody>
                  <a:tcPr/>
                </a:tc>
                <a:extLst>
                  <a:ext uri="{0D108BD9-81ED-4DB2-BD59-A6C34878D82A}">
                    <a16:rowId xmlns:a16="http://schemas.microsoft.com/office/drawing/2014/main" val="639607676"/>
                  </a:ext>
                </a:extLst>
              </a:tr>
              <a:tr h="1623818">
                <a:tc>
                  <a:txBody>
                    <a:bodyPr/>
                    <a:lstStyle/>
                    <a:p>
                      <a:pPr algn="ctr"/>
                      <a:r>
                        <a:rPr lang="en-US" sz="3200" dirty="0">
                          <a:solidFill>
                            <a:srgbClr val="3A8A91"/>
                          </a:solidFill>
                          <a:latin typeface="Arial Black" panose="020B0A04020102020204" pitchFamily="34" charset="0"/>
                        </a:rPr>
                        <a:t>Key Message</a:t>
                      </a:r>
                    </a:p>
                  </a:txBody>
                  <a:tcPr/>
                </a:tc>
                <a:tc>
                  <a:txBody>
                    <a:bodyPr/>
                    <a:lstStyle/>
                    <a:p>
                      <a:pPr algn="ctr" fontAlgn="ctr"/>
                      <a:r>
                        <a:rPr lang="en-US" sz="1800" b="1" i="0" u="none" strike="noStrike" dirty="0">
                          <a:solidFill>
                            <a:srgbClr val="002060"/>
                          </a:solidFill>
                          <a:effectLst/>
                          <a:latin typeface="Aptos" panose="020B0004020202020204" pitchFamily="34" charset="0"/>
                        </a:rPr>
                        <a:t>"Unlocking your beauty potential through curated, high-quality products that make luxury affordable."</a:t>
                      </a:r>
                      <a:br>
                        <a:rPr lang="en-US" sz="1800" b="1" i="0" u="none" strike="noStrike" dirty="0">
                          <a:solidFill>
                            <a:srgbClr val="002060"/>
                          </a:solidFill>
                          <a:effectLst/>
                          <a:latin typeface="Aptos" panose="020B0004020202020204" pitchFamily="34" charset="0"/>
                        </a:rPr>
                      </a:br>
                      <a:endParaRPr lang="en-US" sz="1800" b="1" i="0" u="none" strike="noStrike" dirty="0">
                        <a:solidFill>
                          <a:srgbClr val="002060"/>
                        </a:solidFill>
                        <a:effectLst/>
                        <a:latin typeface="Aptos" panose="020B0004020202020204" pitchFamily="34" charset="0"/>
                      </a:endParaRPr>
                    </a:p>
                  </a:txBody>
                  <a:tcPr marL="0" marR="0" marT="0" marB="0" anchor="ctr"/>
                </a:tc>
                <a:tc>
                  <a:txBody>
                    <a:bodyPr/>
                    <a:lstStyle/>
                    <a:p>
                      <a:pPr algn="ctr" fontAlgn="ctr"/>
                      <a:r>
                        <a:rPr lang="en-US" sz="1800" b="1" i="0" u="none" strike="noStrike" dirty="0">
                          <a:solidFill>
                            <a:srgbClr val="002060"/>
                          </a:solidFill>
                          <a:effectLst/>
                          <a:latin typeface="Aptos" panose="020B0004020202020204" pitchFamily="34" charset="0"/>
                        </a:rPr>
                        <a:t>"Everything you need, delivered with ease."</a:t>
                      </a:r>
                    </a:p>
                  </a:txBody>
                  <a:tcPr marL="0" marR="0" marT="0" marB="0" anchor="ctr"/>
                </a:tc>
                <a:tc>
                  <a:txBody>
                    <a:bodyPr/>
                    <a:lstStyle/>
                    <a:p>
                      <a:pPr algn="ctr" fontAlgn="ctr"/>
                      <a:r>
                        <a:rPr lang="en-US" sz="1800" b="1" i="0" u="none" strike="noStrike" dirty="0">
                          <a:solidFill>
                            <a:srgbClr val="002060"/>
                          </a:solidFill>
                          <a:effectLst/>
                          <a:latin typeface="Aptos" panose="020B0004020202020204" pitchFamily="34" charset="0"/>
                        </a:rPr>
                        <a:t>"Expert-backed beauty and medical-grade skincare you can trust."</a:t>
                      </a:r>
                      <a:br>
                        <a:rPr lang="en-US" sz="1800" b="1" i="0" u="none" strike="noStrike" dirty="0">
                          <a:solidFill>
                            <a:srgbClr val="002060"/>
                          </a:solidFill>
                          <a:effectLst/>
                          <a:latin typeface="Aptos" panose="020B0004020202020204" pitchFamily="34" charset="0"/>
                        </a:rPr>
                      </a:br>
                      <a:r>
                        <a:rPr lang="en-US" sz="1800" b="1" i="0" u="none" strike="noStrike" dirty="0">
                          <a:solidFill>
                            <a:srgbClr val="002060"/>
                          </a:solidFill>
                          <a:effectLst/>
                          <a:latin typeface="Aptos" panose="020B0004020202020204" pitchFamily="34" charset="0"/>
                        </a:rPr>
                        <a:t> They focus on transparency, authenticity, and providing free professional consultations to ensure customers use the right products.</a:t>
                      </a:r>
                    </a:p>
                  </a:txBody>
                  <a:tcPr marL="0" marR="0" marT="0" marB="0" anchor="ctr"/>
                </a:tc>
                <a:extLst>
                  <a:ext uri="{0D108BD9-81ED-4DB2-BD59-A6C34878D82A}">
                    <a16:rowId xmlns:a16="http://schemas.microsoft.com/office/drawing/2014/main" val="3608156721"/>
                  </a:ext>
                </a:extLst>
              </a:tr>
              <a:tr h="1703318">
                <a:tc>
                  <a:txBody>
                    <a:bodyPr/>
                    <a:lstStyle/>
                    <a:p>
                      <a:pPr algn="ctr"/>
                      <a:r>
                        <a:rPr lang="en-US" sz="3200" dirty="0">
                          <a:solidFill>
                            <a:srgbClr val="3A8A91"/>
                          </a:solidFill>
                          <a:latin typeface="Arial Black" panose="020B0A04020102020204" pitchFamily="34" charset="0"/>
                        </a:rPr>
                        <a:t>CTA</a:t>
                      </a:r>
                    </a:p>
                  </a:txBody>
                  <a:tcPr/>
                </a:tc>
                <a:tc>
                  <a:txBody>
                    <a:bodyPr/>
                    <a:lstStyle/>
                    <a:p>
                      <a:pPr algn="ctr" fontAlgn="ctr"/>
                      <a:r>
                        <a:rPr lang="en-US" sz="1800" b="1" i="0" u="none" strike="noStrike" dirty="0">
                          <a:solidFill>
                            <a:srgbClr val="002060"/>
                          </a:solidFill>
                          <a:effectLst/>
                          <a:latin typeface="Aptos" panose="020B0004020202020204" pitchFamily="34" charset="0"/>
                        </a:rPr>
                        <a:t>Primary CTA: "Shop Now" or "Message Us."</a:t>
                      </a:r>
                      <a:br>
                        <a:rPr lang="en-US" sz="1800" b="1" i="0" u="none" strike="noStrike" dirty="0">
                          <a:solidFill>
                            <a:srgbClr val="002060"/>
                          </a:solidFill>
                          <a:effectLst/>
                          <a:latin typeface="Aptos" panose="020B0004020202020204" pitchFamily="34" charset="0"/>
                        </a:rPr>
                      </a:br>
                      <a:br>
                        <a:rPr lang="en-US" sz="1800" b="1" i="0" u="none" strike="noStrike" dirty="0">
                          <a:solidFill>
                            <a:srgbClr val="002060"/>
                          </a:solidFill>
                          <a:effectLst/>
                          <a:latin typeface="Aptos" panose="020B0004020202020204" pitchFamily="34" charset="0"/>
                        </a:rPr>
                      </a:br>
                      <a:endParaRPr lang="en-US" sz="1800" b="1" i="0" u="none" strike="noStrike" dirty="0">
                        <a:solidFill>
                          <a:srgbClr val="002060"/>
                        </a:solidFill>
                        <a:effectLst/>
                        <a:latin typeface="Aptos" panose="020B0004020202020204" pitchFamily="34" charset="0"/>
                      </a:endParaRPr>
                    </a:p>
                  </a:txBody>
                  <a:tcPr marL="0" marR="0" marT="0" marB="0" anchor="ctr"/>
                </a:tc>
                <a:tc>
                  <a:txBody>
                    <a:bodyPr/>
                    <a:lstStyle/>
                    <a:p>
                      <a:pPr algn="ctr" fontAlgn="ctr"/>
                      <a:r>
                        <a:rPr lang="en-US" sz="1800" b="1" i="0" u="none" strike="noStrike" dirty="0">
                          <a:solidFill>
                            <a:srgbClr val="002060"/>
                          </a:solidFill>
                          <a:effectLst/>
                          <a:latin typeface="Aptos" panose="020B0004020202020204" pitchFamily="34" charset="0"/>
                        </a:rPr>
                        <a:t>Primary CTA: "Download the App" or "Shop at Wholesale Prices."</a:t>
                      </a:r>
                      <a:br>
                        <a:rPr lang="en-US" sz="1800" b="1" i="0" u="none" strike="noStrike" dirty="0">
                          <a:solidFill>
                            <a:srgbClr val="002060"/>
                          </a:solidFill>
                          <a:effectLst/>
                          <a:latin typeface="Aptos" panose="020B0004020202020204" pitchFamily="34" charset="0"/>
                        </a:rPr>
                      </a:br>
                      <a:br>
                        <a:rPr lang="en-US" sz="1800" b="1" i="0" u="none" strike="noStrike" dirty="0">
                          <a:solidFill>
                            <a:srgbClr val="002060"/>
                          </a:solidFill>
                          <a:effectLst/>
                          <a:latin typeface="Aptos" panose="020B0004020202020204" pitchFamily="34" charset="0"/>
                        </a:rPr>
                      </a:br>
                      <a:endParaRPr lang="en-US" sz="1800" b="1" i="0" u="none" strike="noStrike" dirty="0">
                        <a:solidFill>
                          <a:srgbClr val="002060"/>
                        </a:solidFill>
                        <a:effectLst/>
                        <a:latin typeface="Aptos" panose="020B0004020202020204" pitchFamily="34" charset="0"/>
                      </a:endParaRPr>
                    </a:p>
                  </a:txBody>
                  <a:tcPr marL="0" marR="0" marT="0" marB="0" anchor="ctr"/>
                </a:tc>
                <a:tc>
                  <a:txBody>
                    <a:bodyPr/>
                    <a:lstStyle/>
                    <a:p>
                      <a:pPr algn="ctr" fontAlgn="ctr"/>
                      <a:r>
                        <a:rPr lang="en-US" sz="1800" b="1" i="0" u="none" strike="noStrike" dirty="0">
                          <a:solidFill>
                            <a:srgbClr val="002060"/>
                          </a:solidFill>
                          <a:effectLst/>
                          <a:latin typeface="Aptos" panose="020B0004020202020204" pitchFamily="34" charset="0"/>
                        </a:rPr>
                        <a:t>Primary CTA: "Add to Cart" or "Order via Website."</a:t>
                      </a:r>
                      <a:br>
                        <a:rPr lang="en-US" sz="1800" b="1" i="0" u="none" strike="noStrike" dirty="0">
                          <a:solidFill>
                            <a:srgbClr val="002060"/>
                          </a:solidFill>
                          <a:effectLst/>
                          <a:latin typeface="Aptos" panose="020B0004020202020204" pitchFamily="34" charset="0"/>
                        </a:rPr>
                      </a:br>
                      <a:br>
                        <a:rPr lang="en-US" sz="1800" b="1" i="0" u="none" strike="noStrike" dirty="0">
                          <a:solidFill>
                            <a:srgbClr val="002060"/>
                          </a:solidFill>
                          <a:effectLst/>
                          <a:latin typeface="Aptos" panose="020B0004020202020204" pitchFamily="34" charset="0"/>
                        </a:rPr>
                      </a:br>
                      <a:endParaRPr lang="en-US" sz="1800" b="1" i="0" u="none" strike="noStrike" dirty="0">
                        <a:solidFill>
                          <a:srgbClr val="002060"/>
                        </a:solidFill>
                        <a:effectLst/>
                        <a:latin typeface="Aptos" panose="020B0004020202020204" pitchFamily="34" charset="0"/>
                      </a:endParaRPr>
                    </a:p>
                  </a:txBody>
                  <a:tcPr marL="0" marR="0" marT="0" marB="0" anchor="ctr"/>
                </a:tc>
                <a:extLst>
                  <a:ext uri="{0D108BD9-81ED-4DB2-BD59-A6C34878D82A}">
                    <a16:rowId xmlns:a16="http://schemas.microsoft.com/office/drawing/2014/main" val="4254595958"/>
                  </a:ext>
                </a:extLst>
              </a:tr>
              <a:tr h="2598109">
                <a:tc>
                  <a:txBody>
                    <a:bodyPr/>
                    <a:lstStyle/>
                    <a:p>
                      <a:pPr algn="ctr"/>
                      <a:r>
                        <a:rPr lang="en-US" sz="3200" dirty="0">
                          <a:solidFill>
                            <a:srgbClr val="3A8A91"/>
                          </a:solidFill>
                          <a:latin typeface="Arial Black" panose="020B0A04020102020204" pitchFamily="34" charset="0"/>
                        </a:rPr>
                        <a:t>Visual Style</a:t>
                      </a:r>
                    </a:p>
                  </a:txBody>
                  <a:tcPr/>
                </a:tc>
                <a:tc>
                  <a:txBody>
                    <a:bodyPr/>
                    <a:lstStyle/>
                    <a:p>
                      <a:pPr algn="ctr" fontAlgn="ctr"/>
                      <a:r>
                        <a:rPr lang="en-US" sz="1800" b="1" i="0" u="none" strike="noStrike" dirty="0">
                          <a:solidFill>
                            <a:srgbClr val="002060"/>
                          </a:solidFill>
                          <a:effectLst/>
                          <a:latin typeface="Aptos" panose="020B0004020202020204" pitchFamily="34" charset="0"/>
                        </a:rPr>
                        <a:t>Modern &amp; Vibrant: Use of bright, high-contrast imagery that highlights product textures</a:t>
                      </a:r>
                    </a:p>
                    <a:p>
                      <a:pPr algn="ctr" fontAlgn="ctr"/>
                      <a:br>
                        <a:rPr lang="en-US" sz="1800" b="1" i="0" u="none" strike="noStrike" dirty="0">
                          <a:solidFill>
                            <a:srgbClr val="002060"/>
                          </a:solidFill>
                          <a:effectLst/>
                          <a:latin typeface="Aptos" panose="020B0004020202020204" pitchFamily="34" charset="0"/>
                        </a:rPr>
                      </a:br>
                      <a:r>
                        <a:rPr lang="en-US" sz="1800" b="1" i="0" u="none" strike="noStrike" dirty="0">
                          <a:solidFill>
                            <a:srgbClr val="002060"/>
                          </a:solidFill>
                          <a:effectLst/>
                          <a:latin typeface="Aptos" panose="020B0004020202020204" pitchFamily="34" charset="0"/>
                        </a:rPr>
                        <a:t>Lifestyle-Oriented: Often features real people or relatable settings rather than just clinical product shots.</a:t>
                      </a:r>
                    </a:p>
                  </a:txBody>
                  <a:tcPr marL="0" marR="0" marT="0" marB="0" anchor="ctr"/>
                </a:tc>
                <a:tc>
                  <a:txBody>
                    <a:bodyPr/>
                    <a:lstStyle/>
                    <a:p>
                      <a:pPr algn="ctr" fontAlgn="ctr"/>
                      <a:r>
                        <a:rPr lang="en-US" sz="1800" b="1" i="0" u="none" strike="noStrike" dirty="0">
                          <a:solidFill>
                            <a:srgbClr val="002060"/>
                          </a:solidFill>
                          <a:effectLst/>
                          <a:latin typeface="Aptos" panose="020B0004020202020204" pitchFamily="34" charset="0"/>
                        </a:rPr>
                        <a:t>Clean &amp; Tech-Forward: The aesthetic is dominated by UI-friendly graphics, </a:t>
                      </a:r>
                      <a:br>
                        <a:rPr lang="en-US" sz="1800" b="1" i="0" u="none" strike="noStrike" dirty="0">
                          <a:solidFill>
                            <a:srgbClr val="002060"/>
                          </a:solidFill>
                          <a:effectLst/>
                          <a:latin typeface="Aptos" panose="020B0004020202020204" pitchFamily="34" charset="0"/>
                        </a:rPr>
                      </a:br>
                      <a:r>
                        <a:rPr lang="en-US" sz="1800" b="1" i="0" u="none" strike="noStrike" dirty="0">
                          <a:solidFill>
                            <a:srgbClr val="002060"/>
                          </a:solidFill>
                          <a:effectLst/>
                          <a:latin typeface="Aptos" panose="020B0004020202020204" pitchFamily="34" charset="0"/>
                        </a:rPr>
                        <a:t>app screenshots, and clear "Download Now" layouts.</a:t>
                      </a:r>
                    </a:p>
                    <a:p>
                      <a:pPr algn="ctr" fontAlgn="ctr"/>
                      <a:br>
                        <a:rPr lang="en-US" sz="1800" b="1" i="0" u="none" strike="noStrike" dirty="0">
                          <a:solidFill>
                            <a:srgbClr val="002060"/>
                          </a:solidFill>
                          <a:effectLst/>
                          <a:latin typeface="Aptos" panose="020B0004020202020204" pitchFamily="34" charset="0"/>
                        </a:rPr>
                      </a:br>
                      <a:r>
                        <a:rPr lang="en-US" sz="1800" b="1" i="0" u="none" strike="noStrike" dirty="0">
                          <a:solidFill>
                            <a:srgbClr val="002060"/>
                          </a:solidFill>
                          <a:effectLst/>
                          <a:latin typeface="Aptos" panose="020B0004020202020204" pitchFamily="34" charset="0"/>
                        </a:rPr>
                        <a:t>Color-Coded: Uses a distinct brand palette (typically blues/whites or vibrant accents) to differentiate product categories (e.g., Baby Care vs. Beauty).</a:t>
                      </a:r>
                    </a:p>
                  </a:txBody>
                  <a:tcPr marL="0" marR="0" marT="0" marB="0" anchor="ctr"/>
                </a:tc>
                <a:tc>
                  <a:txBody>
                    <a:bodyPr/>
                    <a:lstStyle/>
                    <a:p>
                      <a:pPr algn="ctr" fontAlgn="ctr"/>
                      <a:r>
                        <a:rPr lang="en-US" sz="1800" b="1" i="0" u="none" strike="noStrike" dirty="0">
                          <a:solidFill>
                            <a:srgbClr val="002060"/>
                          </a:solidFill>
                          <a:effectLst/>
                          <a:latin typeface="Aptos" panose="020B0004020202020204" pitchFamily="34" charset="0"/>
                        </a:rPr>
                        <a:t>* Minimalist &amp; Professional: A "Clean Girl" aesthetic. White backgrounds, soft lighting, and organized grids that mimic a high-end boutique or pharmacy.</a:t>
                      </a:r>
                      <a:br>
                        <a:rPr lang="en-US" sz="1800" b="1" i="0" u="none" strike="noStrike" dirty="0">
                          <a:solidFill>
                            <a:srgbClr val="002060"/>
                          </a:solidFill>
                          <a:effectLst/>
                          <a:latin typeface="Aptos" panose="020B0004020202020204" pitchFamily="34" charset="0"/>
                        </a:rPr>
                      </a:br>
                      <a:br>
                        <a:rPr lang="en-US" sz="1800" b="1" i="0" u="none" strike="noStrike" dirty="0">
                          <a:solidFill>
                            <a:srgbClr val="002060"/>
                          </a:solidFill>
                          <a:effectLst/>
                          <a:latin typeface="Aptos" panose="020B0004020202020204" pitchFamily="34" charset="0"/>
                        </a:rPr>
                      </a:br>
                      <a:r>
                        <a:rPr lang="en-US" sz="1800" b="1" i="0" u="none" strike="noStrike" dirty="0">
                          <a:solidFill>
                            <a:srgbClr val="002060"/>
                          </a:solidFill>
                          <a:effectLst/>
                          <a:latin typeface="Aptos" panose="020B0004020202020204" pitchFamily="34" charset="0"/>
                        </a:rPr>
                        <a:t>Informative Graphics: Often uses carousels that explain ingredients (e.g., Retinol, Vitamin C) or "Skin Concerns" (e.g., Acne vs. Pigmentation).</a:t>
                      </a:r>
                    </a:p>
                  </a:txBody>
                  <a:tcPr marL="0" marR="0" marT="0" marB="0" anchor="ctr"/>
                </a:tc>
                <a:extLst>
                  <a:ext uri="{0D108BD9-81ED-4DB2-BD59-A6C34878D82A}">
                    <a16:rowId xmlns:a16="http://schemas.microsoft.com/office/drawing/2014/main" val="3700337821"/>
                  </a:ext>
                </a:extLst>
              </a:tr>
              <a:tr h="1299054">
                <a:tc>
                  <a:txBody>
                    <a:bodyPr/>
                    <a:lstStyle/>
                    <a:p>
                      <a:pPr algn="ctr"/>
                      <a:r>
                        <a:rPr lang="en-US" sz="3200" dirty="0">
                          <a:solidFill>
                            <a:srgbClr val="3A8A91"/>
                          </a:solidFill>
                          <a:latin typeface="Arial Black" panose="020B0A04020102020204" pitchFamily="34" charset="0"/>
                        </a:rPr>
                        <a:t>Theme</a:t>
                      </a:r>
                    </a:p>
                  </a:txBody>
                  <a:tcPr/>
                </a:tc>
                <a:tc>
                  <a:txBody>
                    <a:bodyPr/>
                    <a:lstStyle/>
                    <a:p>
                      <a:pPr algn="ctr" fontAlgn="b"/>
                      <a:r>
                        <a:rPr lang="en-US" sz="1800" b="1" i="0" u="none" strike="noStrike" dirty="0">
                          <a:solidFill>
                            <a:srgbClr val="002060"/>
                          </a:solidFill>
                          <a:effectLst/>
                          <a:latin typeface="Aptos" panose="020B0004020202020204" pitchFamily="34" charset="0"/>
                        </a:rPr>
                        <a:t>"Empowerment &amp; Trends." The overall vibe is youthful and fast-paced, </a:t>
                      </a:r>
                      <a:br>
                        <a:rPr lang="en-US" sz="1800" b="1" i="0" u="none" strike="noStrike" dirty="0">
                          <a:solidFill>
                            <a:srgbClr val="002060"/>
                          </a:solidFill>
                          <a:effectLst/>
                          <a:latin typeface="Aptos" panose="020B0004020202020204" pitchFamily="34" charset="0"/>
                        </a:rPr>
                      </a:br>
                      <a:r>
                        <a:rPr lang="en-US" sz="1800" b="1" i="0" u="none" strike="noStrike" dirty="0">
                          <a:solidFill>
                            <a:srgbClr val="002060"/>
                          </a:solidFill>
                          <a:effectLst/>
                          <a:latin typeface="Aptos" panose="020B0004020202020204" pitchFamily="34" charset="0"/>
                        </a:rPr>
                        <a:t>keeping up with the latest TikTok-famous or viral beauty hacks</a:t>
                      </a:r>
                    </a:p>
                  </a:txBody>
                  <a:tcPr marL="0" marR="0" marT="0" marB="0" anchor="b"/>
                </a:tc>
                <a:tc>
                  <a:txBody>
                    <a:bodyPr/>
                    <a:lstStyle/>
                    <a:p>
                      <a:pPr algn="ctr" fontAlgn="b"/>
                      <a:r>
                        <a:rPr lang="en-US" sz="1800" b="1" i="0" u="none" strike="noStrike" dirty="0">
                          <a:solidFill>
                            <a:srgbClr val="002060"/>
                          </a:solidFill>
                          <a:effectLst/>
                          <a:latin typeface="Aptos" panose="020B0004020202020204" pitchFamily="34" charset="0"/>
                        </a:rPr>
                        <a:t>"Efficiency &amp; Savings." The theme is built around being a "one-stop shop" that saves the user time and money through a digital-first approach.</a:t>
                      </a:r>
                    </a:p>
                  </a:txBody>
                  <a:tcPr marL="0" marR="0" marT="0" marB="0" anchor="b"/>
                </a:tc>
                <a:tc>
                  <a:txBody>
                    <a:bodyPr/>
                    <a:lstStyle/>
                    <a:p>
                      <a:pPr algn="ctr" fontAlgn="b"/>
                      <a:r>
                        <a:rPr lang="en-US" sz="1800" b="1" i="0" u="none" strike="noStrike" dirty="0">
                          <a:solidFill>
                            <a:srgbClr val="002060"/>
                          </a:solidFill>
                          <a:effectLst/>
                          <a:latin typeface="Aptos" panose="020B0004020202020204" pitchFamily="34" charset="0"/>
                        </a:rPr>
                        <a:t>"Science &amp; Trust." The theme is focused on skin health rather than just cosmetic coverage.</a:t>
                      </a:r>
                      <a:br>
                        <a:rPr lang="en-US" sz="1800" b="1" i="0" u="none" strike="noStrike" dirty="0">
                          <a:solidFill>
                            <a:srgbClr val="002060"/>
                          </a:solidFill>
                          <a:effectLst/>
                          <a:latin typeface="Aptos" panose="020B0004020202020204" pitchFamily="34" charset="0"/>
                        </a:rPr>
                      </a:br>
                      <a:r>
                        <a:rPr lang="en-US" sz="1800" b="1" i="0" u="none" strike="noStrike" dirty="0">
                          <a:solidFill>
                            <a:srgbClr val="002060"/>
                          </a:solidFill>
                          <a:effectLst/>
                          <a:latin typeface="Aptos" panose="020B0004020202020204" pitchFamily="34" charset="0"/>
                        </a:rPr>
                        <a:t> It feels educational, calm, and premium.</a:t>
                      </a:r>
                    </a:p>
                  </a:txBody>
                  <a:tcPr marL="0" marR="0" marT="0" marB="0" anchor="b"/>
                </a:tc>
                <a:extLst>
                  <a:ext uri="{0D108BD9-81ED-4DB2-BD59-A6C34878D82A}">
                    <a16:rowId xmlns:a16="http://schemas.microsoft.com/office/drawing/2014/main" val="357368782"/>
                  </a:ext>
                </a:extLst>
              </a:tr>
            </a:tbl>
          </a:graphicData>
        </a:graphic>
      </p:graphicFrame>
      <p:sp>
        <p:nvSpPr>
          <p:cNvPr id="17" name="Freeform 2"/>
          <p:cNvSpPr/>
          <p:nvPr/>
        </p:nvSpPr>
        <p:spPr>
          <a:xfrm>
            <a:off x="1981200" y="5957074"/>
            <a:ext cx="15883821" cy="6151371"/>
          </a:xfrm>
          <a:custGeom>
            <a:avLst/>
            <a:gdLst/>
            <a:ahLst/>
            <a:cxnLst/>
            <a:rect l="l" t="t" r="r" b="b"/>
            <a:pathLst>
              <a:path w="15883821" h="6151371">
                <a:moveTo>
                  <a:pt x="0" y="0"/>
                </a:moveTo>
                <a:lnTo>
                  <a:pt x="15883821" y="0"/>
                </a:lnTo>
                <a:lnTo>
                  <a:pt x="15883821" y="6151370"/>
                </a:lnTo>
                <a:lnTo>
                  <a:pt x="0" y="6151370"/>
                </a:lnTo>
                <a:lnTo>
                  <a:pt x="0" y="0"/>
                </a:lnTo>
                <a:close/>
              </a:path>
            </a:pathLst>
          </a:custGeom>
          <a:blipFill>
            <a:blip r:embed="rId2">
              <a:alphaModFix amt="15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a:p>
        </p:txBody>
      </p:sp>
      <p:pic>
        <p:nvPicPr>
          <p:cNvPr id="19" name="Picture 18">
            <a:extLst>
              <a:ext uri="{FF2B5EF4-FFF2-40B4-BE49-F238E27FC236}">
                <a16:creationId xmlns:a16="http://schemas.microsoft.com/office/drawing/2014/main" id="{1886CB7F-08A9-58C3-984D-FE3404100A0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58271" y="-263765"/>
            <a:ext cx="2143125" cy="2143125"/>
          </a:xfrm>
          <a:prstGeom prst="rect">
            <a:avLst/>
          </a:prstGeom>
        </p:spPr>
      </p:pic>
      <p:pic>
        <p:nvPicPr>
          <p:cNvPr id="23" name="Picture 22">
            <a:extLst>
              <a:ext uri="{FF2B5EF4-FFF2-40B4-BE49-F238E27FC236}">
                <a16:creationId xmlns:a16="http://schemas.microsoft.com/office/drawing/2014/main" id="{37DD5657-CD1C-ECC9-27F8-C3AF4BB46E7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868400" y="102332"/>
            <a:ext cx="1143000" cy="1143000"/>
          </a:xfrm>
          <a:prstGeom prst="rect">
            <a:avLst/>
          </a:prstGeom>
        </p:spPr>
      </p:pic>
      <p:pic>
        <p:nvPicPr>
          <p:cNvPr id="26" name="Picture 25">
            <a:extLst>
              <a:ext uri="{FF2B5EF4-FFF2-40B4-BE49-F238E27FC236}">
                <a16:creationId xmlns:a16="http://schemas.microsoft.com/office/drawing/2014/main" id="{7A7F7CB9-2E5C-3788-CCEE-6BB72F88857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057881" y="93423"/>
            <a:ext cx="1428750" cy="1428750"/>
          </a:xfrm>
          <a:prstGeom prst="rect">
            <a:avLst/>
          </a:prstGeom>
        </p:spPr>
      </p:pic>
      <p:sp>
        <p:nvSpPr>
          <p:cNvPr id="3" name="TextBox 2">
            <a:extLst>
              <a:ext uri="{FF2B5EF4-FFF2-40B4-BE49-F238E27FC236}">
                <a16:creationId xmlns:a16="http://schemas.microsoft.com/office/drawing/2014/main" id="{D5F6560C-4C6F-B1D1-4A41-D2833F30A22C}"/>
              </a:ext>
            </a:extLst>
          </p:cNvPr>
          <p:cNvSpPr txBox="1"/>
          <p:nvPr/>
        </p:nvSpPr>
        <p:spPr>
          <a:xfrm>
            <a:off x="838200" y="9805810"/>
            <a:ext cx="10972800" cy="369332"/>
          </a:xfrm>
          <a:prstGeom prst="rect">
            <a:avLst/>
          </a:prstGeom>
          <a:noFill/>
        </p:spPr>
        <p:txBody>
          <a:bodyPr wrap="square">
            <a:spAutoFit/>
          </a:bodyPr>
          <a:lstStyle/>
          <a:p>
            <a:r>
              <a:rPr lang="en-US" sz="1800" b="0" i="0" u="none" strike="noStrike" baseline="0" dirty="0">
                <a:solidFill>
                  <a:srgbClr val="0000FF"/>
                </a:solidFill>
                <a:latin typeface="Calibri" panose="020F0502020204030204" pitchFamily="34" charset="0"/>
              </a:rPr>
              <a:t>https://1drv.ms/x/c/132aaa62b5f67d4c/IQAWoIV4kJyURZpbAC_Wnh3DAaHa0sWq0Eyq-v4YqKKcWUY?e=8bfEIW</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AF4F4"/>
        </a:solidFill>
        <a:effectLst/>
      </p:bgPr>
    </p:bg>
    <p:spTree>
      <p:nvGrpSpPr>
        <p:cNvPr id="1" name="">
          <a:extLst>
            <a:ext uri="{FF2B5EF4-FFF2-40B4-BE49-F238E27FC236}">
              <a16:creationId xmlns:a16="http://schemas.microsoft.com/office/drawing/2014/main" id="{26207189-66BB-DB8B-6B08-32E04641EC8B}"/>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C4CB84B7-7E60-9177-B687-3181D78628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3" y="643"/>
            <a:ext cx="18285714" cy="10285714"/>
          </a:xfrm>
          <a:prstGeom prst="rect">
            <a:avLst/>
          </a:prstGeom>
        </p:spPr>
      </p:pic>
      <p:pic>
        <p:nvPicPr>
          <p:cNvPr id="13" name="Picture 12">
            <a:extLst>
              <a:ext uri="{FF2B5EF4-FFF2-40B4-BE49-F238E27FC236}">
                <a16:creationId xmlns:a16="http://schemas.microsoft.com/office/drawing/2014/main" id="{2C9E55D5-A3B3-D6C8-408E-CF4A7FA61E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230600" y="9105900"/>
            <a:ext cx="1428750" cy="1428750"/>
          </a:xfrm>
          <a:prstGeom prst="rect">
            <a:avLst/>
          </a:prstGeom>
        </p:spPr>
      </p:pic>
    </p:spTree>
    <p:extLst>
      <p:ext uri="{BB962C8B-B14F-4D97-AF65-F5344CB8AC3E}">
        <p14:creationId xmlns:p14="http://schemas.microsoft.com/office/powerpoint/2010/main" val="31262642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EAF4F4"/>
        </a:solidFill>
        <a:effectLst/>
      </p:bgPr>
    </p:bg>
    <p:spTree>
      <p:nvGrpSpPr>
        <p:cNvPr id="1" name=""/>
        <p:cNvGrpSpPr/>
        <p:nvPr/>
      </p:nvGrpSpPr>
      <p:grpSpPr>
        <a:xfrm>
          <a:off x="0" y="0"/>
          <a:ext cx="0" cy="0"/>
          <a:chOff x="0" y="0"/>
          <a:chExt cx="0" cy="0"/>
        </a:xfrm>
      </p:grpSpPr>
      <p:sp>
        <p:nvSpPr>
          <p:cNvPr id="5" name="TextBox 5"/>
          <p:cNvSpPr txBox="1"/>
          <p:nvPr/>
        </p:nvSpPr>
        <p:spPr>
          <a:xfrm>
            <a:off x="-685800" y="1838297"/>
            <a:ext cx="9677400" cy="2532745"/>
          </a:xfrm>
          <a:prstGeom prst="rect">
            <a:avLst/>
          </a:prstGeom>
        </p:spPr>
        <p:txBody>
          <a:bodyPr wrap="square" lIns="0" tIns="0" rIns="0" bIns="0" rtlCol="0" anchor="t">
            <a:spAutoFit/>
          </a:bodyPr>
          <a:lstStyle/>
          <a:p>
            <a:pPr algn="ctr">
              <a:lnSpc>
                <a:spcPts val="9350"/>
              </a:lnSpc>
            </a:pPr>
            <a:r>
              <a:rPr lang="en-US" sz="11000" spc="-418" dirty="0">
                <a:solidFill>
                  <a:srgbClr val="3A8A91"/>
                </a:solidFill>
                <a:latin typeface="TT Fors"/>
                <a:ea typeface="TT Fors"/>
                <a:cs typeface="TT Fors"/>
                <a:sym typeface="TT Fors"/>
              </a:rPr>
              <a:t>Target Audience</a:t>
            </a:r>
          </a:p>
        </p:txBody>
      </p:sp>
      <p:sp>
        <p:nvSpPr>
          <p:cNvPr id="9" name="TextBox 8">
            <a:extLst>
              <a:ext uri="{FF2B5EF4-FFF2-40B4-BE49-F238E27FC236}">
                <a16:creationId xmlns:a16="http://schemas.microsoft.com/office/drawing/2014/main" id="{A25D48CA-3E92-12BD-7F24-B371A12019B7}"/>
              </a:ext>
            </a:extLst>
          </p:cNvPr>
          <p:cNvSpPr txBox="1"/>
          <p:nvPr/>
        </p:nvSpPr>
        <p:spPr>
          <a:xfrm>
            <a:off x="1219200" y="4838671"/>
            <a:ext cx="6434803" cy="2954655"/>
          </a:xfrm>
          <a:prstGeom prst="rect">
            <a:avLst/>
          </a:prstGeom>
          <a:noFill/>
        </p:spPr>
        <p:txBody>
          <a:bodyPr wrap="square" rtlCol="0">
            <a:spAutoFit/>
          </a:bodyPr>
          <a:lstStyle/>
          <a:p>
            <a:r>
              <a:rPr lang="en-US" sz="2400" b="1" kern="100" dirty="0">
                <a:solidFill>
                  <a:srgbClr val="428C7E"/>
                </a:solidFill>
                <a:effectLst/>
                <a:latin typeface="Arial Black" panose="020B0A04020102020204" pitchFamily="34" charset="0"/>
                <a:ea typeface="Calibri" panose="020F0502020204030204" pitchFamily="34" charset="0"/>
                <a:cs typeface="Arial" panose="020B0604020202020204" pitchFamily="34" charset="0"/>
              </a:rPr>
              <a:t>The primary target audience consists mainly of young women who are interested in beauty, skincare, and personal care products. These customers frequently purchase cosmetics and prefer convenient online shopping experiences.</a:t>
            </a:r>
            <a:endParaRPr lang="en-US" sz="2400" kern="100" dirty="0">
              <a:solidFill>
                <a:srgbClr val="428C7E"/>
              </a:solidFill>
              <a:effectLst/>
              <a:latin typeface="Arial Black" panose="020B0A04020102020204" pitchFamily="34" charset="0"/>
              <a:ea typeface="Calibri" panose="020F0502020204030204" pitchFamily="34" charset="0"/>
              <a:cs typeface="Arial" panose="020B0604020202020204" pitchFamily="34" charset="0"/>
            </a:endParaRPr>
          </a:p>
          <a:p>
            <a:endParaRPr lang="en-US" dirty="0"/>
          </a:p>
        </p:txBody>
      </p:sp>
      <p:sp>
        <p:nvSpPr>
          <p:cNvPr id="10" name="TextBox 9">
            <a:extLst>
              <a:ext uri="{FF2B5EF4-FFF2-40B4-BE49-F238E27FC236}">
                <a16:creationId xmlns:a16="http://schemas.microsoft.com/office/drawing/2014/main" id="{9696DB35-6048-EA6D-924B-3197ED1198CD}"/>
              </a:ext>
            </a:extLst>
          </p:cNvPr>
          <p:cNvSpPr txBox="1"/>
          <p:nvPr/>
        </p:nvSpPr>
        <p:spPr>
          <a:xfrm>
            <a:off x="8991600" y="800100"/>
            <a:ext cx="7924800" cy="5327741"/>
          </a:xfrm>
          <a:prstGeom prst="rect">
            <a:avLst/>
          </a:prstGeom>
          <a:noFill/>
        </p:spPr>
        <p:txBody>
          <a:bodyPr wrap="square" rtlCol="0">
            <a:spAutoFit/>
          </a:bodyPr>
          <a:lstStyle/>
          <a:p>
            <a:pPr marL="228600" marR="0">
              <a:lnSpc>
                <a:spcPct val="107000"/>
              </a:lnSpc>
              <a:spcBef>
                <a:spcPts val="0"/>
              </a:spcBef>
              <a:spcAft>
                <a:spcPts val="800"/>
              </a:spcAft>
            </a:pPr>
            <a:r>
              <a:rPr lang="en-US" sz="1800" b="1" u="sng" kern="100" dirty="0">
                <a:solidFill>
                  <a:srgbClr val="428C7E"/>
                </a:solidFill>
                <a:effectLst/>
                <a:latin typeface="Arial Black" panose="020B0A04020102020204" pitchFamily="34" charset="0"/>
                <a:ea typeface="Calibri" panose="020F0502020204030204" pitchFamily="34" charset="0"/>
                <a:cs typeface="Arial" panose="020B0604020202020204" pitchFamily="34" charset="0"/>
              </a:rPr>
              <a:t>Demographics</a:t>
            </a:r>
            <a:endParaRPr lang="en-US" sz="1800" kern="100" dirty="0">
              <a:solidFill>
                <a:srgbClr val="428C7E"/>
              </a:solidFill>
              <a:effectLst/>
              <a:latin typeface="Arial Black" panose="020B0A0402010202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1800" b="1" kern="100" dirty="0">
                <a:solidFill>
                  <a:schemeClr val="accent5">
                    <a:lumMod val="75000"/>
                  </a:schemeClr>
                </a:solidFill>
                <a:effectLst/>
                <a:latin typeface="Arial Black" panose="020B0A04020102020204" pitchFamily="34" charset="0"/>
                <a:ea typeface="Calibri" panose="020F0502020204030204" pitchFamily="34" charset="0"/>
                <a:cs typeface="Arial" panose="020B0604020202020204" pitchFamily="34" charset="0"/>
              </a:rPr>
              <a:t>Gender: Primarily female (90%), with a small segment of males (10%) interested in skincare and haircare products.</a:t>
            </a:r>
            <a:endParaRPr lang="en-US" sz="1800" kern="100" dirty="0">
              <a:solidFill>
                <a:schemeClr val="accent5">
                  <a:lumMod val="75000"/>
                </a:schemeClr>
              </a:solidFill>
              <a:effectLst/>
              <a:latin typeface="Arial Black" panose="020B0A0402010202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1800" b="1" kern="100" dirty="0">
                <a:solidFill>
                  <a:schemeClr val="accent5">
                    <a:lumMod val="75000"/>
                  </a:schemeClr>
                </a:solidFill>
                <a:effectLst/>
                <a:latin typeface="Arial Black" panose="020B0A04020102020204" pitchFamily="34" charset="0"/>
                <a:ea typeface="Calibri" panose="020F0502020204030204" pitchFamily="34" charset="0"/>
                <a:cs typeface="Arial" panose="020B0604020202020204" pitchFamily="34" charset="0"/>
              </a:rPr>
              <a:t>Age: 18 to 45 years</a:t>
            </a:r>
            <a:endParaRPr lang="en-US" sz="1800" kern="100" dirty="0">
              <a:solidFill>
                <a:schemeClr val="accent5">
                  <a:lumMod val="75000"/>
                </a:schemeClr>
              </a:solidFill>
              <a:effectLst/>
              <a:latin typeface="Arial Black" panose="020B0A0402010202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0"/>
              </a:spcAft>
              <a:buFont typeface="Symbol" panose="05050102010706020507" pitchFamily="18" charset="2"/>
              <a:buChar char=""/>
            </a:pPr>
            <a:r>
              <a:rPr lang="en-US" sz="1800" b="1" kern="100" dirty="0">
                <a:solidFill>
                  <a:schemeClr val="accent5">
                    <a:lumMod val="75000"/>
                  </a:schemeClr>
                </a:solidFill>
                <a:effectLst/>
                <a:latin typeface="Arial Black" panose="020B0A04020102020204" pitchFamily="34" charset="0"/>
                <a:ea typeface="Calibri" panose="020F0502020204030204" pitchFamily="34" charset="0"/>
                <a:cs typeface="Arial" panose="020B0604020202020204" pitchFamily="34" charset="0"/>
              </a:rPr>
              <a:t>(18-24): University students, interested in trends, makeup, and products on TikTok.</a:t>
            </a:r>
            <a:endParaRPr lang="en-US" sz="1800" kern="100" dirty="0">
              <a:solidFill>
                <a:schemeClr val="accent5">
                  <a:lumMod val="75000"/>
                </a:schemeClr>
              </a:solidFill>
              <a:effectLst/>
              <a:latin typeface="Arial Black" panose="020B0A0402010202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0"/>
              </a:spcAft>
              <a:buFont typeface="Symbol" panose="05050102010706020507" pitchFamily="18" charset="2"/>
              <a:buChar char=""/>
            </a:pPr>
            <a:r>
              <a:rPr lang="en-US" sz="1800" b="1" kern="100" dirty="0">
                <a:solidFill>
                  <a:schemeClr val="accent5">
                    <a:lumMod val="75000"/>
                  </a:schemeClr>
                </a:solidFill>
                <a:effectLst/>
                <a:latin typeface="Arial Black" panose="020B0A04020102020204" pitchFamily="34" charset="0"/>
                <a:ea typeface="Calibri" panose="020F0502020204030204" pitchFamily="34" charset="0"/>
                <a:cs typeface="Arial" panose="020B0604020202020204" pitchFamily="34" charset="0"/>
              </a:rPr>
              <a:t>(25-35): Working women or newlyweds, with a greater focus on skincare routines and solutions for skin and hair problems.</a:t>
            </a:r>
            <a:endParaRPr lang="en-US" sz="1800" kern="100" dirty="0">
              <a:solidFill>
                <a:schemeClr val="accent5">
                  <a:lumMod val="75000"/>
                </a:schemeClr>
              </a:solidFill>
              <a:effectLst/>
              <a:latin typeface="Arial Black" panose="020B0A0402010202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buFont typeface="Symbol" panose="05050102010706020507" pitchFamily="18" charset="2"/>
              <a:buChar char=""/>
            </a:pPr>
            <a:r>
              <a:rPr lang="en-US" sz="1800" b="1" kern="100" dirty="0">
                <a:solidFill>
                  <a:schemeClr val="accent5">
                    <a:lumMod val="75000"/>
                  </a:schemeClr>
                </a:solidFill>
                <a:effectLst/>
                <a:latin typeface="Arial Black" panose="020B0A04020102020204" pitchFamily="34" charset="0"/>
                <a:ea typeface="Calibri" panose="020F0502020204030204" pitchFamily="34" charset="0"/>
                <a:cs typeface="Arial" panose="020B0604020202020204" pitchFamily="34" charset="0"/>
              </a:rPr>
              <a:t>(35-45): Those interested in anti-wrinkle products, intensive care, and trusted brands. </a:t>
            </a:r>
            <a:endParaRPr lang="en-US" sz="1800" kern="100" dirty="0">
              <a:solidFill>
                <a:schemeClr val="accent5">
                  <a:lumMod val="75000"/>
                </a:schemeClr>
              </a:solidFill>
              <a:effectLst/>
              <a:latin typeface="Arial Black" panose="020B0A0402010202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1800" b="1" kern="100" dirty="0">
                <a:solidFill>
                  <a:schemeClr val="accent5">
                    <a:lumMod val="75000"/>
                  </a:schemeClr>
                </a:solidFill>
                <a:effectLst/>
                <a:latin typeface="Arial Black" panose="020B0A04020102020204" pitchFamily="34" charset="0"/>
                <a:ea typeface="Calibri" panose="020F0502020204030204" pitchFamily="34" charset="0"/>
                <a:cs typeface="Arial" panose="020B0604020202020204" pitchFamily="34" charset="0"/>
              </a:rPr>
              <a:t>Geographic location: All governorates of Egypt.</a:t>
            </a:r>
            <a:r>
              <a:rPr lang="en-US" sz="1800" kern="100" dirty="0">
                <a:solidFill>
                  <a:schemeClr val="accent5">
                    <a:lumMod val="75000"/>
                  </a:schemeClr>
                </a:solidFill>
                <a:effectLst/>
                <a:latin typeface="Arial Black" panose="020B0A04020102020204" pitchFamily="34" charset="0"/>
                <a:ea typeface="Calibri" panose="020F0502020204030204" pitchFamily="34" charset="0"/>
                <a:cs typeface="Arial" panose="020B0604020202020204" pitchFamily="34" charset="0"/>
              </a:rPr>
              <a:t> </a:t>
            </a:r>
            <a:r>
              <a:rPr lang="en-US" sz="1800" b="1" kern="100" dirty="0">
                <a:solidFill>
                  <a:schemeClr val="accent5">
                    <a:lumMod val="75000"/>
                  </a:schemeClr>
                </a:solidFill>
                <a:effectLst/>
                <a:latin typeface="Arial Black" panose="020B0A04020102020204" pitchFamily="34" charset="0"/>
                <a:ea typeface="Calibri" panose="020F0502020204030204" pitchFamily="34" charset="0"/>
                <a:cs typeface="Arial" panose="020B0604020202020204" pitchFamily="34" charset="0"/>
              </a:rPr>
              <a:t>Customers are mainly located in major Egyptian cities such as Cairo, Giza, and Alexandria, where online shopping is more common and delivery services are widely used.</a:t>
            </a:r>
            <a:endParaRPr lang="en-US" sz="1800" kern="100" dirty="0">
              <a:solidFill>
                <a:schemeClr val="accent5">
                  <a:lumMod val="75000"/>
                </a:schemeClr>
              </a:solidFill>
              <a:effectLst/>
              <a:latin typeface="Arial Black" panose="020B0A04020102020204" pitchFamily="34" charset="0"/>
              <a:ea typeface="Calibri" panose="020F0502020204030204" pitchFamily="34" charset="0"/>
              <a:cs typeface="Arial" panose="020B0604020202020204" pitchFamily="34" charset="0"/>
            </a:endParaRPr>
          </a:p>
          <a:p>
            <a:endParaRPr lang="en-US" dirty="0"/>
          </a:p>
        </p:txBody>
      </p:sp>
      <p:sp>
        <p:nvSpPr>
          <p:cNvPr id="11" name="TextBox 10">
            <a:extLst>
              <a:ext uri="{FF2B5EF4-FFF2-40B4-BE49-F238E27FC236}">
                <a16:creationId xmlns:a16="http://schemas.microsoft.com/office/drawing/2014/main" id="{D7B530A3-D79C-8A13-7BA7-5F748A5C8256}"/>
              </a:ext>
            </a:extLst>
          </p:cNvPr>
          <p:cNvSpPr txBox="1"/>
          <p:nvPr/>
        </p:nvSpPr>
        <p:spPr>
          <a:xfrm>
            <a:off x="8991600" y="5988700"/>
            <a:ext cx="7543800" cy="3446969"/>
          </a:xfrm>
          <a:prstGeom prst="rect">
            <a:avLst/>
          </a:prstGeom>
          <a:noFill/>
        </p:spPr>
        <p:txBody>
          <a:bodyPr wrap="square" rtlCol="0">
            <a:spAutoFit/>
          </a:bodyPr>
          <a:lstStyle/>
          <a:p>
            <a:pPr marL="0" marR="0">
              <a:lnSpc>
                <a:spcPct val="107000"/>
              </a:lnSpc>
              <a:spcBef>
                <a:spcPts val="0"/>
              </a:spcBef>
              <a:spcAft>
                <a:spcPts val="800"/>
              </a:spcAft>
            </a:pPr>
            <a:r>
              <a:rPr lang="en-US" sz="1800" b="1" u="sng" kern="100" dirty="0">
                <a:solidFill>
                  <a:srgbClr val="428C7E"/>
                </a:solidFill>
                <a:effectLst/>
                <a:latin typeface="Arial Black" panose="020B0A04020102020204" pitchFamily="34" charset="0"/>
                <a:ea typeface="Calibri" panose="020F0502020204030204" pitchFamily="34" charset="0"/>
                <a:cs typeface="Arial" panose="020B0604020202020204" pitchFamily="34" charset="0"/>
              </a:rPr>
              <a:t>Psychographic and Behavior</a:t>
            </a:r>
            <a:endParaRPr lang="en-US" sz="1800" kern="100" dirty="0">
              <a:solidFill>
                <a:srgbClr val="428C7E"/>
              </a:solidFill>
              <a:effectLst/>
              <a:latin typeface="Arial Black" panose="020B0A0402010202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1800" b="1" kern="100" dirty="0">
                <a:solidFill>
                  <a:schemeClr val="accent5">
                    <a:lumMod val="75000"/>
                  </a:schemeClr>
                </a:solidFill>
                <a:effectLst/>
                <a:latin typeface="Arial Black" panose="020B0A04020102020204" pitchFamily="34" charset="0"/>
                <a:ea typeface="Calibri" panose="020F0502020204030204" pitchFamily="34" charset="0"/>
                <a:cs typeface="Arial" panose="020B0604020202020204" pitchFamily="34" charset="0"/>
              </a:rPr>
              <a:t>Customers interested in: Skincare routines and beauty tips,</a:t>
            </a:r>
            <a:r>
              <a:rPr lang="en-US" sz="1800" kern="100" dirty="0">
                <a:solidFill>
                  <a:schemeClr val="accent5">
                    <a:lumMod val="75000"/>
                  </a:schemeClr>
                </a:solidFill>
                <a:effectLst/>
                <a:latin typeface="Arial Black" panose="020B0A04020102020204" pitchFamily="34" charset="0"/>
                <a:ea typeface="Calibri" panose="020F0502020204030204" pitchFamily="34" charset="0"/>
                <a:cs typeface="Arial" panose="020B0604020202020204" pitchFamily="34" charset="0"/>
              </a:rPr>
              <a:t> </a:t>
            </a:r>
            <a:r>
              <a:rPr lang="en-US" sz="1800" b="1" kern="100" dirty="0">
                <a:solidFill>
                  <a:schemeClr val="accent5">
                    <a:lumMod val="75000"/>
                  </a:schemeClr>
                </a:solidFill>
                <a:effectLst/>
                <a:latin typeface="Arial Black" panose="020B0A04020102020204" pitchFamily="34" charset="0"/>
                <a:ea typeface="Calibri" panose="020F0502020204030204" pitchFamily="34" charset="0"/>
                <a:cs typeface="Arial" panose="020B0604020202020204" pitchFamily="34" charset="0"/>
              </a:rPr>
              <a:t>Haircare products and treatments,</a:t>
            </a:r>
            <a:r>
              <a:rPr lang="en-US" sz="1800" kern="100" dirty="0">
                <a:solidFill>
                  <a:schemeClr val="accent5">
                    <a:lumMod val="75000"/>
                  </a:schemeClr>
                </a:solidFill>
                <a:effectLst/>
                <a:latin typeface="Arial Black" panose="020B0A04020102020204" pitchFamily="34" charset="0"/>
                <a:ea typeface="Calibri" panose="020F0502020204030204" pitchFamily="34" charset="0"/>
                <a:cs typeface="Arial" panose="020B0604020202020204" pitchFamily="34" charset="0"/>
              </a:rPr>
              <a:t> </a:t>
            </a:r>
            <a:r>
              <a:rPr lang="en-US" sz="1800" b="1" kern="100" dirty="0">
                <a:solidFill>
                  <a:schemeClr val="accent5">
                    <a:lumMod val="75000"/>
                  </a:schemeClr>
                </a:solidFill>
                <a:effectLst/>
                <a:latin typeface="Arial Black" panose="020B0A04020102020204" pitchFamily="34" charset="0"/>
                <a:ea typeface="Calibri" panose="020F0502020204030204" pitchFamily="34" charset="0"/>
                <a:cs typeface="Arial" panose="020B0604020202020204" pitchFamily="34" charset="0"/>
              </a:rPr>
              <a:t>Following beauty influencers on social media</a:t>
            </a:r>
            <a:endParaRPr lang="en-US" sz="1800" kern="100" dirty="0">
              <a:solidFill>
                <a:schemeClr val="accent5">
                  <a:lumMod val="75000"/>
                </a:schemeClr>
              </a:solidFill>
              <a:effectLst/>
              <a:latin typeface="Arial Black" panose="020B0A0402010202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1800" b="1" kern="100" dirty="0">
                <a:solidFill>
                  <a:schemeClr val="accent5">
                    <a:lumMod val="75000"/>
                  </a:schemeClr>
                </a:solidFill>
                <a:effectLst/>
                <a:latin typeface="Arial Black" panose="020B0A04020102020204" pitchFamily="34" charset="0"/>
                <a:ea typeface="Calibri" panose="020F0502020204030204" pitchFamily="34" charset="0"/>
                <a:cs typeface="Arial" panose="020B0604020202020204" pitchFamily="34" charset="0"/>
              </a:rPr>
              <a:t>The target audience spends significant time on social media platforms such as Instagram, TikTok, and Facebook</a:t>
            </a:r>
            <a:endParaRPr lang="en-US" sz="1800" kern="100" dirty="0">
              <a:solidFill>
                <a:schemeClr val="accent5">
                  <a:lumMod val="75000"/>
                </a:schemeClr>
              </a:solidFill>
              <a:effectLst/>
              <a:latin typeface="Arial Black" panose="020B0A0402010202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1800" b="1" kern="100" dirty="0">
                <a:solidFill>
                  <a:schemeClr val="accent5">
                    <a:lumMod val="75000"/>
                  </a:schemeClr>
                </a:solidFill>
                <a:effectLst/>
                <a:latin typeface="Arial Black" panose="020B0A04020102020204" pitchFamily="34" charset="0"/>
                <a:ea typeface="Calibri" panose="020F0502020204030204" pitchFamily="34" charset="0"/>
                <a:cs typeface="Arial" panose="020B0604020202020204" pitchFamily="34" charset="0"/>
              </a:rPr>
              <a:t>These platforms play an important role in discovering new cosmetic products, watching reviews, and interacting with beauty brands.</a:t>
            </a:r>
            <a:endParaRPr lang="en-US" sz="1800" kern="100" dirty="0">
              <a:solidFill>
                <a:schemeClr val="accent5">
                  <a:lumMod val="75000"/>
                </a:schemeClr>
              </a:solidFill>
              <a:effectLst/>
              <a:latin typeface="Arial Black" panose="020B0A04020102020204" pitchFamily="34" charset="0"/>
              <a:ea typeface="Calibri" panose="020F0502020204030204" pitchFamily="34" charset="0"/>
              <a:cs typeface="Arial" panose="020B0604020202020204" pitchFamily="34" charset="0"/>
            </a:endParaRPr>
          </a:p>
          <a:p>
            <a:endParaRPr lang="en-US" dirty="0"/>
          </a:p>
        </p:txBody>
      </p:sp>
      <p:sp>
        <p:nvSpPr>
          <p:cNvPr id="17" name="Freeform 2">
            <a:extLst>
              <a:ext uri="{FF2B5EF4-FFF2-40B4-BE49-F238E27FC236}">
                <a16:creationId xmlns:a16="http://schemas.microsoft.com/office/drawing/2014/main" id="{296E467F-8EB8-3EA1-E01F-8126D44120A0}"/>
              </a:ext>
            </a:extLst>
          </p:cNvPr>
          <p:cNvSpPr/>
          <p:nvPr/>
        </p:nvSpPr>
        <p:spPr>
          <a:xfrm>
            <a:off x="4152900" y="-2857500"/>
            <a:ext cx="15232938" cy="14208177"/>
          </a:xfrm>
          <a:custGeom>
            <a:avLst/>
            <a:gdLst/>
            <a:ahLst/>
            <a:cxnLst/>
            <a:rect l="l" t="t" r="r" b="b"/>
            <a:pathLst>
              <a:path w="15232938" h="14208177">
                <a:moveTo>
                  <a:pt x="0" y="0"/>
                </a:moveTo>
                <a:lnTo>
                  <a:pt x="15232938" y="0"/>
                </a:lnTo>
                <a:lnTo>
                  <a:pt x="15232938" y="14208177"/>
                </a:lnTo>
                <a:lnTo>
                  <a:pt x="0" y="14208177"/>
                </a:lnTo>
                <a:lnTo>
                  <a:pt x="0" y="0"/>
                </a:lnTo>
                <a:close/>
              </a:path>
            </a:pathLst>
          </a:custGeom>
          <a:blipFill>
            <a:blip r:embed="rId2">
              <a:alphaModFix amt="15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18" name="Freeform 2">
            <a:extLst>
              <a:ext uri="{FF2B5EF4-FFF2-40B4-BE49-F238E27FC236}">
                <a16:creationId xmlns:a16="http://schemas.microsoft.com/office/drawing/2014/main" id="{22094195-9CB7-9149-08F0-BE435C403BBA}"/>
              </a:ext>
            </a:extLst>
          </p:cNvPr>
          <p:cNvSpPr/>
          <p:nvPr/>
        </p:nvSpPr>
        <p:spPr>
          <a:xfrm>
            <a:off x="-5334000" y="3719549"/>
            <a:ext cx="15232938" cy="14208177"/>
          </a:xfrm>
          <a:custGeom>
            <a:avLst/>
            <a:gdLst/>
            <a:ahLst/>
            <a:cxnLst/>
            <a:rect l="l" t="t" r="r" b="b"/>
            <a:pathLst>
              <a:path w="15232938" h="14208177">
                <a:moveTo>
                  <a:pt x="0" y="0"/>
                </a:moveTo>
                <a:lnTo>
                  <a:pt x="15232938" y="0"/>
                </a:lnTo>
                <a:lnTo>
                  <a:pt x="15232938" y="14208177"/>
                </a:lnTo>
                <a:lnTo>
                  <a:pt x="0" y="14208177"/>
                </a:lnTo>
                <a:lnTo>
                  <a:pt x="0" y="0"/>
                </a:lnTo>
                <a:close/>
              </a:path>
            </a:pathLst>
          </a:custGeom>
          <a:blipFill>
            <a:blip r:embed="rId2">
              <a:alphaModFix amt="15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2" name="Rectangle: Rounded Corners 1">
            <a:extLst>
              <a:ext uri="{FF2B5EF4-FFF2-40B4-BE49-F238E27FC236}">
                <a16:creationId xmlns:a16="http://schemas.microsoft.com/office/drawing/2014/main" id="{6A4CE287-627F-9209-364F-B916979F58DD}"/>
              </a:ext>
            </a:extLst>
          </p:cNvPr>
          <p:cNvSpPr/>
          <p:nvPr/>
        </p:nvSpPr>
        <p:spPr>
          <a:xfrm>
            <a:off x="590550" y="381000"/>
            <a:ext cx="17106900" cy="9525000"/>
          </a:xfrm>
          <a:prstGeom prst="roundRect">
            <a:avLst/>
          </a:prstGeom>
          <a:solidFill>
            <a:srgbClr val="3A8A91">
              <a:alpha val="1294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EAF4F4"/>
        </a:solidFill>
        <a:effectLst/>
      </p:bgPr>
    </p:bg>
    <p:spTree>
      <p:nvGrpSpPr>
        <p:cNvPr id="1" name=""/>
        <p:cNvGrpSpPr/>
        <p:nvPr/>
      </p:nvGrpSpPr>
      <p:grpSpPr>
        <a:xfrm>
          <a:off x="0" y="0"/>
          <a:ext cx="0" cy="0"/>
          <a:chOff x="0" y="0"/>
          <a:chExt cx="0" cy="0"/>
        </a:xfrm>
      </p:grpSpPr>
      <p:sp>
        <p:nvSpPr>
          <p:cNvPr id="2" name="Freeform 2"/>
          <p:cNvSpPr/>
          <p:nvPr/>
        </p:nvSpPr>
        <p:spPr>
          <a:xfrm>
            <a:off x="-3505200" y="-1370098"/>
            <a:ext cx="15883821" cy="6151371"/>
          </a:xfrm>
          <a:custGeom>
            <a:avLst/>
            <a:gdLst/>
            <a:ahLst/>
            <a:cxnLst/>
            <a:rect l="l" t="t" r="r" b="b"/>
            <a:pathLst>
              <a:path w="15883821" h="6151371">
                <a:moveTo>
                  <a:pt x="0" y="0"/>
                </a:moveTo>
                <a:lnTo>
                  <a:pt x="15883821" y="0"/>
                </a:lnTo>
                <a:lnTo>
                  <a:pt x="15883821" y="6151371"/>
                </a:lnTo>
                <a:lnTo>
                  <a:pt x="0" y="6151371"/>
                </a:lnTo>
                <a:lnTo>
                  <a:pt x="0" y="0"/>
                </a:lnTo>
                <a:close/>
              </a:path>
            </a:pathLst>
          </a:custGeom>
          <a:blipFill>
            <a:blip r:embed="rId2">
              <a:alphaModFix amt="15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a:p>
        </p:txBody>
      </p:sp>
      <p:sp>
        <p:nvSpPr>
          <p:cNvPr id="5" name="TextBox 5"/>
          <p:cNvSpPr txBox="1"/>
          <p:nvPr/>
        </p:nvSpPr>
        <p:spPr>
          <a:xfrm>
            <a:off x="914400" y="1041944"/>
            <a:ext cx="9870025" cy="1327286"/>
          </a:xfrm>
          <a:prstGeom prst="rect">
            <a:avLst/>
          </a:prstGeom>
        </p:spPr>
        <p:txBody>
          <a:bodyPr lIns="0" tIns="0" rIns="0" bIns="0" rtlCol="0" anchor="t">
            <a:spAutoFit/>
          </a:bodyPr>
          <a:lstStyle/>
          <a:p>
            <a:pPr algn="l">
              <a:lnSpc>
                <a:spcPts val="9350"/>
              </a:lnSpc>
            </a:pPr>
            <a:r>
              <a:rPr lang="en-US" sz="11000" spc="-418" dirty="0">
                <a:solidFill>
                  <a:srgbClr val="3A8A91"/>
                </a:solidFill>
                <a:latin typeface="TT Fors"/>
                <a:ea typeface="TT Fors"/>
                <a:cs typeface="TT Fors"/>
                <a:sym typeface="TT Fors"/>
              </a:rPr>
              <a:t>Buyer Persona</a:t>
            </a:r>
          </a:p>
        </p:txBody>
      </p:sp>
      <p:sp>
        <p:nvSpPr>
          <p:cNvPr id="7" name="TextBox 7"/>
          <p:cNvSpPr txBox="1"/>
          <p:nvPr/>
        </p:nvSpPr>
        <p:spPr>
          <a:xfrm>
            <a:off x="1350609" y="3055734"/>
            <a:ext cx="6172201" cy="5660332"/>
          </a:xfrm>
          <a:prstGeom prst="rect">
            <a:avLst/>
          </a:prstGeom>
        </p:spPr>
        <p:txBody>
          <a:bodyPr wrap="square" lIns="0" tIns="0" rIns="0" bIns="0" rtlCol="0" anchor="t">
            <a:spAutoFit/>
          </a:bodyPr>
          <a:lstStyle/>
          <a:p>
            <a:pPr marL="0" marR="0">
              <a:lnSpc>
                <a:spcPct val="107000"/>
              </a:lnSpc>
              <a:spcBef>
                <a:spcPts val="0"/>
              </a:spcBef>
              <a:spcAft>
                <a:spcPts val="800"/>
              </a:spcAft>
            </a:pPr>
            <a:r>
              <a:rPr lang="en-US" sz="2000" b="1" kern="100" dirty="0">
                <a:solidFill>
                  <a:srgbClr val="428C7E"/>
                </a:solidFill>
                <a:effectLst/>
                <a:latin typeface="Arial Black" panose="020B0A04020102020204" pitchFamily="34" charset="0"/>
                <a:ea typeface="Calibri" panose="020F0502020204030204" pitchFamily="34" charset="0"/>
                <a:cs typeface="Arial" panose="020B0604020202020204" pitchFamily="34" charset="0"/>
              </a:rPr>
              <a:t>Persona 1: </a:t>
            </a:r>
            <a:r>
              <a:rPr lang="en-US" sz="2000" b="1" kern="100" dirty="0" err="1">
                <a:solidFill>
                  <a:srgbClr val="428C7E"/>
                </a:solidFill>
                <a:effectLst/>
                <a:latin typeface="Arial Black" panose="020B0A04020102020204" pitchFamily="34" charset="0"/>
                <a:ea typeface="Calibri" panose="020F0502020204030204" pitchFamily="34" charset="0"/>
                <a:cs typeface="Arial" panose="020B0604020202020204" pitchFamily="34" charset="0"/>
              </a:rPr>
              <a:t>Sedra</a:t>
            </a:r>
            <a:r>
              <a:rPr lang="en-US" sz="2000" b="1" kern="100" dirty="0">
                <a:solidFill>
                  <a:srgbClr val="428C7E"/>
                </a:solidFill>
                <a:effectLst/>
                <a:latin typeface="Arial Black" panose="020B0A04020102020204" pitchFamily="34" charset="0"/>
                <a:ea typeface="Calibri" panose="020F0502020204030204" pitchFamily="34" charset="0"/>
                <a:cs typeface="Arial" panose="020B0604020202020204" pitchFamily="34" charset="0"/>
              </a:rPr>
              <a:t> Eslam</a:t>
            </a:r>
            <a:endParaRPr lang="en-US" sz="2000" kern="100" dirty="0">
              <a:solidFill>
                <a:srgbClr val="428C7E"/>
              </a:solidFill>
              <a:effectLst/>
              <a:latin typeface="Arial Black" panose="020B0A0402010202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2000" b="1" kern="100" dirty="0">
                <a:solidFill>
                  <a:srgbClr val="428C7E"/>
                </a:solidFill>
                <a:effectLst/>
                <a:latin typeface="Arial Black" panose="020B0A04020102020204" pitchFamily="34" charset="0"/>
                <a:ea typeface="Calibri" panose="020F0502020204030204" pitchFamily="34" charset="0"/>
                <a:cs typeface="Arial" panose="020B0604020202020204" pitchFamily="34" charset="0"/>
              </a:rPr>
              <a:t>Age: 18-22 years old.</a:t>
            </a:r>
            <a:endParaRPr lang="en-US" sz="2000" kern="100" dirty="0">
              <a:solidFill>
                <a:srgbClr val="428C7E"/>
              </a:solidFill>
              <a:effectLst/>
              <a:latin typeface="Arial Black" panose="020B0A0402010202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2000" b="1" kern="100" dirty="0">
                <a:solidFill>
                  <a:srgbClr val="428C7E"/>
                </a:solidFill>
                <a:effectLst/>
                <a:latin typeface="Arial Black" panose="020B0A04020102020204" pitchFamily="34" charset="0"/>
                <a:ea typeface="Calibri" panose="020F0502020204030204" pitchFamily="34" charset="0"/>
                <a:cs typeface="Arial" panose="020B0604020202020204" pitchFamily="34" charset="0"/>
              </a:rPr>
              <a:t>Status: University student.</a:t>
            </a:r>
            <a:endParaRPr lang="en-US" sz="2000" kern="100" dirty="0">
              <a:solidFill>
                <a:srgbClr val="428C7E"/>
              </a:solidFill>
              <a:effectLst/>
              <a:latin typeface="Arial Black" panose="020B0A0402010202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2000" b="1" kern="100" dirty="0">
                <a:solidFill>
                  <a:srgbClr val="428C7E"/>
                </a:solidFill>
                <a:effectLst/>
                <a:latin typeface="Arial Black" panose="020B0A04020102020204" pitchFamily="34" charset="0"/>
                <a:ea typeface="Calibri" panose="020F0502020204030204" pitchFamily="34" charset="0"/>
                <a:cs typeface="Arial" panose="020B0604020202020204" pitchFamily="34" charset="0"/>
              </a:rPr>
              <a:t>Preferred platforms: TikTok and Instagram.</a:t>
            </a:r>
            <a:endParaRPr lang="en-US" sz="2000" kern="100" dirty="0">
              <a:solidFill>
                <a:srgbClr val="428C7E"/>
              </a:solidFill>
              <a:effectLst/>
              <a:latin typeface="Arial Black" panose="020B0A0402010202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2000" b="1" kern="100" dirty="0">
                <a:solidFill>
                  <a:srgbClr val="428C7E"/>
                </a:solidFill>
                <a:effectLst/>
                <a:latin typeface="Arial Black" panose="020B0A04020102020204" pitchFamily="34" charset="0"/>
                <a:ea typeface="Calibri" panose="020F0502020204030204" pitchFamily="34" charset="0"/>
                <a:cs typeface="Arial" panose="020B0604020202020204" pitchFamily="34" charset="0"/>
              </a:rPr>
              <a:t>Behavior: Constantly follows bloggers; if a product goes viral on TikTok, she wants to try it immediately.</a:t>
            </a:r>
            <a:endParaRPr lang="en-US" sz="2000" kern="100" dirty="0">
              <a:solidFill>
                <a:srgbClr val="428C7E"/>
              </a:solidFill>
              <a:effectLst/>
              <a:latin typeface="Arial Black" panose="020B0A0402010202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2000" b="1" kern="100" dirty="0">
                <a:solidFill>
                  <a:srgbClr val="428C7E"/>
                </a:solidFill>
                <a:effectLst/>
                <a:latin typeface="Arial Black" panose="020B0A04020102020204" pitchFamily="34" charset="0"/>
                <a:ea typeface="Calibri" panose="020F0502020204030204" pitchFamily="34" charset="0"/>
                <a:cs typeface="Arial" panose="020B0604020202020204" pitchFamily="34" charset="0"/>
              </a:rPr>
              <a:t>Pain Point: Limited budget, and international brands have become very expensive.</a:t>
            </a:r>
            <a:endParaRPr lang="en-US" sz="2000" kern="100" dirty="0">
              <a:solidFill>
                <a:srgbClr val="428C7E"/>
              </a:solidFill>
              <a:effectLst/>
              <a:latin typeface="Arial Black" panose="020B0A0402010202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2000" b="1" kern="100" dirty="0">
                <a:solidFill>
                  <a:srgbClr val="428C7E"/>
                </a:solidFill>
                <a:effectLst/>
                <a:latin typeface="Arial Black" panose="020B0A04020102020204" pitchFamily="34" charset="0"/>
                <a:ea typeface="Calibri" panose="020F0502020204030204" pitchFamily="34" charset="0"/>
                <a:cs typeface="Arial" panose="020B0604020202020204" pitchFamily="34" charset="0"/>
              </a:rPr>
              <a:t>Why Luka Store?: Because you'll find dupes of international products at competitive prices, and you can easily order them from the website.</a:t>
            </a:r>
            <a:endParaRPr lang="en-US" sz="2000" kern="100" dirty="0">
              <a:solidFill>
                <a:srgbClr val="428C7E"/>
              </a:solidFill>
              <a:effectLst/>
              <a:latin typeface="Arial Black" panose="020B0A04020102020204" pitchFamily="34" charset="0"/>
              <a:ea typeface="Calibri" panose="020F0502020204030204" pitchFamily="34" charset="0"/>
              <a:cs typeface="Arial" panose="020B0604020202020204" pitchFamily="34" charset="0"/>
            </a:endParaRPr>
          </a:p>
          <a:p>
            <a:pPr marL="0" lvl="0" indent="0" algn="l">
              <a:lnSpc>
                <a:spcPts val="2538"/>
              </a:lnSpc>
              <a:spcBef>
                <a:spcPct val="0"/>
              </a:spcBef>
            </a:pPr>
            <a:endParaRPr lang="en-US" sz="2372" u="none" strike="noStrike" dirty="0">
              <a:solidFill>
                <a:srgbClr val="3A8A91"/>
              </a:solidFill>
              <a:latin typeface="TT Fors"/>
              <a:ea typeface="TT Fors"/>
              <a:cs typeface="TT Fors"/>
              <a:sym typeface="TT Fors"/>
            </a:endParaRPr>
          </a:p>
        </p:txBody>
      </p:sp>
      <p:sp>
        <p:nvSpPr>
          <p:cNvPr id="8" name="TextBox 8"/>
          <p:cNvSpPr txBox="1"/>
          <p:nvPr/>
        </p:nvSpPr>
        <p:spPr>
          <a:xfrm>
            <a:off x="10058400" y="3055734"/>
            <a:ext cx="6812520" cy="6633996"/>
          </a:xfrm>
          <a:prstGeom prst="rect">
            <a:avLst/>
          </a:prstGeom>
        </p:spPr>
        <p:txBody>
          <a:bodyPr wrap="square" lIns="0" tIns="0" rIns="0" bIns="0" rtlCol="0" anchor="t">
            <a:spAutoFit/>
          </a:bodyPr>
          <a:lstStyle/>
          <a:p>
            <a:pPr marL="0" marR="0">
              <a:lnSpc>
                <a:spcPct val="107000"/>
              </a:lnSpc>
              <a:spcBef>
                <a:spcPts val="0"/>
              </a:spcBef>
              <a:spcAft>
                <a:spcPts val="800"/>
              </a:spcAft>
            </a:pPr>
            <a:r>
              <a:rPr lang="en-US" sz="2000" b="1" kern="100" dirty="0">
                <a:solidFill>
                  <a:srgbClr val="428C7E"/>
                </a:solidFill>
                <a:effectLst/>
                <a:latin typeface="Arial Black" panose="020B0A04020102020204" pitchFamily="34" charset="0"/>
                <a:ea typeface="Calibri" panose="020F0502020204030204" pitchFamily="34" charset="0"/>
                <a:cs typeface="Arial" panose="020B0604020202020204" pitchFamily="34" charset="0"/>
              </a:rPr>
              <a:t>Persona 2: Nour Mohamed</a:t>
            </a:r>
            <a:endParaRPr lang="en-US" sz="2000" kern="100" dirty="0">
              <a:solidFill>
                <a:srgbClr val="428C7E"/>
              </a:solidFill>
              <a:effectLst/>
              <a:latin typeface="Arial Black" panose="020B0A0402010202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2000" b="1" kern="100" dirty="0">
                <a:solidFill>
                  <a:srgbClr val="428C7E"/>
                </a:solidFill>
                <a:effectLst/>
                <a:latin typeface="Arial Black" panose="020B0A04020102020204" pitchFamily="34" charset="0"/>
                <a:ea typeface="Calibri" panose="020F0502020204030204" pitchFamily="34" charset="0"/>
                <a:cs typeface="Arial" panose="020B0604020202020204" pitchFamily="34" charset="0"/>
              </a:rPr>
              <a:t>Age: 25 – 35</a:t>
            </a:r>
            <a:endParaRPr lang="en-US" sz="2000" kern="100" dirty="0">
              <a:solidFill>
                <a:srgbClr val="428C7E"/>
              </a:solidFill>
              <a:effectLst/>
              <a:latin typeface="Arial Black" panose="020B0A0402010202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2000" b="1" kern="100" dirty="0">
                <a:solidFill>
                  <a:srgbClr val="428C7E"/>
                </a:solidFill>
                <a:effectLst/>
                <a:latin typeface="Arial Black" panose="020B0A04020102020204" pitchFamily="34" charset="0"/>
                <a:ea typeface="Calibri" panose="020F0502020204030204" pitchFamily="34" charset="0"/>
                <a:cs typeface="Arial" panose="020B0604020202020204" pitchFamily="34" charset="0"/>
              </a:rPr>
              <a:t>Status: Employed or newly married.</a:t>
            </a:r>
            <a:endParaRPr lang="en-US" sz="2000" kern="100" dirty="0">
              <a:solidFill>
                <a:srgbClr val="428C7E"/>
              </a:solidFill>
              <a:effectLst/>
              <a:latin typeface="Arial Black" panose="020B0A0402010202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2000" b="1" kern="100" dirty="0">
                <a:solidFill>
                  <a:srgbClr val="428C7E"/>
                </a:solidFill>
                <a:effectLst/>
                <a:latin typeface="Arial Black" panose="020B0A04020102020204" pitchFamily="34" charset="0"/>
                <a:ea typeface="Calibri" panose="020F0502020204030204" pitchFamily="34" charset="0"/>
                <a:cs typeface="Arial" panose="020B0604020202020204" pitchFamily="34" charset="0"/>
              </a:rPr>
              <a:t>Preferred platforms: Facebook Groups and WhatsApp.</a:t>
            </a:r>
            <a:endParaRPr lang="en-US" sz="2000" kern="100" dirty="0">
              <a:solidFill>
                <a:srgbClr val="428C7E"/>
              </a:solidFill>
              <a:effectLst/>
              <a:latin typeface="Arial Black" panose="020B0A0402010202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2000" b="1" kern="100" dirty="0">
                <a:solidFill>
                  <a:srgbClr val="428C7E"/>
                </a:solidFill>
                <a:effectLst/>
                <a:latin typeface="Arial Black" panose="020B0A04020102020204" pitchFamily="34" charset="0"/>
                <a:ea typeface="Calibri" panose="020F0502020204030204" pitchFamily="34" charset="0"/>
                <a:cs typeface="Arial" panose="020B0604020202020204" pitchFamily="34" charset="0"/>
              </a:rPr>
              <a:t>behavior: She pays attention to reviews and reads the ingredients. She doesn't buy anything unless she's sure it's original and won't harm her skin.</a:t>
            </a:r>
            <a:endParaRPr lang="en-US" sz="2000" kern="100" dirty="0">
              <a:solidFill>
                <a:srgbClr val="428C7E"/>
              </a:solidFill>
              <a:effectLst/>
              <a:latin typeface="Arial Black" panose="020B0A0402010202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2000" b="1" kern="100" dirty="0">
                <a:solidFill>
                  <a:srgbClr val="428C7E"/>
                </a:solidFill>
                <a:effectLst/>
                <a:latin typeface="Arial Black" panose="020B0A04020102020204" pitchFamily="34" charset="0"/>
                <a:ea typeface="Calibri" panose="020F0502020204030204" pitchFamily="34" charset="0"/>
                <a:cs typeface="Arial" panose="020B0604020202020204" pitchFamily="34" charset="0"/>
              </a:rPr>
              <a:t>Pain Points:</a:t>
            </a:r>
            <a:r>
              <a:rPr lang="en-US" sz="2000" kern="100" dirty="0">
                <a:solidFill>
                  <a:srgbClr val="428C7E"/>
                </a:solidFill>
                <a:effectLst/>
                <a:latin typeface="Arial Black" panose="020B0A04020102020204" pitchFamily="34" charset="0"/>
                <a:ea typeface="Calibri" panose="020F0502020204030204" pitchFamily="34" charset="0"/>
                <a:cs typeface="Arial" panose="020B0604020202020204" pitchFamily="34" charset="0"/>
              </a:rPr>
              <a:t> </a:t>
            </a:r>
            <a:r>
              <a:rPr lang="en-US" sz="2000" b="1" kern="100" dirty="0">
                <a:solidFill>
                  <a:srgbClr val="428C7E"/>
                </a:solidFill>
                <a:effectLst/>
                <a:latin typeface="Arial Black" panose="020B0A04020102020204" pitchFamily="34" charset="0"/>
                <a:ea typeface="Calibri" panose="020F0502020204030204" pitchFamily="34" charset="0"/>
                <a:cs typeface="Arial" panose="020B0604020202020204" pitchFamily="34" charset="0"/>
              </a:rPr>
              <a:t>Limited availability of some imported products and original or copy </a:t>
            </a:r>
            <a:endParaRPr lang="en-US" sz="2000" kern="100" dirty="0">
              <a:solidFill>
                <a:srgbClr val="428C7E"/>
              </a:solidFill>
              <a:effectLst/>
              <a:latin typeface="Arial Black" panose="020B0A0402010202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2000" b="1" kern="100" dirty="0">
                <a:solidFill>
                  <a:srgbClr val="428C7E"/>
                </a:solidFill>
                <a:effectLst/>
                <a:latin typeface="Arial Black" panose="020B0A04020102020204" pitchFamily="34" charset="0"/>
                <a:ea typeface="Calibri" panose="020F0502020204030204" pitchFamily="34" charset="0"/>
                <a:cs typeface="Arial" panose="020B0604020202020204" pitchFamily="34" charset="0"/>
              </a:rPr>
              <a:t>Why Luka Store?: Because of the Social Proof (the reviews you have) and your presence on WhatsApp, which allows them to ask you questions and check on you before you pay, and their confidence in the Indian and Turkish products they provide.</a:t>
            </a:r>
            <a:endParaRPr lang="en-US" sz="2000" kern="100" dirty="0">
              <a:solidFill>
                <a:srgbClr val="428C7E"/>
              </a:solidFill>
              <a:effectLst/>
              <a:latin typeface="Arial Black" panose="020B0A04020102020204" pitchFamily="34" charset="0"/>
              <a:ea typeface="Calibri" panose="020F0502020204030204" pitchFamily="34" charset="0"/>
              <a:cs typeface="Arial" panose="020B0604020202020204" pitchFamily="34" charset="0"/>
            </a:endParaRPr>
          </a:p>
          <a:p>
            <a:pPr marL="0" lvl="0" indent="0" algn="l">
              <a:lnSpc>
                <a:spcPts val="2538"/>
              </a:lnSpc>
              <a:spcBef>
                <a:spcPct val="0"/>
              </a:spcBef>
            </a:pPr>
            <a:r>
              <a:rPr lang="en-US" sz="2000" u="none" strike="noStrike" dirty="0">
                <a:solidFill>
                  <a:srgbClr val="3A8A91"/>
                </a:solidFill>
                <a:latin typeface="TT Fors"/>
                <a:ea typeface="TT Fors"/>
                <a:cs typeface="TT Fors"/>
                <a:sym typeface="TT Fors"/>
              </a:rPr>
              <a:t>.</a:t>
            </a:r>
          </a:p>
        </p:txBody>
      </p:sp>
      <p:pic>
        <p:nvPicPr>
          <p:cNvPr id="9" name="Picture 8">
            <a:extLst>
              <a:ext uri="{FF2B5EF4-FFF2-40B4-BE49-F238E27FC236}">
                <a16:creationId xmlns:a16="http://schemas.microsoft.com/office/drawing/2014/main" id="{BF586463-8614-7B9C-7234-488F40A6BD1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468600" y="299408"/>
            <a:ext cx="2069822" cy="2069822"/>
          </a:xfrm>
          <a:prstGeom prst="rect">
            <a:avLst/>
          </a:prstGeom>
        </p:spPr>
      </p:pic>
      <p:sp>
        <p:nvSpPr>
          <p:cNvPr id="3" name="Rectangle: Rounded Corners 2">
            <a:extLst>
              <a:ext uri="{FF2B5EF4-FFF2-40B4-BE49-F238E27FC236}">
                <a16:creationId xmlns:a16="http://schemas.microsoft.com/office/drawing/2014/main" id="{FF698F8E-2D21-522E-55C8-62939EFB0A1C}"/>
              </a:ext>
            </a:extLst>
          </p:cNvPr>
          <p:cNvSpPr/>
          <p:nvPr/>
        </p:nvSpPr>
        <p:spPr>
          <a:xfrm>
            <a:off x="590550" y="381000"/>
            <a:ext cx="17106900" cy="9525000"/>
          </a:xfrm>
          <a:prstGeom prst="roundRect">
            <a:avLst/>
          </a:prstGeom>
          <a:solidFill>
            <a:srgbClr val="3A8A91">
              <a:alpha val="1294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AF4F4"/>
        </a:solidFill>
        <a:effectLst/>
      </p:bgPr>
    </p:bg>
    <p:spTree>
      <p:nvGrpSpPr>
        <p:cNvPr id="1" name=""/>
        <p:cNvGrpSpPr/>
        <p:nvPr/>
      </p:nvGrpSpPr>
      <p:grpSpPr>
        <a:xfrm>
          <a:off x="0" y="0"/>
          <a:ext cx="0" cy="0"/>
          <a:chOff x="0" y="0"/>
          <a:chExt cx="0" cy="0"/>
        </a:xfrm>
      </p:grpSpPr>
      <p:sp>
        <p:nvSpPr>
          <p:cNvPr id="2" name="Freeform 2"/>
          <p:cNvSpPr/>
          <p:nvPr/>
        </p:nvSpPr>
        <p:spPr>
          <a:xfrm rot="-102538">
            <a:off x="-396133" y="-637763"/>
            <a:ext cx="13521806" cy="13521806"/>
          </a:xfrm>
          <a:custGeom>
            <a:avLst/>
            <a:gdLst/>
            <a:ahLst/>
            <a:cxnLst/>
            <a:rect l="l" t="t" r="r" b="b"/>
            <a:pathLst>
              <a:path w="13521806" h="13521806">
                <a:moveTo>
                  <a:pt x="0" y="0"/>
                </a:moveTo>
                <a:lnTo>
                  <a:pt x="13521806" y="0"/>
                </a:lnTo>
                <a:lnTo>
                  <a:pt x="13521806" y="13521806"/>
                </a:lnTo>
                <a:lnTo>
                  <a:pt x="0" y="13521806"/>
                </a:lnTo>
                <a:lnTo>
                  <a:pt x="0" y="0"/>
                </a:lnTo>
                <a:close/>
              </a:path>
            </a:pathLst>
          </a:custGeom>
          <a:blipFill>
            <a:blip r:embed="rId2">
              <a:alphaModFix amt="27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a:p>
        </p:txBody>
      </p:sp>
      <p:sp>
        <p:nvSpPr>
          <p:cNvPr id="3" name="TextBox 3"/>
          <p:cNvSpPr txBox="1"/>
          <p:nvPr/>
        </p:nvSpPr>
        <p:spPr>
          <a:xfrm>
            <a:off x="2837208" y="4340832"/>
            <a:ext cx="12613583" cy="2224461"/>
          </a:xfrm>
          <a:prstGeom prst="rect">
            <a:avLst/>
          </a:prstGeom>
        </p:spPr>
        <p:txBody>
          <a:bodyPr lIns="0" tIns="0" rIns="0" bIns="0" rtlCol="0" anchor="t">
            <a:spAutoFit/>
          </a:bodyPr>
          <a:lstStyle/>
          <a:p>
            <a:pPr algn="ctr">
              <a:lnSpc>
                <a:spcPts val="15920"/>
              </a:lnSpc>
            </a:pPr>
            <a:r>
              <a:rPr lang="en-US" sz="18729" spc="-711">
                <a:solidFill>
                  <a:srgbClr val="3A8A91"/>
                </a:solidFill>
                <a:latin typeface="TT Fors"/>
                <a:ea typeface="TT Fors"/>
                <a:cs typeface="TT Fors"/>
                <a:sym typeface="TT Fors"/>
              </a:rPr>
              <a:t>Thank You!</a:t>
            </a:r>
          </a:p>
        </p:txBody>
      </p:sp>
      <p:pic>
        <p:nvPicPr>
          <p:cNvPr id="5" name="Picture 4">
            <a:extLst>
              <a:ext uri="{FF2B5EF4-FFF2-40B4-BE49-F238E27FC236}">
                <a16:creationId xmlns:a16="http://schemas.microsoft.com/office/drawing/2014/main" id="{DFD7AE0E-6AAA-26DC-F9D0-96BB619E48D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611600" y="8886518"/>
            <a:ext cx="1428750" cy="1428750"/>
          </a:xfrm>
          <a:prstGeom prst="rect">
            <a:avLst/>
          </a:prstGeom>
        </p:spPr>
      </p:pic>
      <p:sp>
        <p:nvSpPr>
          <p:cNvPr id="6" name="Rectangle: Rounded Corners 5">
            <a:extLst>
              <a:ext uri="{FF2B5EF4-FFF2-40B4-BE49-F238E27FC236}">
                <a16:creationId xmlns:a16="http://schemas.microsoft.com/office/drawing/2014/main" id="{BE4C5B09-83A9-DC66-5EF9-1AC92510B4F3}"/>
              </a:ext>
            </a:extLst>
          </p:cNvPr>
          <p:cNvSpPr/>
          <p:nvPr/>
        </p:nvSpPr>
        <p:spPr>
          <a:xfrm>
            <a:off x="3429000" y="3520011"/>
            <a:ext cx="11734800" cy="3246977"/>
          </a:xfrm>
          <a:prstGeom prst="roundRect">
            <a:avLst/>
          </a:prstGeom>
          <a:solidFill>
            <a:srgbClr val="D46BCA">
              <a:alpha val="14118"/>
            </a:srgbClr>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solidFill>
                <a:srgbClr val="C04497"/>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680</TotalTime>
  <Words>3641</Words>
  <Application>Microsoft Office PowerPoint</Application>
  <PresentationFormat>Custom</PresentationFormat>
  <Paragraphs>223</Paragraphs>
  <Slides>24</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24</vt:i4>
      </vt:variant>
    </vt:vector>
  </HeadingPairs>
  <TitlesOfParts>
    <vt:vector size="34" baseType="lpstr">
      <vt:lpstr>TT Fors</vt:lpstr>
      <vt:lpstr>TT Fors Bold</vt:lpstr>
      <vt:lpstr>Arial Black</vt:lpstr>
      <vt:lpstr>Aptos</vt:lpstr>
      <vt:lpstr>Times New Roman</vt:lpstr>
      <vt:lpstr>Wingdings</vt:lpstr>
      <vt:lpstr>Calibri</vt:lpstr>
      <vt:lpstr>Symbol</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Beige and Pink Modern Brand Strategy Presentation</dc:title>
  <dc:creator>COMPUMARTS</dc:creator>
  <cp:lastModifiedBy> </cp:lastModifiedBy>
  <cp:revision>8</cp:revision>
  <dcterms:created xsi:type="dcterms:W3CDTF">2006-08-16T00:00:00Z</dcterms:created>
  <dcterms:modified xsi:type="dcterms:W3CDTF">2026-03-10T23:33:28Z</dcterms:modified>
  <dc:identifier>DAHCvKLqw4M</dc:identifier>
</cp:coreProperties>
</file>